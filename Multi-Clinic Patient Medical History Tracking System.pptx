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  <p:embeddedFont>
      <p:font typeface="Liter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60a4cf0bb1226d5baf21d897105e631b0482eb0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12700" y="127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C5F7C">
                  <a:alpha val="95000"/>
                </a:srgbClr>
              </a:gs>
              <a:gs pos="50000">
                <a:srgbClr val="2C5F7C">
                  <a:alpha val="85000"/>
                </a:srgbClr>
              </a:gs>
              <a:gs pos="100000">
                <a:srgbClr val="5A8A9F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58910"/>
            <a:ext cx="2009775" cy="314325"/>
          </a:xfrm>
          <a:custGeom>
            <a:avLst/>
            <a:gdLst/>
            <a:ahLst/>
            <a:cxnLst/>
            <a:rect l="l" t="t" r="r" b="b"/>
            <a:pathLst>
              <a:path w="2009775" h="314325">
                <a:moveTo>
                  <a:pt x="0" y="0"/>
                </a:moveTo>
                <a:lnTo>
                  <a:pt x="2009775" y="0"/>
                </a:lnTo>
                <a:lnTo>
                  <a:pt x="2009775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758910"/>
            <a:ext cx="2071688" cy="314325"/>
          </a:xfrm>
          <a:prstGeom prst="rect">
            <a:avLst/>
          </a:prstGeom>
          <a:noFill/>
          <a:ln/>
        </p:spPr>
        <p:txBody>
          <a:bodyPr wrap="square" lIns="154781" tIns="61913" rIns="154781" bIns="61913" rtlCol="0" anchor="ctr"/>
          <a:lstStyle/>
          <a:p>
            <a:pPr>
              <a:lnSpc>
                <a:spcPct val="130000"/>
              </a:lnSpc>
            </a:pPr>
            <a:r>
              <a:rPr lang="en-US" sz="975" b="1" spc="49" kern="0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DESIGN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54210"/>
            <a:ext cx="4679156" cy="183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388" b="1" dirty="0">
                <a:solidFill>
                  <a:srgbClr val="E9ECE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Multi-Clinic Patient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4388" b="1" dirty="0">
                <a:solidFill>
                  <a:srgbClr val="E9ECE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Medical History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4388" b="1" dirty="0">
                <a:solidFill>
                  <a:srgbClr val="E9ECE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Tracking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78749"/>
            <a:ext cx="529351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3" dirty="0">
                <a:solidFill>
                  <a:srgbClr val="E9ECE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database solution for seamless care continuity across healthcare facilities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4040" y="6278166"/>
            <a:ext cx="162520" cy="185738"/>
          </a:xfrm>
          <a:custGeom>
            <a:avLst/>
            <a:gdLst/>
            <a:ahLst/>
            <a:cxnLst/>
            <a:rect l="l" t="t" r="r" b="b"/>
            <a:pathLst>
              <a:path w="162520" h="185738">
                <a:moveTo>
                  <a:pt x="162520" y="74658"/>
                </a:moveTo>
                <a:cubicBezTo>
                  <a:pt x="157151" y="78213"/>
                  <a:pt x="150984" y="81079"/>
                  <a:pt x="144563" y="83364"/>
                </a:cubicBezTo>
                <a:cubicBezTo>
                  <a:pt x="127513" y="89459"/>
                  <a:pt x="105130" y="92869"/>
                  <a:pt x="81260" y="92869"/>
                </a:cubicBezTo>
                <a:cubicBezTo>
                  <a:pt x="57390" y="92869"/>
                  <a:pt x="34971" y="89422"/>
                  <a:pt x="17957" y="83364"/>
                </a:cubicBezTo>
                <a:cubicBezTo>
                  <a:pt x="11572" y="81079"/>
                  <a:pt x="5369" y="78213"/>
                  <a:pt x="0" y="74658"/>
                </a:cubicBezTo>
                <a:lnTo>
                  <a:pt x="0" y="104477"/>
                </a:lnTo>
                <a:cubicBezTo>
                  <a:pt x="0" y="120512"/>
                  <a:pt x="36386" y="133499"/>
                  <a:pt x="81260" y="133499"/>
                </a:cubicBezTo>
                <a:cubicBezTo>
                  <a:pt x="126135" y="133499"/>
                  <a:pt x="162520" y="120512"/>
                  <a:pt x="162520" y="104477"/>
                </a:cubicBezTo>
                <a:lnTo>
                  <a:pt x="162520" y="74658"/>
                </a:lnTo>
                <a:close/>
                <a:moveTo>
                  <a:pt x="162520" y="46434"/>
                </a:moveTo>
                <a:lnTo>
                  <a:pt x="162520" y="29021"/>
                </a:lnTo>
                <a:cubicBezTo>
                  <a:pt x="162520" y="12987"/>
                  <a:pt x="126135" y="0"/>
                  <a:pt x="81260" y="0"/>
                </a:cubicBezTo>
                <a:cubicBezTo>
                  <a:pt x="36386" y="0"/>
                  <a:pt x="0" y="12987"/>
                  <a:pt x="0" y="29021"/>
                </a:cubicBezTo>
                <a:lnTo>
                  <a:pt x="0" y="46434"/>
                </a:lnTo>
                <a:cubicBezTo>
                  <a:pt x="0" y="62469"/>
                  <a:pt x="36386" y="75456"/>
                  <a:pt x="81260" y="75456"/>
                </a:cubicBezTo>
                <a:cubicBezTo>
                  <a:pt x="126135" y="75456"/>
                  <a:pt x="162520" y="62469"/>
                  <a:pt x="162520" y="46434"/>
                </a:cubicBezTo>
                <a:close/>
                <a:moveTo>
                  <a:pt x="144563" y="141407"/>
                </a:moveTo>
                <a:cubicBezTo>
                  <a:pt x="127549" y="147465"/>
                  <a:pt x="105167" y="150912"/>
                  <a:pt x="81260" y="150912"/>
                </a:cubicBezTo>
                <a:cubicBezTo>
                  <a:pt x="57354" y="150912"/>
                  <a:pt x="34971" y="147465"/>
                  <a:pt x="17957" y="141407"/>
                </a:cubicBezTo>
                <a:cubicBezTo>
                  <a:pt x="11572" y="139122"/>
                  <a:pt x="5369" y="136256"/>
                  <a:pt x="0" y="132701"/>
                </a:cubicBezTo>
                <a:lnTo>
                  <a:pt x="0" y="156716"/>
                </a:lnTo>
                <a:cubicBezTo>
                  <a:pt x="0" y="172750"/>
                  <a:pt x="36386" y="185738"/>
                  <a:pt x="81260" y="185738"/>
                </a:cubicBezTo>
                <a:cubicBezTo>
                  <a:pt x="126135" y="185738"/>
                  <a:pt x="162520" y="172750"/>
                  <a:pt x="162520" y="156716"/>
                </a:cubicBezTo>
                <a:lnTo>
                  <a:pt x="162520" y="132701"/>
                </a:lnTo>
                <a:cubicBezTo>
                  <a:pt x="157151" y="136256"/>
                  <a:pt x="150984" y="139122"/>
                  <a:pt x="144563" y="14140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6"/>
          <p:cNvSpPr/>
          <p:nvPr/>
        </p:nvSpPr>
        <p:spPr>
          <a:xfrm>
            <a:off x="706041" y="6260306"/>
            <a:ext cx="10793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06097" y="6278166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92869" y="0"/>
                </a:moveTo>
                <a:cubicBezTo>
                  <a:pt x="94537" y="0"/>
                  <a:pt x="96206" y="363"/>
                  <a:pt x="97730" y="1052"/>
                </a:cubicBezTo>
                <a:lnTo>
                  <a:pt x="166075" y="30037"/>
                </a:lnTo>
                <a:cubicBezTo>
                  <a:pt x="174056" y="33411"/>
                  <a:pt x="180006" y="41283"/>
                  <a:pt x="179969" y="50788"/>
                </a:cubicBezTo>
                <a:cubicBezTo>
                  <a:pt x="179788" y="86774"/>
                  <a:pt x="164987" y="152617"/>
                  <a:pt x="102482" y="182545"/>
                </a:cubicBezTo>
                <a:cubicBezTo>
                  <a:pt x="96424" y="185447"/>
                  <a:pt x="89386" y="185447"/>
                  <a:pt x="83328" y="182545"/>
                </a:cubicBezTo>
                <a:cubicBezTo>
                  <a:pt x="20787" y="152617"/>
                  <a:pt x="6022" y="86774"/>
                  <a:pt x="5841" y="50788"/>
                </a:cubicBezTo>
                <a:cubicBezTo>
                  <a:pt x="5804" y="41283"/>
                  <a:pt x="11754" y="33411"/>
                  <a:pt x="19735" y="30037"/>
                </a:cubicBezTo>
                <a:lnTo>
                  <a:pt x="88044" y="1052"/>
                </a:lnTo>
                <a:cubicBezTo>
                  <a:pt x="89568" y="363"/>
                  <a:pt x="91200" y="0"/>
                  <a:pt x="92869" y="0"/>
                </a:cubicBezTo>
                <a:close/>
                <a:moveTo>
                  <a:pt x="92869" y="24233"/>
                </a:moveTo>
                <a:lnTo>
                  <a:pt x="92869" y="161396"/>
                </a:lnTo>
                <a:cubicBezTo>
                  <a:pt x="142931" y="137163"/>
                  <a:pt x="156390" y="83473"/>
                  <a:pt x="156716" y="51332"/>
                </a:cubicBezTo>
                <a:lnTo>
                  <a:pt x="92869" y="24269"/>
                </a:lnTo>
                <a:lnTo>
                  <a:pt x="92869" y="2426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8"/>
          <p:cNvSpPr/>
          <p:nvPr/>
        </p:nvSpPr>
        <p:spPr>
          <a:xfrm>
            <a:off x="2409706" y="6260306"/>
            <a:ext cx="11174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HIPAA Compliant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34705" y="6278166"/>
            <a:ext cx="208955" cy="185738"/>
          </a:xfrm>
          <a:custGeom>
            <a:avLst/>
            <a:gdLst/>
            <a:ahLst/>
            <a:cxnLst/>
            <a:rect l="l" t="t" r="r" b="b"/>
            <a:pathLst>
              <a:path w="208955" h="185738">
                <a:moveTo>
                  <a:pt x="89967" y="31924"/>
                </a:moveTo>
                <a:lnTo>
                  <a:pt x="118988" y="31924"/>
                </a:lnTo>
                <a:lnTo>
                  <a:pt x="118988" y="49337"/>
                </a:lnTo>
                <a:lnTo>
                  <a:pt x="89967" y="49337"/>
                </a:lnTo>
                <a:lnTo>
                  <a:pt x="89967" y="31924"/>
                </a:lnTo>
                <a:close/>
                <a:moveTo>
                  <a:pt x="87064" y="11609"/>
                </a:moveTo>
                <a:cubicBezTo>
                  <a:pt x="77451" y="11609"/>
                  <a:pt x="69652" y="19408"/>
                  <a:pt x="69652" y="29021"/>
                </a:cubicBezTo>
                <a:lnTo>
                  <a:pt x="69652" y="52239"/>
                </a:lnTo>
                <a:cubicBezTo>
                  <a:pt x="69652" y="61852"/>
                  <a:pt x="77451" y="69652"/>
                  <a:pt x="87064" y="69652"/>
                </a:cubicBezTo>
                <a:lnTo>
                  <a:pt x="92869" y="69652"/>
                </a:lnTo>
                <a:lnTo>
                  <a:pt x="92869" y="81260"/>
                </a:lnTo>
                <a:lnTo>
                  <a:pt x="11609" y="81260"/>
                </a:lnTo>
                <a:cubicBezTo>
                  <a:pt x="5188" y="81260"/>
                  <a:pt x="0" y="86448"/>
                  <a:pt x="0" y="92869"/>
                </a:cubicBezTo>
                <a:cubicBezTo>
                  <a:pt x="0" y="99290"/>
                  <a:pt x="5188" y="104477"/>
                  <a:pt x="11609" y="104477"/>
                </a:cubicBezTo>
                <a:lnTo>
                  <a:pt x="46434" y="104477"/>
                </a:lnTo>
                <a:lnTo>
                  <a:pt x="46434" y="116086"/>
                </a:lnTo>
                <a:lnTo>
                  <a:pt x="40630" y="116086"/>
                </a:lnTo>
                <a:cubicBezTo>
                  <a:pt x="31017" y="116086"/>
                  <a:pt x="23217" y="123885"/>
                  <a:pt x="23217" y="133499"/>
                </a:cubicBezTo>
                <a:lnTo>
                  <a:pt x="23217" y="156716"/>
                </a:lnTo>
                <a:cubicBezTo>
                  <a:pt x="23217" y="166329"/>
                  <a:pt x="31017" y="174129"/>
                  <a:pt x="40630" y="174129"/>
                </a:cubicBezTo>
                <a:lnTo>
                  <a:pt x="75456" y="174129"/>
                </a:lnTo>
                <a:cubicBezTo>
                  <a:pt x="85069" y="174129"/>
                  <a:pt x="92869" y="166329"/>
                  <a:pt x="92869" y="156716"/>
                </a:cubicBezTo>
                <a:lnTo>
                  <a:pt x="92869" y="133499"/>
                </a:lnTo>
                <a:cubicBezTo>
                  <a:pt x="92869" y="123885"/>
                  <a:pt x="85069" y="116086"/>
                  <a:pt x="75456" y="116086"/>
                </a:cubicBezTo>
                <a:lnTo>
                  <a:pt x="69652" y="116086"/>
                </a:lnTo>
                <a:lnTo>
                  <a:pt x="69652" y="104477"/>
                </a:lnTo>
                <a:lnTo>
                  <a:pt x="139303" y="104477"/>
                </a:lnTo>
                <a:lnTo>
                  <a:pt x="139303" y="116086"/>
                </a:lnTo>
                <a:lnTo>
                  <a:pt x="133499" y="116086"/>
                </a:lnTo>
                <a:cubicBezTo>
                  <a:pt x="123885" y="116086"/>
                  <a:pt x="116086" y="123885"/>
                  <a:pt x="116086" y="133499"/>
                </a:cubicBezTo>
                <a:lnTo>
                  <a:pt x="116086" y="156716"/>
                </a:lnTo>
                <a:cubicBezTo>
                  <a:pt x="116086" y="166329"/>
                  <a:pt x="123885" y="174129"/>
                  <a:pt x="133499" y="174129"/>
                </a:cubicBezTo>
                <a:lnTo>
                  <a:pt x="168325" y="174129"/>
                </a:lnTo>
                <a:cubicBezTo>
                  <a:pt x="177938" y="174129"/>
                  <a:pt x="185738" y="166329"/>
                  <a:pt x="185738" y="156716"/>
                </a:cubicBezTo>
                <a:lnTo>
                  <a:pt x="185738" y="133499"/>
                </a:lnTo>
                <a:cubicBezTo>
                  <a:pt x="185738" y="123885"/>
                  <a:pt x="177938" y="116086"/>
                  <a:pt x="168325" y="116086"/>
                </a:cubicBezTo>
                <a:lnTo>
                  <a:pt x="162520" y="116086"/>
                </a:lnTo>
                <a:lnTo>
                  <a:pt x="162520" y="104477"/>
                </a:lnTo>
                <a:lnTo>
                  <a:pt x="197346" y="104477"/>
                </a:lnTo>
                <a:cubicBezTo>
                  <a:pt x="203767" y="104477"/>
                  <a:pt x="208955" y="99290"/>
                  <a:pt x="208955" y="92869"/>
                </a:cubicBezTo>
                <a:cubicBezTo>
                  <a:pt x="208955" y="86448"/>
                  <a:pt x="203767" y="81260"/>
                  <a:pt x="197346" y="81260"/>
                </a:cubicBezTo>
                <a:lnTo>
                  <a:pt x="116086" y="81260"/>
                </a:lnTo>
                <a:lnTo>
                  <a:pt x="116086" y="69652"/>
                </a:lnTo>
                <a:lnTo>
                  <a:pt x="121890" y="69652"/>
                </a:lnTo>
                <a:cubicBezTo>
                  <a:pt x="131504" y="69652"/>
                  <a:pt x="139303" y="61852"/>
                  <a:pt x="139303" y="52239"/>
                </a:cubicBezTo>
                <a:lnTo>
                  <a:pt x="139303" y="29021"/>
                </a:lnTo>
                <a:cubicBezTo>
                  <a:pt x="139303" y="19408"/>
                  <a:pt x="131504" y="11609"/>
                  <a:pt x="121890" y="11609"/>
                </a:cubicBezTo>
                <a:lnTo>
                  <a:pt x="87064" y="11609"/>
                </a:lnTo>
                <a:close/>
                <a:moveTo>
                  <a:pt x="162520" y="136401"/>
                </a:moveTo>
                <a:lnTo>
                  <a:pt x="165422" y="136401"/>
                </a:lnTo>
                <a:lnTo>
                  <a:pt x="165422" y="153814"/>
                </a:lnTo>
                <a:lnTo>
                  <a:pt x="136401" y="153814"/>
                </a:lnTo>
                <a:lnTo>
                  <a:pt x="136401" y="136401"/>
                </a:lnTo>
                <a:lnTo>
                  <a:pt x="162520" y="136401"/>
                </a:lnTo>
                <a:close/>
                <a:moveTo>
                  <a:pt x="69652" y="136401"/>
                </a:moveTo>
                <a:lnTo>
                  <a:pt x="72554" y="136401"/>
                </a:lnTo>
                <a:lnTo>
                  <a:pt x="72554" y="153814"/>
                </a:lnTo>
                <a:lnTo>
                  <a:pt x="43532" y="153814"/>
                </a:lnTo>
                <a:lnTo>
                  <a:pt x="43532" y="136401"/>
                </a:lnTo>
                <a:lnTo>
                  <a:pt x="69652" y="13640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0"/>
          <p:cNvSpPr/>
          <p:nvPr/>
        </p:nvSpPr>
        <p:spPr>
          <a:xfrm>
            <a:off x="4149923" y="6260306"/>
            <a:ext cx="7745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Multi-Clinic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7694"/>
            <a:ext cx="1161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925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54906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154906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" name="Shape 4"/>
          <p:cNvSpPr/>
          <p:nvPr/>
        </p:nvSpPr>
        <p:spPr>
          <a:xfrm>
            <a:off x="573881" y="13096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7" name="Text 5"/>
          <p:cNvSpPr/>
          <p:nvPr/>
        </p:nvSpPr>
        <p:spPr>
          <a:xfrm>
            <a:off x="535186" y="1309688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181" y="1309688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181" y="1588294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scope and objectives overview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6963" y="1154906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6963" y="1154906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0794" y="13096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3" name="Text 11"/>
          <p:cNvSpPr/>
          <p:nvPr/>
        </p:nvSpPr>
        <p:spPr>
          <a:xfrm>
            <a:off x="6312098" y="1309688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46094" y="1309688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46094" y="1588294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medical records challenge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244090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2244090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573881" y="2398871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535186" y="2398871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9181" y="2398871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Objectives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9181" y="2677477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 and capabilities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6963" y="2244090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6963" y="2244090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0794" y="2398871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25" name="Text 23"/>
          <p:cNvSpPr/>
          <p:nvPr/>
        </p:nvSpPr>
        <p:spPr>
          <a:xfrm>
            <a:off x="6312098" y="2398871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46094" y="2398871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Design &amp; ER Diagram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46094" y="2677477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Entity-relationship structure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333274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0050" y="3333274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30" name="Shape 28"/>
          <p:cNvSpPr/>
          <p:nvPr/>
        </p:nvSpPr>
        <p:spPr>
          <a:xfrm>
            <a:off x="573881" y="348805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31" name="Text 29"/>
          <p:cNvSpPr/>
          <p:nvPr/>
        </p:nvSpPr>
        <p:spPr>
          <a:xfrm>
            <a:off x="535186" y="3488056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9181" y="3488056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Entities &amp; Relationships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9181" y="3766662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entity attributes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963" y="3333274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6963" y="3333274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Shape 34"/>
          <p:cNvSpPr/>
          <p:nvPr/>
        </p:nvSpPr>
        <p:spPr>
          <a:xfrm>
            <a:off x="6350794" y="348805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5"/>
          <p:cNvSpPr/>
          <p:nvPr/>
        </p:nvSpPr>
        <p:spPr>
          <a:xfrm>
            <a:off x="6312098" y="3488056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46094" y="3488056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46094" y="3766662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design &amp; data flow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4422458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00050" y="4422458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42" name="Shape 40"/>
          <p:cNvSpPr/>
          <p:nvPr/>
        </p:nvSpPr>
        <p:spPr>
          <a:xfrm>
            <a:off x="573881" y="4577239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43" name="Text 41"/>
          <p:cNvSpPr/>
          <p:nvPr/>
        </p:nvSpPr>
        <p:spPr>
          <a:xfrm>
            <a:off x="535186" y="4577239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9181" y="4577239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9181" y="4855845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technologies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6963" y="4422458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6963" y="4422458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48" name="Shape 46"/>
          <p:cNvSpPr/>
          <p:nvPr/>
        </p:nvSpPr>
        <p:spPr>
          <a:xfrm>
            <a:off x="6350794" y="4577239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49" name="Text 47"/>
          <p:cNvSpPr/>
          <p:nvPr/>
        </p:nvSpPr>
        <p:spPr>
          <a:xfrm>
            <a:off x="6312098" y="4577239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46094" y="4577239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46094" y="4855845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HIPAA framework &amp; safeguards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00050" y="5511641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00050" y="5511641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4" name="Shape 52"/>
          <p:cNvSpPr/>
          <p:nvPr/>
        </p:nvSpPr>
        <p:spPr>
          <a:xfrm>
            <a:off x="573881" y="566642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5" name="Text 53"/>
          <p:cNvSpPr/>
          <p:nvPr/>
        </p:nvSpPr>
        <p:spPr>
          <a:xfrm>
            <a:off x="535186" y="5666423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69181" y="5666423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&amp; Impact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69181" y="5945029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outcomes &amp; improvements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76963" y="5511641"/>
            <a:ext cx="5638800" cy="962025"/>
          </a:xfrm>
          <a:custGeom>
            <a:avLst/>
            <a:gdLst/>
            <a:ahLst/>
            <a:cxnLst/>
            <a:rect l="l" t="t" r="r" b="b"/>
            <a:pathLst>
              <a:path w="5638800" h="962025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900109"/>
                </a:lnTo>
                <a:cubicBezTo>
                  <a:pt x="5638800" y="934304"/>
                  <a:pt x="5611079" y="962025"/>
                  <a:pt x="5576884" y="962025"/>
                </a:cubicBez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76963" y="5511641"/>
            <a:ext cx="38100" cy="962025"/>
          </a:xfrm>
          <a:custGeom>
            <a:avLst/>
            <a:gdLst/>
            <a:ahLst/>
            <a:cxnLst/>
            <a:rect l="l" t="t" r="r" b="b"/>
            <a:pathLst>
              <a:path w="38100" h="962025">
                <a:moveTo>
                  <a:pt x="38100" y="0"/>
                </a:moveTo>
                <a:lnTo>
                  <a:pt x="38100" y="0"/>
                </a:lnTo>
                <a:lnTo>
                  <a:pt x="38100" y="962025"/>
                </a:lnTo>
                <a:lnTo>
                  <a:pt x="38100" y="962025"/>
                </a:lnTo>
                <a:cubicBezTo>
                  <a:pt x="17072" y="962025"/>
                  <a:pt x="0" y="944953"/>
                  <a:pt x="0" y="923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0" name="Shape 58"/>
          <p:cNvSpPr/>
          <p:nvPr/>
        </p:nvSpPr>
        <p:spPr>
          <a:xfrm>
            <a:off x="6350794" y="566642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1" name="Text 59"/>
          <p:cNvSpPr/>
          <p:nvPr/>
        </p:nvSpPr>
        <p:spPr>
          <a:xfrm>
            <a:off x="6312098" y="5666423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46094" y="5666423"/>
            <a:ext cx="4887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46094" y="5945029"/>
            <a:ext cx="487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&amp; enhancement roadmap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7694"/>
            <a:ext cx="115693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50131"/>
            <a:ext cx="6743700" cy="1381125"/>
          </a:xfrm>
          <a:custGeom>
            <a:avLst/>
            <a:gdLst/>
            <a:ahLst/>
            <a:cxnLst/>
            <a:rect l="l" t="t" r="r" b="b"/>
            <a:pathLst>
              <a:path w="6743700" h="1381125">
                <a:moveTo>
                  <a:pt x="38100" y="0"/>
                </a:moveTo>
                <a:lnTo>
                  <a:pt x="6705600" y="0"/>
                </a:lnTo>
                <a:cubicBezTo>
                  <a:pt x="6726628" y="0"/>
                  <a:pt x="6743700" y="17072"/>
                  <a:pt x="6743700" y="38100"/>
                </a:cubicBezTo>
                <a:lnTo>
                  <a:pt x="6743700" y="1319209"/>
                </a:lnTo>
                <a:cubicBezTo>
                  <a:pt x="6743700" y="1353404"/>
                  <a:pt x="6715979" y="1381125"/>
                  <a:pt x="6681784" y="1381125"/>
                </a:cubicBezTo>
                <a:lnTo>
                  <a:pt x="61916" y="1381125"/>
                </a:lnTo>
                <a:cubicBezTo>
                  <a:pt x="27721" y="1381125"/>
                  <a:pt x="0" y="1353404"/>
                  <a:pt x="0" y="13192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050131"/>
            <a:ext cx="6743700" cy="38100"/>
          </a:xfrm>
          <a:custGeom>
            <a:avLst/>
            <a:gdLst/>
            <a:ahLst/>
            <a:cxnLst/>
            <a:rect l="l" t="t" r="r" b="b"/>
            <a:pathLst>
              <a:path w="6743700" h="38100">
                <a:moveTo>
                  <a:pt x="38100" y="0"/>
                </a:moveTo>
                <a:lnTo>
                  <a:pt x="6705600" y="0"/>
                </a:lnTo>
                <a:cubicBezTo>
                  <a:pt x="6726628" y="0"/>
                  <a:pt x="6743700" y="17072"/>
                  <a:pt x="6743700" y="38100"/>
                </a:cubicBezTo>
                <a:lnTo>
                  <a:pt x="6743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" name="Shape 4"/>
          <p:cNvSpPr/>
          <p:nvPr/>
        </p:nvSpPr>
        <p:spPr>
          <a:xfrm>
            <a:off x="535781" y="1223963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61911" y="0"/>
                </a:moveTo>
                <a:lnTo>
                  <a:pt x="376239" y="0"/>
                </a:lnTo>
                <a:cubicBezTo>
                  <a:pt x="410432" y="0"/>
                  <a:pt x="438150" y="27718"/>
                  <a:pt x="438150" y="61911"/>
                </a:cubicBezTo>
                <a:lnTo>
                  <a:pt x="438150" y="376239"/>
                </a:lnTo>
                <a:cubicBezTo>
                  <a:pt x="438150" y="410432"/>
                  <a:pt x="410432" y="438150"/>
                  <a:pt x="376239" y="438150"/>
                </a:cubicBezTo>
                <a:lnTo>
                  <a:pt x="61911" y="438150"/>
                </a:lnTo>
                <a:cubicBezTo>
                  <a:pt x="27718" y="438150"/>
                  <a:pt x="0" y="410432"/>
                  <a:pt x="0" y="376239"/>
                </a:cubicBezTo>
                <a:lnTo>
                  <a:pt x="0" y="61911"/>
                </a:lnTo>
                <a:cubicBezTo>
                  <a:pt x="0" y="27718"/>
                  <a:pt x="27718" y="0"/>
                  <a:pt x="61911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7" name="Shape 5"/>
          <p:cNvSpPr/>
          <p:nvPr/>
        </p:nvSpPr>
        <p:spPr>
          <a:xfrm>
            <a:off x="657820" y="1350169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162520" y="92869"/>
                </a:moveTo>
                <a:cubicBezTo>
                  <a:pt x="162520" y="54427"/>
                  <a:pt x="131310" y="23217"/>
                  <a:pt x="92869" y="23217"/>
                </a:cubicBezTo>
                <a:cubicBezTo>
                  <a:pt x="54427" y="23217"/>
                  <a:pt x="23217" y="54427"/>
                  <a:pt x="23217" y="92869"/>
                </a:cubicBezTo>
                <a:cubicBezTo>
                  <a:pt x="23217" y="131310"/>
                  <a:pt x="54427" y="162520"/>
                  <a:pt x="92869" y="162520"/>
                </a:cubicBezTo>
                <a:cubicBezTo>
                  <a:pt x="131310" y="162520"/>
                  <a:pt x="162520" y="131310"/>
                  <a:pt x="162520" y="92869"/>
                </a:cubicBezTo>
                <a:close/>
                <a:moveTo>
                  <a:pt x="0" y="92869"/>
                </a:moveTo>
                <a:cubicBezTo>
                  <a:pt x="0" y="41613"/>
                  <a:pt x="41613" y="0"/>
                  <a:pt x="92869" y="0"/>
                </a:cubicBezTo>
                <a:cubicBezTo>
                  <a:pt x="144124" y="0"/>
                  <a:pt x="185738" y="41613"/>
                  <a:pt x="185738" y="92869"/>
                </a:cubicBezTo>
                <a:cubicBezTo>
                  <a:pt x="185738" y="144124"/>
                  <a:pt x="144124" y="185738"/>
                  <a:pt x="92869" y="185738"/>
                </a:cubicBezTo>
                <a:cubicBezTo>
                  <a:pt x="41613" y="185738"/>
                  <a:pt x="0" y="144124"/>
                  <a:pt x="0" y="92869"/>
                </a:cubicBezTo>
                <a:close/>
                <a:moveTo>
                  <a:pt x="92869" y="121890"/>
                </a:moveTo>
                <a:cubicBezTo>
                  <a:pt x="108886" y="121890"/>
                  <a:pt x="121890" y="108886"/>
                  <a:pt x="121890" y="92869"/>
                </a:cubicBezTo>
                <a:cubicBezTo>
                  <a:pt x="121890" y="76851"/>
                  <a:pt x="108886" y="63847"/>
                  <a:pt x="92869" y="63847"/>
                </a:cubicBezTo>
                <a:cubicBezTo>
                  <a:pt x="76851" y="63847"/>
                  <a:pt x="63847" y="76851"/>
                  <a:pt x="63847" y="92869"/>
                </a:cubicBezTo>
                <a:cubicBezTo>
                  <a:pt x="63847" y="108886"/>
                  <a:pt x="76851" y="121890"/>
                  <a:pt x="92869" y="121890"/>
                </a:cubicBezTo>
                <a:close/>
                <a:moveTo>
                  <a:pt x="92869" y="40630"/>
                </a:moveTo>
                <a:cubicBezTo>
                  <a:pt x="121700" y="40630"/>
                  <a:pt x="145107" y="64037"/>
                  <a:pt x="145107" y="92869"/>
                </a:cubicBezTo>
                <a:cubicBezTo>
                  <a:pt x="145107" y="121700"/>
                  <a:pt x="121700" y="145107"/>
                  <a:pt x="92869" y="145107"/>
                </a:cubicBezTo>
                <a:cubicBezTo>
                  <a:pt x="64037" y="145107"/>
                  <a:pt x="40630" y="121700"/>
                  <a:pt x="40630" y="92869"/>
                </a:cubicBezTo>
                <a:cubicBezTo>
                  <a:pt x="40630" y="64037"/>
                  <a:pt x="64037" y="40630"/>
                  <a:pt x="92869" y="40630"/>
                </a:cubicBezTo>
                <a:close/>
                <a:moveTo>
                  <a:pt x="81260" y="92869"/>
                </a:moveTo>
                <a:cubicBezTo>
                  <a:pt x="81260" y="86462"/>
                  <a:pt x="86462" y="81260"/>
                  <a:pt x="92869" y="81260"/>
                </a:cubicBezTo>
                <a:cubicBezTo>
                  <a:pt x="99276" y="81260"/>
                  <a:pt x="104477" y="86462"/>
                  <a:pt x="104477" y="92869"/>
                </a:cubicBezTo>
                <a:cubicBezTo>
                  <a:pt x="104477" y="99276"/>
                  <a:pt x="99276" y="104477"/>
                  <a:pt x="92869" y="104477"/>
                </a:cubicBezTo>
                <a:cubicBezTo>
                  <a:pt x="86462" y="104477"/>
                  <a:pt x="81260" y="99276"/>
                  <a:pt x="81260" y="928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92994" y="1223963"/>
            <a:ext cx="59697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63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2994" y="1564363"/>
            <a:ext cx="59388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and implement a </a:t>
            </a:r>
            <a:pPr>
              <a:lnSpc>
                <a:spcPct val="14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database system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tracking patient medical history across multiple clinics, ensuring seamless care continuity and complete medical record accessibility.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2994" y="2059663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109538" y="0"/>
                </a:moveTo>
                <a:lnTo>
                  <a:pt x="766763" y="0"/>
                </a:lnTo>
                <a:cubicBezTo>
                  <a:pt x="827218" y="0"/>
                  <a:pt x="876300" y="49082"/>
                  <a:pt x="876300" y="109538"/>
                </a:cubicBezTo>
                <a:lnTo>
                  <a:pt x="876300" y="109538"/>
                </a:lnTo>
                <a:cubicBezTo>
                  <a:pt x="876300" y="169993"/>
                  <a:pt x="827218" y="219075"/>
                  <a:pt x="766763" y="219075"/>
                </a:cubicBezTo>
                <a:lnTo>
                  <a:pt x="109538" y="219075"/>
                </a:lnTo>
                <a:cubicBezTo>
                  <a:pt x="49082" y="219075"/>
                  <a:pt x="0" y="169993"/>
                  <a:pt x="0" y="109538"/>
                </a:cubicBezTo>
                <a:lnTo>
                  <a:pt x="0" y="109538"/>
                </a:lnTo>
                <a:cubicBezTo>
                  <a:pt x="0" y="49082"/>
                  <a:pt x="49082" y="0"/>
                  <a:pt x="1095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2994" y="2059663"/>
            <a:ext cx="930473" cy="219075"/>
          </a:xfrm>
          <a:prstGeom prst="rect">
            <a:avLst/>
          </a:prstGeom>
          <a:noFill/>
          <a:ln/>
        </p:spPr>
        <p:txBody>
          <a:bodyPr wrap="square" lIns="92869" tIns="30956" rIns="92869" bIns="30956" rtlCol="0" anchor="ctr"/>
          <a:lstStyle/>
          <a:p>
            <a:pPr>
              <a:lnSpc>
                <a:spcPct val="120000"/>
              </a:lnSpc>
            </a:pPr>
            <a:r>
              <a:rPr lang="en-US" sz="853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Profiles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28468" y="2059663"/>
            <a:ext cx="809625" cy="219075"/>
          </a:xfrm>
          <a:custGeom>
            <a:avLst/>
            <a:gdLst/>
            <a:ahLst/>
            <a:cxnLst/>
            <a:rect l="l" t="t" r="r" b="b"/>
            <a:pathLst>
              <a:path w="809625" h="219075">
                <a:moveTo>
                  <a:pt x="109538" y="0"/>
                </a:moveTo>
                <a:lnTo>
                  <a:pt x="700088" y="0"/>
                </a:lnTo>
                <a:cubicBezTo>
                  <a:pt x="760543" y="0"/>
                  <a:pt x="809625" y="49082"/>
                  <a:pt x="809625" y="109538"/>
                </a:cubicBezTo>
                <a:lnTo>
                  <a:pt x="809625" y="109538"/>
                </a:lnTo>
                <a:cubicBezTo>
                  <a:pt x="809625" y="169993"/>
                  <a:pt x="760543" y="219075"/>
                  <a:pt x="700088" y="219075"/>
                </a:cubicBezTo>
                <a:lnTo>
                  <a:pt x="109538" y="219075"/>
                </a:lnTo>
                <a:cubicBezTo>
                  <a:pt x="49082" y="219075"/>
                  <a:pt x="0" y="169993"/>
                  <a:pt x="0" y="109538"/>
                </a:cubicBezTo>
                <a:lnTo>
                  <a:pt x="0" y="109538"/>
                </a:lnTo>
                <a:cubicBezTo>
                  <a:pt x="0" y="49082"/>
                  <a:pt x="49082" y="0"/>
                  <a:pt x="1095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28468" y="2059663"/>
            <a:ext cx="863798" cy="219075"/>
          </a:xfrm>
          <a:prstGeom prst="rect">
            <a:avLst/>
          </a:prstGeom>
          <a:noFill/>
          <a:ln/>
        </p:spPr>
        <p:txBody>
          <a:bodyPr wrap="square" lIns="92869" tIns="30956" rIns="92869" bIns="30956" rtlCol="0" anchor="ctr"/>
          <a:lstStyle/>
          <a:p>
            <a:pPr>
              <a:lnSpc>
                <a:spcPct val="120000"/>
              </a:lnSpc>
            </a:pPr>
            <a:r>
              <a:rPr lang="en-US" sz="853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 Tracking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97267" y="2059663"/>
            <a:ext cx="666750" cy="219075"/>
          </a:xfrm>
          <a:custGeom>
            <a:avLst/>
            <a:gdLst/>
            <a:ahLst/>
            <a:cxnLst/>
            <a:rect l="l" t="t" r="r" b="b"/>
            <a:pathLst>
              <a:path w="666750" h="219075">
                <a:moveTo>
                  <a:pt x="109538" y="0"/>
                </a:moveTo>
                <a:lnTo>
                  <a:pt x="557213" y="0"/>
                </a:lnTo>
                <a:cubicBezTo>
                  <a:pt x="617668" y="0"/>
                  <a:pt x="666750" y="49082"/>
                  <a:pt x="666750" y="109538"/>
                </a:cubicBezTo>
                <a:lnTo>
                  <a:pt x="666750" y="109538"/>
                </a:lnTo>
                <a:cubicBezTo>
                  <a:pt x="666750" y="169993"/>
                  <a:pt x="617668" y="219075"/>
                  <a:pt x="557213" y="219075"/>
                </a:cubicBezTo>
                <a:lnTo>
                  <a:pt x="109538" y="219075"/>
                </a:lnTo>
                <a:cubicBezTo>
                  <a:pt x="49082" y="219075"/>
                  <a:pt x="0" y="169993"/>
                  <a:pt x="0" y="109538"/>
                </a:cubicBezTo>
                <a:lnTo>
                  <a:pt x="0" y="109538"/>
                </a:lnTo>
                <a:cubicBezTo>
                  <a:pt x="0" y="49082"/>
                  <a:pt x="49082" y="0"/>
                  <a:pt x="1095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897267" y="2059663"/>
            <a:ext cx="720923" cy="219075"/>
          </a:xfrm>
          <a:prstGeom prst="rect">
            <a:avLst/>
          </a:prstGeom>
          <a:noFill/>
          <a:ln/>
        </p:spPr>
        <p:txBody>
          <a:bodyPr wrap="square" lIns="92869" tIns="30956" rIns="92869" bIns="30956" rtlCol="0" anchor="ctr"/>
          <a:lstStyle/>
          <a:p>
            <a:pPr>
              <a:lnSpc>
                <a:spcPct val="120000"/>
              </a:lnSpc>
            </a:pPr>
            <a:r>
              <a:rPr lang="en-US" sz="853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25810" y="2059663"/>
            <a:ext cx="790575" cy="219075"/>
          </a:xfrm>
          <a:custGeom>
            <a:avLst/>
            <a:gdLst/>
            <a:ahLst/>
            <a:cxnLst/>
            <a:rect l="l" t="t" r="r" b="b"/>
            <a:pathLst>
              <a:path w="790575" h="219075">
                <a:moveTo>
                  <a:pt x="109538" y="0"/>
                </a:moveTo>
                <a:lnTo>
                  <a:pt x="681038" y="0"/>
                </a:lnTo>
                <a:cubicBezTo>
                  <a:pt x="741493" y="0"/>
                  <a:pt x="790575" y="49082"/>
                  <a:pt x="790575" y="109538"/>
                </a:cubicBezTo>
                <a:lnTo>
                  <a:pt x="790575" y="109538"/>
                </a:lnTo>
                <a:cubicBezTo>
                  <a:pt x="790575" y="169993"/>
                  <a:pt x="741493" y="219075"/>
                  <a:pt x="681038" y="219075"/>
                </a:cubicBezTo>
                <a:lnTo>
                  <a:pt x="109538" y="219075"/>
                </a:lnTo>
                <a:cubicBezTo>
                  <a:pt x="49082" y="219075"/>
                  <a:pt x="0" y="169993"/>
                  <a:pt x="0" y="109538"/>
                </a:cubicBezTo>
                <a:lnTo>
                  <a:pt x="0" y="109538"/>
                </a:lnTo>
                <a:cubicBezTo>
                  <a:pt x="0" y="49082"/>
                  <a:pt x="49082" y="0"/>
                  <a:pt x="1095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25810" y="2059663"/>
            <a:ext cx="844748" cy="219075"/>
          </a:xfrm>
          <a:prstGeom prst="rect">
            <a:avLst/>
          </a:prstGeom>
          <a:noFill/>
          <a:ln/>
        </p:spPr>
        <p:txBody>
          <a:bodyPr wrap="square" lIns="92869" tIns="30956" rIns="92869" bIns="30956" rtlCol="0" anchor="ctr"/>
          <a:lstStyle/>
          <a:p>
            <a:pPr>
              <a:lnSpc>
                <a:spcPct val="120000"/>
              </a:lnSpc>
            </a:pPr>
            <a:r>
              <a:rPr lang="en-US" sz="853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Prescriptions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78536" y="2059663"/>
            <a:ext cx="723900" cy="219075"/>
          </a:xfrm>
          <a:custGeom>
            <a:avLst/>
            <a:gdLst/>
            <a:ahLst/>
            <a:cxnLst/>
            <a:rect l="l" t="t" r="r" b="b"/>
            <a:pathLst>
              <a:path w="723900" h="219075">
                <a:moveTo>
                  <a:pt x="109538" y="0"/>
                </a:moveTo>
                <a:lnTo>
                  <a:pt x="614363" y="0"/>
                </a:lnTo>
                <a:cubicBezTo>
                  <a:pt x="674818" y="0"/>
                  <a:pt x="723900" y="49082"/>
                  <a:pt x="723900" y="109538"/>
                </a:cubicBezTo>
                <a:lnTo>
                  <a:pt x="723900" y="109538"/>
                </a:lnTo>
                <a:cubicBezTo>
                  <a:pt x="723900" y="169993"/>
                  <a:pt x="674818" y="219075"/>
                  <a:pt x="614363" y="219075"/>
                </a:cubicBezTo>
                <a:lnTo>
                  <a:pt x="109538" y="219075"/>
                </a:lnTo>
                <a:cubicBezTo>
                  <a:pt x="49082" y="219075"/>
                  <a:pt x="0" y="169993"/>
                  <a:pt x="0" y="109538"/>
                </a:cubicBezTo>
                <a:lnTo>
                  <a:pt x="0" y="109538"/>
                </a:lnTo>
                <a:cubicBezTo>
                  <a:pt x="0" y="49082"/>
                  <a:pt x="49082" y="0"/>
                  <a:pt x="1095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78536" y="2059663"/>
            <a:ext cx="778073" cy="219075"/>
          </a:xfrm>
          <a:prstGeom prst="rect">
            <a:avLst/>
          </a:prstGeom>
          <a:noFill/>
          <a:ln/>
        </p:spPr>
        <p:txBody>
          <a:bodyPr wrap="square" lIns="92869" tIns="30956" rIns="92869" bIns="30956" rtlCol="0" anchor="ctr"/>
          <a:lstStyle/>
          <a:p>
            <a:pPr>
              <a:lnSpc>
                <a:spcPct val="120000"/>
              </a:lnSpc>
            </a:pPr>
            <a:r>
              <a:rPr lang="en-US" sz="853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Follow-ups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61848" y="2059663"/>
            <a:ext cx="752475" cy="219075"/>
          </a:xfrm>
          <a:custGeom>
            <a:avLst/>
            <a:gdLst/>
            <a:ahLst/>
            <a:cxnLst/>
            <a:rect l="l" t="t" r="r" b="b"/>
            <a:pathLst>
              <a:path w="752475" h="219075">
                <a:moveTo>
                  <a:pt x="109538" y="0"/>
                </a:moveTo>
                <a:lnTo>
                  <a:pt x="642938" y="0"/>
                </a:lnTo>
                <a:cubicBezTo>
                  <a:pt x="703393" y="0"/>
                  <a:pt x="752475" y="49082"/>
                  <a:pt x="752475" y="109538"/>
                </a:cubicBezTo>
                <a:lnTo>
                  <a:pt x="752475" y="109538"/>
                </a:lnTo>
                <a:cubicBezTo>
                  <a:pt x="752475" y="169993"/>
                  <a:pt x="703393" y="219075"/>
                  <a:pt x="642938" y="219075"/>
                </a:cubicBezTo>
                <a:lnTo>
                  <a:pt x="109538" y="219075"/>
                </a:lnTo>
                <a:cubicBezTo>
                  <a:pt x="49082" y="219075"/>
                  <a:pt x="0" y="169993"/>
                  <a:pt x="0" y="109538"/>
                </a:cubicBezTo>
                <a:lnTo>
                  <a:pt x="0" y="109538"/>
                </a:lnTo>
                <a:cubicBezTo>
                  <a:pt x="0" y="49082"/>
                  <a:pt x="49082" y="0"/>
                  <a:pt x="1095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61848" y="2059663"/>
            <a:ext cx="806648" cy="219075"/>
          </a:xfrm>
          <a:prstGeom prst="rect">
            <a:avLst/>
          </a:prstGeom>
          <a:noFill/>
          <a:ln/>
        </p:spPr>
        <p:txBody>
          <a:bodyPr wrap="square" lIns="92869" tIns="30956" rIns="92869" bIns="30956" rtlCol="0" anchor="ctr"/>
          <a:lstStyle/>
          <a:p>
            <a:pPr>
              <a:lnSpc>
                <a:spcPct val="120000"/>
              </a:lnSpc>
            </a:pPr>
            <a:r>
              <a:rPr lang="en-US" sz="853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2554963"/>
            <a:ext cx="6743700" cy="1428750"/>
          </a:xfrm>
          <a:custGeom>
            <a:avLst/>
            <a:gdLst/>
            <a:ahLst/>
            <a:cxnLst/>
            <a:rect l="l" t="t" r="r" b="b"/>
            <a:pathLst>
              <a:path w="6743700" h="1428750">
                <a:moveTo>
                  <a:pt x="61908" y="0"/>
                </a:moveTo>
                <a:lnTo>
                  <a:pt x="6681792" y="0"/>
                </a:lnTo>
                <a:cubicBezTo>
                  <a:pt x="6715983" y="0"/>
                  <a:pt x="6743700" y="27717"/>
                  <a:pt x="6743700" y="61908"/>
                </a:cubicBezTo>
                <a:lnTo>
                  <a:pt x="6743700" y="1366842"/>
                </a:lnTo>
                <a:cubicBezTo>
                  <a:pt x="6743700" y="1401033"/>
                  <a:pt x="6715983" y="1428750"/>
                  <a:pt x="6681792" y="1428750"/>
                </a:cubicBezTo>
                <a:lnTo>
                  <a:pt x="61908" y="1428750"/>
                </a:lnTo>
                <a:cubicBezTo>
                  <a:pt x="27717" y="1428750"/>
                  <a:pt x="0" y="1401033"/>
                  <a:pt x="0" y="1366842"/>
                </a:cubicBezTo>
                <a:lnTo>
                  <a:pt x="0" y="61908"/>
                </a:lnTo>
                <a:cubicBezTo>
                  <a:pt x="0" y="27740"/>
                  <a:pt x="27740" y="0"/>
                  <a:pt x="619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641" y="2739510"/>
            <a:ext cx="154781" cy="154781"/>
          </a:xfrm>
          <a:custGeom>
            <a:avLst/>
            <a:gdLst/>
            <a:ahLst/>
            <a:cxnLst/>
            <a:rect l="l" t="t" r="r" b="b"/>
            <a:pathLst>
              <a:path w="154781" h="154781">
                <a:moveTo>
                  <a:pt x="70286" y="1572"/>
                </a:moveTo>
                <a:cubicBezTo>
                  <a:pt x="74791" y="-514"/>
                  <a:pt x="79990" y="-514"/>
                  <a:pt x="84495" y="1572"/>
                </a:cubicBezTo>
                <a:lnTo>
                  <a:pt x="150579" y="32105"/>
                </a:lnTo>
                <a:cubicBezTo>
                  <a:pt x="153149" y="33284"/>
                  <a:pt x="154781" y="35854"/>
                  <a:pt x="154781" y="38695"/>
                </a:cubicBezTo>
                <a:cubicBezTo>
                  <a:pt x="154781" y="41537"/>
                  <a:pt x="153149" y="44107"/>
                  <a:pt x="150579" y="45286"/>
                </a:cubicBezTo>
                <a:lnTo>
                  <a:pt x="84495" y="75819"/>
                </a:lnTo>
                <a:cubicBezTo>
                  <a:pt x="79990" y="77905"/>
                  <a:pt x="74791" y="77905"/>
                  <a:pt x="70286" y="75819"/>
                </a:cubicBezTo>
                <a:lnTo>
                  <a:pt x="4202" y="45286"/>
                </a:lnTo>
                <a:cubicBezTo>
                  <a:pt x="1632" y="44076"/>
                  <a:pt x="0" y="41507"/>
                  <a:pt x="0" y="38695"/>
                </a:cubicBezTo>
                <a:cubicBezTo>
                  <a:pt x="0" y="35884"/>
                  <a:pt x="1632" y="33284"/>
                  <a:pt x="4202" y="32105"/>
                </a:cubicBezTo>
                <a:lnTo>
                  <a:pt x="70286" y="1572"/>
                </a:lnTo>
                <a:close/>
                <a:moveTo>
                  <a:pt x="14541" y="66024"/>
                </a:moveTo>
                <a:lnTo>
                  <a:pt x="64210" y="88969"/>
                </a:lnTo>
                <a:cubicBezTo>
                  <a:pt x="72584" y="92839"/>
                  <a:pt x="82228" y="92839"/>
                  <a:pt x="90601" y="88969"/>
                </a:cubicBezTo>
                <a:lnTo>
                  <a:pt x="140271" y="66024"/>
                </a:lnTo>
                <a:lnTo>
                  <a:pt x="150579" y="70800"/>
                </a:lnTo>
                <a:cubicBezTo>
                  <a:pt x="153149" y="71979"/>
                  <a:pt x="154781" y="74549"/>
                  <a:pt x="154781" y="77391"/>
                </a:cubicBezTo>
                <a:cubicBezTo>
                  <a:pt x="154781" y="80232"/>
                  <a:pt x="153149" y="82802"/>
                  <a:pt x="150579" y="83981"/>
                </a:cubicBezTo>
                <a:lnTo>
                  <a:pt x="84495" y="114514"/>
                </a:lnTo>
                <a:cubicBezTo>
                  <a:pt x="79990" y="116600"/>
                  <a:pt x="74791" y="116600"/>
                  <a:pt x="70286" y="114514"/>
                </a:cubicBezTo>
                <a:lnTo>
                  <a:pt x="4202" y="83981"/>
                </a:lnTo>
                <a:cubicBezTo>
                  <a:pt x="1632" y="82772"/>
                  <a:pt x="0" y="80202"/>
                  <a:pt x="0" y="77391"/>
                </a:cubicBezTo>
                <a:cubicBezTo>
                  <a:pt x="0" y="74579"/>
                  <a:pt x="1632" y="71979"/>
                  <a:pt x="4202" y="70800"/>
                </a:cubicBezTo>
                <a:lnTo>
                  <a:pt x="14511" y="66024"/>
                </a:lnTo>
                <a:close/>
                <a:moveTo>
                  <a:pt x="4202" y="109496"/>
                </a:moveTo>
                <a:lnTo>
                  <a:pt x="14511" y="104719"/>
                </a:lnTo>
                <a:lnTo>
                  <a:pt x="64180" y="127664"/>
                </a:lnTo>
                <a:cubicBezTo>
                  <a:pt x="72554" y="131534"/>
                  <a:pt x="82197" y="131534"/>
                  <a:pt x="90571" y="127664"/>
                </a:cubicBezTo>
                <a:lnTo>
                  <a:pt x="140240" y="104719"/>
                </a:lnTo>
                <a:lnTo>
                  <a:pt x="150549" y="109496"/>
                </a:lnTo>
                <a:cubicBezTo>
                  <a:pt x="153119" y="110675"/>
                  <a:pt x="154751" y="113244"/>
                  <a:pt x="154751" y="116086"/>
                </a:cubicBezTo>
                <a:cubicBezTo>
                  <a:pt x="154751" y="118928"/>
                  <a:pt x="153119" y="121497"/>
                  <a:pt x="150549" y="122676"/>
                </a:cubicBezTo>
                <a:lnTo>
                  <a:pt x="84465" y="153209"/>
                </a:lnTo>
                <a:cubicBezTo>
                  <a:pt x="79960" y="155295"/>
                  <a:pt x="74761" y="155295"/>
                  <a:pt x="70256" y="153209"/>
                </a:cubicBezTo>
                <a:lnTo>
                  <a:pt x="4202" y="122676"/>
                </a:lnTo>
                <a:cubicBezTo>
                  <a:pt x="1632" y="121467"/>
                  <a:pt x="0" y="118897"/>
                  <a:pt x="0" y="116086"/>
                </a:cubicBezTo>
                <a:cubicBezTo>
                  <a:pt x="0" y="113274"/>
                  <a:pt x="1632" y="110675"/>
                  <a:pt x="4202" y="10949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726281" y="2709744"/>
            <a:ext cx="63257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Scope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0069" y="3050263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6" name="Text 24"/>
          <p:cNvSpPr/>
          <p:nvPr/>
        </p:nvSpPr>
        <p:spPr>
          <a:xfrm>
            <a:off x="783431" y="3019306"/>
            <a:ext cx="29003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Database Functionality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3431" y="3205044"/>
            <a:ext cx="28926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storage and management of patient medical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30479" y="3050263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4063841" y="3019306"/>
            <a:ext cx="25193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Multi-Clinic Integration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63841" y="3205044"/>
            <a:ext cx="25116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access across distributed healthcare facilities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0069" y="3514606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783431" y="3483650"/>
            <a:ext cx="21097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Medical History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3431" y="3669388"/>
            <a:ext cx="21020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longitudinal patient records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30479" y="3514606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4063841" y="3483650"/>
            <a:ext cx="2100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63841" y="3669388"/>
            <a:ext cx="20925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HIPAA-compliant data protection measures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13295" y="1031081"/>
            <a:ext cx="4495800" cy="2619375"/>
          </a:xfrm>
          <a:custGeom>
            <a:avLst/>
            <a:gdLst/>
            <a:ahLst/>
            <a:cxnLst/>
            <a:rect l="l" t="t" r="r" b="b"/>
            <a:pathLst>
              <a:path w="4495800" h="2619375">
                <a:moveTo>
                  <a:pt x="61922" y="0"/>
                </a:moveTo>
                <a:lnTo>
                  <a:pt x="4433878" y="0"/>
                </a:lnTo>
                <a:cubicBezTo>
                  <a:pt x="4468077" y="0"/>
                  <a:pt x="4495800" y="27723"/>
                  <a:pt x="4495800" y="61922"/>
                </a:cubicBezTo>
                <a:lnTo>
                  <a:pt x="4495800" y="2557453"/>
                </a:lnTo>
                <a:cubicBezTo>
                  <a:pt x="4495800" y="2591652"/>
                  <a:pt x="4468077" y="2619375"/>
                  <a:pt x="4433878" y="2619375"/>
                </a:cubicBezTo>
                <a:lnTo>
                  <a:pt x="61922" y="2619375"/>
                </a:lnTo>
                <a:cubicBezTo>
                  <a:pt x="27723" y="2619375"/>
                  <a:pt x="0" y="2591652"/>
                  <a:pt x="0" y="2557453"/>
                </a:cubicBezTo>
                <a:lnTo>
                  <a:pt x="0" y="61922"/>
                </a:lnTo>
                <a:cubicBezTo>
                  <a:pt x="0" y="27746"/>
                  <a:pt x="27746" y="0"/>
                  <a:pt x="61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2C5F7C"/>
              </a:gs>
              <a:gs pos="100000">
                <a:srgbClr val="5A8A9F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36239" y="1246584"/>
            <a:ext cx="116086" cy="154781"/>
          </a:xfrm>
          <a:custGeom>
            <a:avLst/>
            <a:gdLst/>
            <a:ahLst/>
            <a:cxnLst/>
            <a:rect l="l" t="t" r="r" b="b"/>
            <a:pathLst>
              <a:path w="116086" h="154781">
                <a:moveTo>
                  <a:pt x="88546" y="116086"/>
                </a:moveTo>
                <a:cubicBezTo>
                  <a:pt x="90753" y="109344"/>
                  <a:pt x="95166" y="103238"/>
                  <a:pt x="100154" y="97978"/>
                </a:cubicBezTo>
                <a:cubicBezTo>
                  <a:pt x="110040" y="87578"/>
                  <a:pt x="116086" y="73521"/>
                  <a:pt x="116086" y="58043"/>
                </a:cubicBezTo>
                <a:cubicBezTo>
                  <a:pt x="116086" y="25998"/>
                  <a:pt x="90088" y="0"/>
                  <a:pt x="58043" y="0"/>
                </a:cubicBezTo>
                <a:cubicBezTo>
                  <a:pt x="25998" y="0"/>
                  <a:pt x="0" y="25998"/>
                  <a:pt x="0" y="58043"/>
                </a:cubicBezTo>
                <a:cubicBezTo>
                  <a:pt x="0" y="73521"/>
                  <a:pt x="6046" y="87578"/>
                  <a:pt x="15932" y="97978"/>
                </a:cubicBezTo>
                <a:cubicBezTo>
                  <a:pt x="20920" y="103238"/>
                  <a:pt x="25364" y="109344"/>
                  <a:pt x="27540" y="116086"/>
                </a:cubicBezTo>
                <a:lnTo>
                  <a:pt x="88516" y="116086"/>
                </a:lnTo>
                <a:close/>
                <a:moveTo>
                  <a:pt x="87064" y="130597"/>
                </a:moveTo>
                <a:lnTo>
                  <a:pt x="29021" y="130597"/>
                </a:lnTo>
                <a:lnTo>
                  <a:pt x="29021" y="135434"/>
                </a:lnTo>
                <a:cubicBezTo>
                  <a:pt x="29021" y="148796"/>
                  <a:pt x="39844" y="159618"/>
                  <a:pt x="53206" y="159618"/>
                </a:cubicBezTo>
                <a:lnTo>
                  <a:pt x="62880" y="159618"/>
                </a:lnTo>
                <a:cubicBezTo>
                  <a:pt x="76242" y="159618"/>
                  <a:pt x="87064" y="148796"/>
                  <a:pt x="87064" y="135434"/>
                </a:cubicBezTo>
                <a:lnTo>
                  <a:pt x="87064" y="130597"/>
                </a:lnTo>
                <a:close/>
                <a:moveTo>
                  <a:pt x="55625" y="33858"/>
                </a:moveTo>
                <a:cubicBezTo>
                  <a:pt x="43593" y="33858"/>
                  <a:pt x="33858" y="43593"/>
                  <a:pt x="33858" y="55625"/>
                </a:cubicBezTo>
                <a:cubicBezTo>
                  <a:pt x="33858" y="59645"/>
                  <a:pt x="30624" y="62880"/>
                  <a:pt x="26603" y="62880"/>
                </a:cubicBezTo>
                <a:cubicBezTo>
                  <a:pt x="22582" y="62880"/>
                  <a:pt x="19348" y="59645"/>
                  <a:pt x="19348" y="55625"/>
                </a:cubicBezTo>
                <a:cubicBezTo>
                  <a:pt x="19348" y="35582"/>
                  <a:pt x="35582" y="19348"/>
                  <a:pt x="55625" y="19348"/>
                </a:cubicBezTo>
                <a:cubicBezTo>
                  <a:pt x="59645" y="19348"/>
                  <a:pt x="62880" y="22582"/>
                  <a:pt x="62880" y="26603"/>
                </a:cubicBezTo>
                <a:cubicBezTo>
                  <a:pt x="62880" y="30624"/>
                  <a:pt x="59645" y="33858"/>
                  <a:pt x="55625" y="3385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7689532" y="1216819"/>
            <a:ext cx="40112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99032" y="1557338"/>
            <a:ext cx="41862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full hospital automation systems, this solution focuses specifically on </a:t>
            </a:r>
            <a:pPr>
              <a:lnSpc>
                <a:spcPct val="140000"/>
              </a:lnSpc>
            </a:pPr>
            <a:r>
              <a:rPr lang="en-US" sz="9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database-level integration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solve the critical challenge of fragmented patient records.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99032" y="2284809"/>
            <a:ext cx="4124325" cy="1181100"/>
          </a:xfrm>
          <a:custGeom>
            <a:avLst/>
            <a:gdLst/>
            <a:ahLst/>
            <a:cxnLst/>
            <a:rect l="l" t="t" r="r" b="b"/>
            <a:pathLst>
              <a:path w="4124325" h="1181100">
                <a:moveTo>
                  <a:pt x="61913" y="0"/>
                </a:moveTo>
                <a:lnTo>
                  <a:pt x="4062412" y="0"/>
                </a:lnTo>
                <a:cubicBezTo>
                  <a:pt x="4096605" y="0"/>
                  <a:pt x="4124325" y="27720"/>
                  <a:pt x="4124325" y="61913"/>
                </a:cubicBezTo>
                <a:lnTo>
                  <a:pt x="4124325" y="1119187"/>
                </a:lnTo>
                <a:cubicBezTo>
                  <a:pt x="4124325" y="1153380"/>
                  <a:pt x="4096605" y="1181100"/>
                  <a:pt x="4062412" y="1181100"/>
                </a:cubicBezTo>
                <a:lnTo>
                  <a:pt x="61913" y="1181100"/>
                </a:lnTo>
                <a:cubicBezTo>
                  <a:pt x="27720" y="1181100"/>
                  <a:pt x="0" y="1153380"/>
                  <a:pt x="0" y="1119187"/>
                </a:cubicBezTo>
                <a:lnTo>
                  <a:pt x="0" y="61913"/>
                </a:lnTo>
                <a:cubicBezTo>
                  <a:pt x="0" y="27742"/>
                  <a:pt x="27742" y="0"/>
                  <a:pt x="619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622857" y="2408634"/>
            <a:ext cx="3930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22857" y="2625328"/>
            <a:ext cx="3930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Primary Care Physicians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22857" y="2811066"/>
            <a:ext cx="3930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Specialists &amp; Consultants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22857" y="2996803"/>
            <a:ext cx="3930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Clinic Administrators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22857" y="3182541"/>
            <a:ext cx="3930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Medical Records Staff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13295" y="3770709"/>
            <a:ext cx="4495800" cy="2295525"/>
          </a:xfrm>
          <a:custGeom>
            <a:avLst/>
            <a:gdLst/>
            <a:ahLst/>
            <a:cxnLst/>
            <a:rect l="l" t="t" r="r" b="b"/>
            <a:pathLst>
              <a:path w="4495800" h="2295525">
                <a:moveTo>
                  <a:pt x="61910" y="0"/>
                </a:moveTo>
                <a:lnTo>
                  <a:pt x="4433890" y="0"/>
                </a:lnTo>
                <a:cubicBezTo>
                  <a:pt x="4468082" y="0"/>
                  <a:pt x="4495800" y="27718"/>
                  <a:pt x="4495800" y="61910"/>
                </a:cubicBezTo>
                <a:lnTo>
                  <a:pt x="4495800" y="2233615"/>
                </a:lnTo>
                <a:cubicBezTo>
                  <a:pt x="4495800" y="2267807"/>
                  <a:pt x="4468082" y="2295525"/>
                  <a:pt x="4433890" y="2295525"/>
                </a:cubicBezTo>
                <a:lnTo>
                  <a:pt x="61910" y="2295525"/>
                </a:lnTo>
                <a:cubicBezTo>
                  <a:pt x="27718" y="2295525"/>
                  <a:pt x="0" y="2267807"/>
                  <a:pt x="0" y="2233615"/>
                </a:cubicBezTo>
                <a:lnTo>
                  <a:pt x="0" y="61910"/>
                </a:lnTo>
                <a:cubicBezTo>
                  <a:pt x="0" y="27741"/>
                  <a:pt x="27741" y="0"/>
                  <a:pt x="619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468076" y="3925491"/>
            <a:ext cx="42606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Boundaries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90103" y="4266009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61912" y="15478"/>
                </a:moveTo>
                <a:cubicBezTo>
                  <a:pt x="61912" y="11197"/>
                  <a:pt x="58454" y="7739"/>
                  <a:pt x="54173" y="7739"/>
                </a:cubicBezTo>
                <a:cubicBezTo>
                  <a:pt x="49893" y="7739"/>
                  <a:pt x="46434" y="11197"/>
                  <a:pt x="46434" y="15478"/>
                </a:cubicBezTo>
                <a:lnTo>
                  <a:pt x="46434" y="54173"/>
                </a:lnTo>
                <a:lnTo>
                  <a:pt x="7739" y="54173"/>
                </a:lnTo>
                <a:cubicBezTo>
                  <a:pt x="3458" y="54173"/>
                  <a:pt x="0" y="57632"/>
                  <a:pt x="0" y="61912"/>
                </a:cubicBezTo>
                <a:cubicBezTo>
                  <a:pt x="0" y="66193"/>
                  <a:pt x="3458" y="69652"/>
                  <a:pt x="7739" y="69652"/>
                </a:cubicBezTo>
                <a:lnTo>
                  <a:pt x="46434" y="69652"/>
                </a:lnTo>
                <a:lnTo>
                  <a:pt x="46434" y="108347"/>
                </a:lnTo>
                <a:cubicBezTo>
                  <a:pt x="46434" y="112628"/>
                  <a:pt x="49893" y="116086"/>
                  <a:pt x="54173" y="116086"/>
                </a:cubicBezTo>
                <a:cubicBezTo>
                  <a:pt x="58454" y="116086"/>
                  <a:pt x="61912" y="112628"/>
                  <a:pt x="61912" y="108347"/>
                </a:cubicBezTo>
                <a:lnTo>
                  <a:pt x="61912" y="69652"/>
                </a:lnTo>
                <a:lnTo>
                  <a:pt x="100608" y="69652"/>
                </a:lnTo>
                <a:cubicBezTo>
                  <a:pt x="104888" y="69652"/>
                  <a:pt x="108347" y="66193"/>
                  <a:pt x="108347" y="61912"/>
                </a:cubicBezTo>
                <a:cubicBezTo>
                  <a:pt x="108347" y="57632"/>
                  <a:pt x="104888" y="54173"/>
                  <a:pt x="100608" y="54173"/>
                </a:cubicBezTo>
                <a:lnTo>
                  <a:pt x="61912" y="54173"/>
                </a:lnTo>
                <a:lnTo>
                  <a:pt x="61912" y="1547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0" name="Text 48"/>
          <p:cNvSpPr/>
          <p:nvPr/>
        </p:nvSpPr>
        <p:spPr>
          <a:xfrm>
            <a:off x="7684770" y="4235053"/>
            <a:ext cx="14239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data management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90103" y="4513659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61912" y="15478"/>
                </a:moveTo>
                <a:cubicBezTo>
                  <a:pt x="61912" y="11197"/>
                  <a:pt x="58454" y="7739"/>
                  <a:pt x="54173" y="7739"/>
                </a:cubicBezTo>
                <a:cubicBezTo>
                  <a:pt x="49893" y="7739"/>
                  <a:pt x="46434" y="11197"/>
                  <a:pt x="46434" y="15478"/>
                </a:cubicBezTo>
                <a:lnTo>
                  <a:pt x="46434" y="54173"/>
                </a:lnTo>
                <a:lnTo>
                  <a:pt x="7739" y="54173"/>
                </a:lnTo>
                <a:cubicBezTo>
                  <a:pt x="3458" y="54173"/>
                  <a:pt x="0" y="57632"/>
                  <a:pt x="0" y="61912"/>
                </a:cubicBezTo>
                <a:cubicBezTo>
                  <a:pt x="0" y="66193"/>
                  <a:pt x="3458" y="69652"/>
                  <a:pt x="7739" y="69652"/>
                </a:cubicBezTo>
                <a:lnTo>
                  <a:pt x="46434" y="69652"/>
                </a:lnTo>
                <a:lnTo>
                  <a:pt x="46434" y="108347"/>
                </a:lnTo>
                <a:cubicBezTo>
                  <a:pt x="46434" y="112628"/>
                  <a:pt x="49893" y="116086"/>
                  <a:pt x="54173" y="116086"/>
                </a:cubicBezTo>
                <a:cubicBezTo>
                  <a:pt x="58454" y="116086"/>
                  <a:pt x="61912" y="112628"/>
                  <a:pt x="61912" y="108347"/>
                </a:cubicBezTo>
                <a:lnTo>
                  <a:pt x="61912" y="69652"/>
                </a:lnTo>
                <a:lnTo>
                  <a:pt x="100608" y="69652"/>
                </a:lnTo>
                <a:cubicBezTo>
                  <a:pt x="104888" y="69652"/>
                  <a:pt x="108347" y="66193"/>
                  <a:pt x="108347" y="61912"/>
                </a:cubicBezTo>
                <a:cubicBezTo>
                  <a:pt x="108347" y="57632"/>
                  <a:pt x="104888" y="54173"/>
                  <a:pt x="100608" y="54173"/>
                </a:cubicBezTo>
                <a:lnTo>
                  <a:pt x="61912" y="54173"/>
                </a:lnTo>
                <a:lnTo>
                  <a:pt x="61912" y="1547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2" name="Text 50"/>
          <p:cNvSpPr/>
          <p:nvPr/>
        </p:nvSpPr>
        <p:spPr>
          <a:xfrm>
            <a:off x="7684770" y="4482703"/>
            <a:ext cx="13858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 &amp; diagnosis tracking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90103" y="4761309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61912" y="15478"/>
                </a:moveTo>
                <a:cubicBezTo>
                  <a:pt x="61912" y="11197"/>
                  <a:pt x="58454" y="7739"/>
                  <a:pt x="54173" y="7739"/>
                </a:cubicBezTo>
                <a:cubicBezTo>
                  <a:pt x="49893" y="7739"/>
                  <a:pt x="46434" y="11197"/>
                  <a:pt x="46434" y="15478"/>
                </a:cubicBezTo>
                <a:lnTo>
                  <a:pt x="46434" y="54173"/>
                </a:lnTo>
                <a:lnTo>
                  <a:pt x="7739" y="54173"/>
                </a:lnTo>
                <a:cubicBezTo>
                  <a:pt x="3458" y="54173"/>
                  <a:pt x="0" y="57632"/>
                  <a:pt x="0" y="61912"/>
                </a:cubicBezTo>
                <a:cubicBezTo>
                  <a:pt x="0" y="66193"/>
                  <a:pt x="3458" y="69652"/>
                  <a:pt x="7739" y="69652"/>
                </a:cubicBezTo>
                <a:lnTo>
                  <a:pt x="46434" y="69652"/>
                </a:lnTo>
                <a:lnTo>
                  <a:pt x="46434" y="108347"/>
                </a:lnTo>
                <a:cubicBezTo>
                  <a:pt x="46434" y="112628"/>
                  <a:pt x="49893" y="116086"/>
                  <a:pt x="54173" y="116086"/>
                </a:cubicBezTo>
                <a:cubicBezTo>
                  <a:pt x="58454" y="116086"/>
                  <a:pt x="61912" y="112628"/>
                  <a:pt x="61912" y="108347"/>
                </a:cubicBezTo>
                <a:lnTo>
                  <a:pt x="61912" y="69652"/>
                </a:lnTo>
                <a:lnTo>
                  <a:pt x="100608" y="69652"/>
                </a:lnTo>
                <a:cubicBezTo>
                  <a:pt x="104888" y="69652"/>
                  <a:pt x="108347" y="66193"/>
                  <a:pt x="108347" y="61912"/>
                </a:cubicBezTo>
                <a:cubicBezTo>
                  <a:pt x="108347" y="57632"/>
                  <a:pt x="104888" y="54173"/>
                  <a:pt x="100608" y="54173"/>
                </a:cubicBezTo>
                <a:lnTo>
                  <a:pt x="61912" y="54173"/>
                </a:lnTo>
                <a:lnTo>
                  <a:pt x="61912" y="1547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4" name="Text 52"/>
          <p:cNvSpPr/>
          <p:nvPr/>
        </p:nvSpPr>
        <p:spPr>
          <a:xfrm>
            <a:off x="7684770" y="4730353"/>
            <a:ext cx="14335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Prescription management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90103" y="5008959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61912" y="15478"/>
                </a:moveTo>
                <a:cubicBezTo>
                  <a:pt x="61912" y="11197"/>
                  <a:pt x="58454" y="7739"/>
                  <a:pt x="54173" y="7739"/>
                </a:cubicBezTo>
                <a:cubicBezTo>
                  <a:pt x="49893" y="7739"/>
                  <a:pt x="46434" y="11197"/>
                  <a:pt x="46434" y="15478"/>
                </a:cubicBezTo>
                <a:lnTo>
                  <a:pt x="46434" y="54173"/>
                </a:lnTo>
                <a:lnTo>
                  <a:pt x="7739" y="54173"/>
                </a:lnTo>
                <a:cubicBezTo>
                  <a:pt x="3458" y="54173"/>
                  <a:pt x="0" y="57632"/>
                  <a:pt x="0" y="61912"/>
                </a:cubicBezTo>
                <a:cubicBezTo>
                  <a:pt x="0" y="66193"/>
                  <a:pt x="3458" y="69652"/>
                  <a:pt x="7739" y="69652"/>
                </a:cubicBezTo>
                <a:lnTo>
                  <a:pt x="46434" y="69652"/>
                </a:lnTo>
                <a:lnTo>
                  <a:pt x="46434" y="108347"/>
                </a:lnTo>
                <a:cubicBezTo>
                  <a:pt x="46434" y="112628"/>
                  <a:pt x="49893" y="116086"/>
                  <a:pt x="54173" y="116086"/>
                </a:cubicBezTo>
                <a:cubicBezTo>
                  <a:pt x="58454" y="116086"/>
                  <a:pt x="61912" y="112628"/>
                  <a:pt x="61912" y="108347"/>
                </a:cubicBezTo>
                <a:lnTo>
                  <a:pt x="61912" y="69652"/>
                </a:lnTo>
                <a:lnTo>
                  <a:pt x="100608" y="69652"/>
                </a:lnTo>
                <a:cubicBezTo>
                  <a:pt x="104888" y="69652"/>
                  <a:pt x="108347" y="66193"/>
                  <a:pt x="108347" y="61912"/>
                </a:cubicBezTo>
                <a:cubicBezTo>
                  <a:pt x="108347" y="57632"/>
                  <a:pt x="104888" y="54173"/>
                  <a:pt x="100608" y="54173"/>
                </a:cubicBezTo>
                <a:lnTo>
                  <a:pt x="61912" y="54173"/>
                </a:lnTo>
                <a:lnTo>
                  <a:pt x="61912" y="1547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7684770" y="4978003"/>
            <a:ext cx="12239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Follow-up scheduling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90103" y="5256609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0" y="61912"/>
                </a:moveTo>
                <a:cubicBezTo>
                  <a:pt x="0" y="57632"/>
                  <a:pt x="3458" y="54173"/>
                  <a:pt x="7739" y="54173"/>
                </a:cubicBezTo>
                <a:lnTo>
                  <a:pt x="100608" y="54173"/>
                </a:lnTo>
                <a:cubicBezTo>
                  <a:pt x="104888" y="54173"/>
                  <a:pt x="108347" y="57632"/>
                  <a:pt x="108347" y="61912"/>
                </a:cubicBezTo>
                <a:cubicBezTo>
                  <a:pt x="108347" y="66193"/>
                  <a:pt x="104888" y="69652"/>
                  <a:pt x="100608" y="69652"/>
                </a:cubicBezTo>
                <a:lnTo>
                  <a:pt x="7739" y="69652"/>
                </a:lnTo>
                <a:cubicBezTo>
                  <a:pt x="3458" y="69652"/>
                  <a:pt x="0" y="66193"/>
                  <a:pt x="0" y="619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58" name="Text 56"/>
          <p:cNvSpPr/>
          <p:nvPr/>
        </p:nvSpPr>
        <p:spPr>
          <a:xfrm>
            <a:off x="7684770" y="5225653"/>
            <a:ext cx="1338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hospital automation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90103" y="5504259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0" y="61912"/>
                </a:moveTo>
                <a:cubicBezTo>
                  <a:pt x="0" y="57632"/>
                  <a:pt x="3458" y="54173"/>
                  <a:pt x="7739" y="54173"/>
                </a:cubicBezTo>
                <a:lnTo>
                  <a:pt x="100608" y="54173"/>
                </a:lnTo>
                <a:cubicBezTo>
                  <a:pt x="104888" y="54173"/>
                  <a:pt x="108347" y="57632"/>
                  <a:pt x="108347" y="61912"/>
                </a:cubicBezTo>
                <a:cubicBezTo>
                  <a:pt x="108347" y="66193"/>
                  <a:pt x="104888" y="69652"/>
                  <a:pt x="100608" y="69652"/>
                </a:cubicBezTo>
                <a:lnTo>
                  <a:pt x="7739" y="69652"/>
                </a:lnTo>
                <a:cubicBezTo>
                  <a:pt x="3458" y="69652"/>
                  <a:pt x="0" y="66193"/>
                  <a:pt x="0" y="619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60" name="Text 58"/>
          <p:cNvSpPr/>
          <p:nvPr/>
        </p:nvSpPr>
        <p:spPr>
          <a:xfrm>
            <a:off x="7684770" y="5473303"/>
            <a:ext cx="1414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Billing &amp; insurance claims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490103" y="5751909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0" y="61912"/>
                </a:moveTo>
                <a:cubicBezTo>
                  <a:pt x="0" y="57632"/>
                  <a:pt x="3458" y="54173"/>
                  <a:pt x="7739" y="54173"/>
                </a:cubicBezTo>
                <a:lnTo>
                  <a:pt x="100608" y="54173"/>
                </a:lnTo>
                <a:cubicBezTo>
                  <a:pt x="104888" y="54173"/>
                  <a:pt x="108347" y="57632"/>
                  <a:pt x="108347" y="61912"/>
                </a:cubicBezTo>
                <a:cubicBezTo>
                  <a:pt x="108347" y="66193"/>
                  <a:pt x="104888" y="69652"/>
                  <a:pt x="100608" y="69652"/>
                </a:cubicBezTo>
                <a:lnTo>
                  <a:pt x="7739" y="69652"/>
                </a:lnTo>
                <a:cubicBezTo>
                  <a:pt x="3458" y="69652"/>
                  <a:pt x="0" y="66193"/>
                  <a:pt x="0" y="619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62" name="Text 60"/>
          <p:cNvSpPr/>
          <p:nvPr/>
        </p:nvSpPr>
        <p:spPr>
          <a:xfrm>
            <a:off x="7684770" y="5720953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management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7694"/>
            <a:ext cx="115693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Statement: Fragmented Medical Records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50131"/>
            <a:ext cx="3724275" cy="1533525"/>
          </a:xfrm>
          <a:custGeom>
            <a:avLst/>
            <a:gdLst/>
            <a:ahLst/>
            <a:cxnLst/>
            <a:rect l="l" t="t" r="r" b="b"/>
            <a:pathLst>
              <a:path w="3724275" h="1533525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71617"/>
                </a:lnTo>
                <a:cubicBezTo>
                  <a:pt x="3724275" y="1505808"/>
                  <a:pt x="3696558" y="1533525"/>
                  <a:pt x="3662367" y="1533525"/>
                </a:cubicBezTo>
                <a:lnTo>
                  <a:pt x="61908" y="1533525"/>
                </a:lnTo>
                <a:cubicBezTo>
                  <a:pt x="27717" y="1533525"/>
                  <a:pt x="0" y="1505808"/>
                  <a:pt x="0" y="14716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050131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" name="Shape 4"/>
          <p:cNvSpPr/>
          <p:nvPr/>
        </p:nvSpPr>
        <p:spPr>
          <a:xfrm>
            <a:off x="504825" y="119300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2C5F7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4299" y="1288256"/>
            <a:ext cx="208955" cy="185738"/>
          </a:xfrm>
          <a:custGeom>
            <a:avLst/>
            <a:gdLst/>
            <a:ahLst/>
            <a:cxnLst/>
            <a:rect l="l" t="t" r="r" b="b"/>
            <a:pathLst>
              <a:path w="208955" h="185738">
                <a:moveTo>
                  <a:pt x="46434" y="23217"/>
                </a:moveTo>
                <a:cubicBezTo>
                  <a:pt x="46434" y="10411"/>
                  <a:pt x="56846" y="0"/>
                  <a:pt x="69652" y="0"/>
                </a:cubicBezTo>
                <a:lnTo>
                  <a:pt x="139303" y="0"/>
                </a:lnTo>
                <a:cubicBezTo>
                  <a:pt x="152109" y="0"/>
                  <a:pt x="162520" y="10411"/>
                  <a:pt x="162520" y="23217"/>
                </a:cubicBezTo>
                <a:lnTo>
                  <a:pt x="162520" y="46434"/>
                </a:lnTo>
                <a:lnTo>
                  <a:pt x="185738" y="46434"/>
                </a:lnTo>
                <a:cubicBezTo>
                  <a:pt x="198543" y="46434"/>
                  <a:pt x="208955" y="56846"/>
                  <a:pt x="208955" y="69652"/>
                </a:cubicBezTo>
                <a:lnTo>
                  <a:pt x="208955" y="162520"/>
                </a:lnTo>
                <a:cubicBezTo>
                  <a:pt x="208955" y="175326"/>
                  <a:pt x="198543" y="185738"/>
                  <a:pt x="185738" y="185738"/>
                </a:cubicBezTo>
                <a:lnTo>
                  <a:pt x="23217" y="185738"/>
                </a:lnTo>
                <a:cubicBezTo>
                  <a:pt x="10411" y="185738"/>
                  <a:pt x="0" y="175326"/>
                  <a:pt x="0" y="162520"/>
                </a:cubicBezTo>
                <a:lnTo>
                  <a:pt x="0" y="69652"/>
                </a:lnTo>
                <a:cubicBezTo>
                  <a:pt x="0" y="56846"/>
                  <a:pt x="10411" y="46434"/>
                  <a:pt x="23217" y="46434"/>
                </a:cubicBezTo>
                <a:lnTo>
                  <a:pt x="46434" y="46434"/>
                </a:lnTo>
                <a:lnTo>
                  <a:pt x="46434" y="23217"/>
                </a:lnTo>
                <a:close/>
                <a:moveTo>
                  <a:pt x="98673" y="127695"/>
                </a:moveTo>
                <a:cubicBezTo>
                  <a:pt x="92252" y="127695"/>
                  <a:pt x="87064" y="132882"/>
                  <a:pt x="87064" y="139303"/>
                </a:cubicBezTo>
                <a:lnTo>
                  <a:pt x="87064" y="168325"/>
                </a:lnTo>
                <a:lnTo>
                  <a:pt x="121890" y="168325"/>
                </a:lnTo>
                <a:lnTo>
                  <a:pt x="121890" y="139303"/>
                </a:lnTo>
                <a:cubicBezTo>
                  <a:pt x="121890" y="132882"/>
                  <a:pt x="116703" y="127695"/>
                  <a:pt x="110282" y="127695"/>
                </a:cubicBezTo>
                <a:lnTo>
                  <a:pt x="98673" y="127695"/>
                </a:lnTo>
                <a:close/>
                <a:moveTo>
                  <a:pt x="46434" y="133499"/>
                </a:moveTo>
                <a:lnTo>
                  <a:pt x="46434" y="121890"/>
                </a:lnTo>
                <a:cubicBezTo>
                  <a:pt x="46434" y="118698"/>
                  <a:pt x="43822" y="116086"/>
                  <a:pt x="40630" y="116086"/>
                </a:cubicBezTo>
                <a:lnTo>
                  <a:pt x="29021" y="116086"/>
                </a:lnTo>
                <a:cubicBezTo>
                  <a:pt x="25829" y="116086"/>
                  <a:pt x="23217" y="118698"/>
                  <a:pt x="23217" y="121890"/>
                </a:cubicBezTo>
                <a:lnTo>
                  <a:pt x="23217" y="133499"/>
                </a:lnTo>
                <a:cubicBezTo>
                  <a:pt x="23217" y="136691"/>
                  <a:pt x="25829" y="139303"/>
                  <a:pt x="29021" y="139303"/>
                </a:cubicBezTo>
                <a:lnTo>
                  <a:pt x="40630" y="139303"/>
                </a:lnTo>
                <a:cubicBezTo>
                  <a:pt x="43822" y="139303"/>
                  <a:pt x="46434" y="136691"/>
                  <a:pt x="46434" y="133499"/>
                </a:cubicBezTo>
                <a:close/>
                <a:moveTo>
                  <a:pt x="40630" y="92869"/>
                </a:moveTo>
                <a:cubicBezTo>
                  <a:pt x="43822" y="92869"/>
                  <a:pt x="46434" y="90257"/>
                  <a:pt x="46434" y="87064"/>
                </a:cubicBezTo>
                <a:lnTo>
                  <a:pt x="46434" y="75456"/>
                </a:lnTo>
                <a:cubicBezTo>
                  <a:pt x="46434" y="72263"/>
                  <a:pt x="43822" y="69652"/>
                  <a:pt x="40630" y="69652"/>
                </a:cubicBezTo>
                <a:lnTo>
                  <a:pt x="29021" y="69652"/>
                </a:lnTo>
                <a:cubicBezTo>
                  <a:pt x="25829" y="69652"/>
                  <a:pt x="23217" y="72263"/>
                  <a:pt x="23217" y="75456"/>
                </a:cubicBezTo>
                <a:lnTo>
                  <a:pt x="23217" y="87064"/>
                </a:lnTo>
                <a:cubicBezTo>
                  <a:pt x="23217" y="90257"/>
                  <a:pt x="25829" y="92869"/>
                  <a:pt x="29021" y="92869"/>
                </a:cubicBezTo>
                <a:lnTo>
                  <a:pt x="40630" y="92869"/>
                </a:lnTo>
                <a:close/>
                <a:moveTo>
                  <a:pt x="185738" y="133499"/>
                </a:moveTo>
                <a:lnTo>
                  <a:pt x="185738" y="121890"/>
                </a:lnTo>
                <a:cubicBezTo>
                  <a:pt x="185738" y="118698"/>
                  <a:pt x="183126" y="116086"/>
                  <a:pt x="179933" y="116086"/>
                </a:cubicBezTo>
                <a:lnTo>
                  <a:pt x="168325" y="116086"/>
                </a:lnTo>
                <a:cubicBezTo>
                  <a:pt x="165132" y="116086"/>
                  <a:pt x="162520" y="118698"/>
                  <a:pt x="162520" y="121890"/>
                </a:cubicBezTo>
                <a:lnTo>
                  <a:pt x="162520" y="133499"/>
                </a:lnTo>
                <a:cubicBezTo>
                  <a:pt x="162520" y="136691"/>
                  <a:pt x="165132" y="139303"/>
                  <a:pt x="168325" y="139303"/>
                </a:cubicBezTo>
                <a:lnTo>
                  <a:pt x="179933" y="139303"/>
                </a:lnTo>
                <a:cubicBezTo>
                  <a:pt x="183126" y="139303"/>
                  <a:pt x="185738" y="136691"/>
                  <a:pt x="185738" y="133499"/>
                </a:cubicBezTo>
                <a:close/>
                <a:moveTo>
                  <a:pt x="179933" y="92869"/>
                </a:moveTo>
                <a:cubicBezTo>
                  <a:pt x="183126" y="92869"/>
                  <a:pt x="185738" y="90257"/>
                  <a:pt x="185738" y="87064"/>
                </a:cubicBezTo>
                <a:lnTo>
                  <a:pt x="185738" y="75456"/>
                </a:lnTo>
                <a:cubicBezTo>
                  <a:pt x="185738" y="72263"/>
                  <a:pt x="183126" y="69652"/>
                  <a:pt x="179933" y="69652"/>
                </a:cubicBezTo>
                <a:lnTo>
                  <a:pt x="168325" y="69652"/>
                </a:lnTo>
                <a:cubicBezTo>
                  <a:pt x="165132" y="69652"/>
                  <a:pt x="162520" y="72263"/>
                  <a:pt x="162520" y="75456"/>
                </a:cubicBezTo>
                <a:lnTo>
                  <a:pt x="162520" y="87064"/>
                </a:lnTo>
                <a:cubicBezTo>
                  <a:pt x="162520" y="90257"/>
                  <a:pt x="165132" y="92869"/>
                  <a:pt x="168325" y="92869"/>
                </a:cubicBezTo>
                <a:lnTo>
                  <a:pt x="179933" y="92869"/>
                </a:lnTo>
                <a:close/>
                <a:moveTo>
                  <a:pt x="95771" y="37728"/>
                </a:moveTo>
                <a:lnTo>
                  <a:pt x="95771" y="49337"/>
                </a:lnTo>
                <a:lnTo>
                  <a:pt x="84162" y="49337"/>
                </a:lnTo>
                <a:cubicBezTo>
                  <a:pt x="80970" y="49337"/>
                  <a:pt x="78358" y="51948"/>
                  <a:pt x="78358" y="55141"/>
                </a:cubicBezTo>
                <a:lnTo>
                  <a:pt x="78358" y="60945"/>
                </a:lnTo>
                <a:cubicBezTo>
                  <a:pt x="78358" y="64137"/>
                  <a:pt x="80970" y="66749"/>
                  <a:pt x="84162" y="66749"/>
                </a:cubicBezTo>
                <a:lnTo>
                  <a:pt x="95771" y="66749"/>
                </a:lnTo>
                <a:lnTo>
                  <a:pt x="95771" y="78358"/>
                </a:lnTo>
                <a:cubicBezTo>
                  <a:pt x="95771" y="81550"/>
                  <a:pt x="98383" y="84162"/>
                  <a:pt x="101575" y="84162"/>
                </a:cubicBezTo>
                <a:lnTo>
                  <a:pt x="107379" y="84162"/>
                </a:lnTo>
                <a:cubicBezTo>
                  <a:pt x="110572" y="84162"/>
                  <a:pt x="113184" y="81550"/>
                  <a:pt x="113184" y="78358"/>
                </a:cubicBezTo>
                <a:lnTo>
                  <a:pt x="113184" y="66749"/>
                </a:lnTo>
                <a:lnTo>
                  <a:pt x="124792" y="66749"/>
                </a:lnTo>
                <a:cubicBezTo>
                  <a:pt x="127985" y="66749"/>
                  <a:pt x="130597" y="64137"/>
                  <a:pt x="130597" y="60945"/>
                </a:cubicBezTo>
                <a:lnTo>
                  <a:pt x="130597" y="55141"/>
                </a:lnTo>
                <a:cubicBezTo>
                  <a:pt x="130597" y="51948"/>
                  <a:pt x="127985" y="49337"/>
                  <a:pt x="124792" y="49337"/>
                </a:cubicBezTo>
                <a:lnTo>
                  <a:pt x="113184" y="49337"/>
                </a:lnTo>
                <a:lnTo>
                  <a:pt x="113184" y="37728"/>
                </a:lnTo>
                <a:cubicBezTo>
                  <a:pt x="113184" y="34536"/>
                  <a:pt x="110572" y="31924"/>
                  <a:pt x="107379" y="31924"/>
                </a:cubicBezTo>
                <a:lnTo>
                  <a:pt x="101575" y="31924"/>
                </a:lnTo>
                <a:cubicBezTo>
                  <a:pt x="98383" y="31924"/>
                  <a:pt x="95771" y="34536"/>
                  <a:pt x="95771" y="37728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8" name="Text 6"/>
          <p:cNvSpPr/>
          <p:nvPr/>
        </p:nvSpPr>
        <p:spPr>
          <a:xfrm>
            <a:off x="969169" y="1270397"/>
            <a:ext cx="9840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Issue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825" y="1657350"/>
            <a:ext cx="3538538" cy="70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 frequently visit </a:t>
            </a:r>
            <a:pPr>
              <a:lnSpc>
                <a:spcPct val="14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clinics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various medical needs, resulting in medical records being stored separately at each facility. This fragmentation creates 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silos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prevent comprehensive patient care.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32196" y="1050131"/>
            <a:ext cx="3724275" cy="1533525"/>
          </a:xfrm>
          <a:custGeom>
            <a:avLst/>
            <a:gdLst/>
            <a:ahLst/>
            <a:cxnLst/>
            <a:rect l="l" t="t" r="r" b="b"/>
            <a:pathLst>
              <a:path w="3724275" h="1533525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71617"/>
                </a:lnTo>
                <a:cubicBezTo>
                  <a:pt x="3724275" y="1505808"/>
                  <a:pt x="3696558" y="1533525"/>
                  <a:pt x="3662367" y="1533525"/>
                </a:cubicBezTo>
                <a:lnTo>
                  <a:pt x="61908" y="1533525"/>
                </a:lnTo>
                <a:cubicBezTo>
                  <a:pt x="27717" y="1533525"/>
                  <a:pt x="0" y="1505808"/>
                  <a:pt x="0" y="14716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32196" y="1050131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6021" y="119300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5A8A9F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58712" y="1288256"/>
            <a:ext cx="162520" cy="185738"/>
          </a:xfrm>
          <a:custGeom>
            <a:avLst/>
            <a:gdLst/>
            <a:ahLst/>
            <a:cxnLst/>
            <a:rect l="l" t="t" r="r" b="b"/>
            <a:pathLst>
              <a:path w="162520" h="185738">
                <a:moveTo>
                  <a:pt x="81260" y="2902"/>
                </a:moveTo>
                <a:cubicBezTo>
                  <a:pt x="57234" y="2902"/>
                  <a:pt x="37728" y="22408"/>
                  <a:pt x="37728" y="46434"/>
                </a:cubicBezTo>
                <a:cubicBezTo>
                  <a:pt x="37728" y="70460"/>
                  <a:pt x="57234" y="89967"/>
                  <a:pt x="81260" y="89967"/>
                </a:cubicBezTo>
                <a:cubicBezTo>
                  <a:pt x="105286" y="89967"/>
                  <a:pt x="124792" y="70460"/>
                  <a:pt x="124792" y="46434"/>
                </a:cubicBezTo>
                <a:cubicBezTo>
                  <a:pt x="124792" y="22408"/>
                  <a:pt x="105286" y="2902"/>
                  <a:pt x="81260" y="2902"/>
                </a:cubicBezTo>
                <a:close/>
                <a:moveTo>
                  <a:pt x="103026" y="116376"/>
                </a:moveTo>
                <a:cubicBezTo>
                  <a:pt x="101067" y="116195"/>
                  <a:pt x="99036" y="116086"/>
                  <a:pt x="97004" y="116086"/>
                </a:cubicBezTo>
                <a:lnTo>
                  <a:pt x="65480" y="116086"/>
                </a:lnTo>
                <a:cubicBezTo>
                  <a:pt x="63448" y="116086"/>
                  <a:pt x="61453" y="116195"/>
                  <a:pt x="59458" y="116376"/>
                </a:cubicBezTo>
                <a:lnTo>
                  <a:pt x="59458" y="140863"/>
                </a:lnTo>
                <a:cubicBezTo>
                  <a:pt x="65443" y="143620"/>
                  <a:pt x="69615" y="149678"/>
                  <a:pt x="69615" y="156680"/>
                </a:cubicBezTo>
                <a:cubicBezTo>
                  <a:pt x="69615" y="166293"/>
                  <a:pt x="61816" y="174093"/>
                  <a:pt x="52202" y="174093"/>
                </a:cubicBezTo>
                <a:cubicBezTo>
                  <a:pt x="42589" y="174093"/>
                  <a:pt x="34790" y="166293"/>
                  <a:pt x="34790" y="156680"/>
                </a:cubicBezTo>
                <a:cubicBezTo>
                  <a:pt x="34790" y="149642"/>
                  <a:pt x="38961" y="143584"/>
                  <a:pt x="44947" y="140863"/>
                </a:cubicBezTo>
                <a:lnTo>
                  <a:pt x="44947" y="119677"/>
                </a:lnTo>
                <a:cubicBezTo>
                  <a:pt x="22129" y="128057"/>
                  <a:pt x="5804" y="150041"/>
                  <a:pt x="5804" y="175798"/>
                </a:cubicBezTo>
                <a:cubicBezTo>
                  <a:pt x="5804" y="181275"/>
                  <a:pt x="10266" y="185738"/>
                  <a:pt x="15744" y="185738"/>
                </a:cubicBezTo>
                <a:lnTo>
                  <a:pt x="146740" y="185738"/>
                </a:lnTo>
                <a:cubicBezTo>
                  <a:pt x="152218" y="185738"/>
                  <a:pt x="156680" y="181275"/>
                  <a:pt x="156680" y="175798"/>
                </a:cubicBezTo>
                <a:cubicBezTo>
                  <a:pt x="156680" y="150041"/>
                  <a:pt x="140355" y="128094"/>
                  <a:pt x="117501" y="119714"/>
                </a:cubicBezTo>
                <a:lnTo>
                  <a:pt x="117501" y="133281"/>
                </a:lnTo>
                <a:cubicBezTo>
                  <a:pt x="125953" y="136256"/>
                  <a:pt x="132011" y="144346"/>
                  <a:pt x="132011" y="153814"/>
                </a:cubicBezTo>
                <a:lnTo>
                  <a:pt x="132011" y="165422"/>
                </a:lnTo>
                <a:cubicBezTo>
                  <a:pt x="132011" y="169413"/>
                  <a:pt x="128747" y="172678"/>
                  <a:pt x="124756" y="172678"/>
                </a:cubicBezTo>
                <a:cubicBezTo>
                  <a:pt x="120766" y="172678"/>
                  <a:pt x="117501" y="169413"/>
                  <a:pt x="117501" y="165422"/>
                </a:cubicBezTo>
                <a:lnTo>
                  <a:pt x="117501" y="153814"/>
                </a:lnTo>
                <a:cubicBezTo>
                  <a:pt x="117501" y="149823"/>
                  <a:pt x="114236" y="146558"/>
                  <a:pt x="110245" y="146558"/>
                </a:cubicBezTo>
                <a:cubicBezTo>
                  <a:pt x="106255" y="146558"/>
                  <a:pt x="102990" y="149823"/>
                  <a:pt x="102990" y="153814"/>
                </a:cubicBezTo>
                <a:lnTo>
                  <a:pt x="102990" y="165422"/>
                </a:lnTo>
                <a:cubicBezTo>
                  <a:pt x="102990" y="169413"/>
                  <a:pt x="99725" y="172678"/>
                  <a:pt x="95735" y="172678"/>
                </a:cubicBezTo>
                <a:cubicBezTo>
                  <a:pt x="91744" y="172678"/>
                  <a:pt x="88479" y="169413"/>
                  <a:pt x="88479" y="165422"/>
                </a:cubicBezTo>
                <a:lnTo>
                  <a:pt x="88479" y="153814"/>
                </a:lnTo>
                <a:cubicBezTo>
                  <a:pt x="88479" y="144346"/>
                  <a:pt x="94537" y="136292"/>
                  <a:pt x="102990" y="133281"/>
                </a:cubicBezTo>
                <a:lnTo>
                  <a:pt x="102990" y="116376"/>
                </a:ln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4" name="Text 12"/>
          <p:cNvSpPr/>
          <p:nvPr/>
        </p:nvSpPr>
        <p:spPr>
          <a:xfrm>
            <a:off x="4820364" y="1270397"/>
            <a:ext cx="9745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Impact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56021" y="1657350"/>
            <a:ext cx="3538538" cy="70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Doctors lack access to </a:t>
            </a:r>
            <a:pPr>
              <a:lnSpc>
                <a:spcPct val="14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patient history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affecting continuity of care. Critical information such as allergies, previous diagnoses, and current medications may be unavailable during consultations.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83511" y="1050131"/>
            <a:ext cx="3724275" cy="1533525"/>
          </a:xfrm>
          <a:custGeom>
            <a:avLst/>
            <a:gdLst/>
            <a:ahLst/>
            <a:cxnLst/>
            <a:rect l="l" t="t" r="r" b="b"/>
            <a:pathLst>
              <a:path w="3724275" h="1533525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71617"/>
                </a:lnTo>
                <a:cubicBezTo>
                  <a:pt x="3724275" y="1505808"/>
                  <a:pt x="3696558" y="1533525"/>
                  <a:pt x="3662367" y="1533525"/>
                </a:cubicBezTo>
                <a:lnTo>
                  <a:pt x="61908" y="1533525"/>
                </a:lnTo>
                <a:cubicBezTo>
                  <a:pt x="27717" y="1533525"/>
                  <a:pt x="0" y="1505808"/>
                  <a:pt x="0" y="14716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3511" y="1050131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7336" y="119300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98418" y="1288256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92869" y="0"/>
                </a:moveTo>
                <a:cubicBezTo>
                  <a:pt x="98201" y="0"/>
                  <a:pt x="103099" y="2938"/>
                  <a:pt x="105638" y="7618"/>
                </a:cubicBezTo>
                <a:lnTo>
                  <a:pt x="183996" y="152726"/>
                </a:lnTo>
                <a:cubicBezTo>
                  <a:pt x="186427" y="157224"/>
                  <a:pt x="186318" y="162665"/>
                  <a:pt x="183706" y="167055"/>
                </a:cubicBezTo>
                <a:cubicBezTo>
                  <a:pt x="181094" y="171444"/>
                  <a:pt x="176342" y="174129"/>
                  <a:pt x="171227" y="174129"/>
                </a:cubicBezTo>
                <a:lnTo>
                  <a:pt x="14511" y="174129"/>
                </a:lnTo>
                <a:cubicBezTo>
                  <a:pt x="9396" y="174129"/>
                  <a:pt x="4680" y="171444"/>
                  <a:pt x="2032" y="167055"/>
                </a:cubicBezTo>
                <a:cubicBezTo>
                  <a:pt x="-617" y="162665"/>
                  <a:pt x="-689" y="157224"/>
                  <a:pt x="1741" y="152726"/>
                </a:cubicBezTo>
                <a:lnTo>
                  <a:pt x="80099" y="7618"/>
                </a:lnTo>
                <a:cubicBezTo>
                  <a:pt x="82639" y="2938"/>
                  <a:pt x="87536" y="0"/>
                  <a:pt x="92869" y="0"/>
                </a:cubicBezTo>
                <a:close/>
                <a:moveTo>
                  <a:pt x="92869" y="60945"/>
                </a:moveTo>
                <a:cubicBezTo>
                  <a:pt x="88044" y="60945"/>
                  <a:pt x="84162" y="64827"/>
                  <a:pt x="84162" y="69652"/>
                </a:cubicBezTo>
                <a:lnTo>
                  <a:pt x="84162" y="110282"/>
                </a:lnTo>
                <a:cubicBezTo>
                  <a:pt x="84162" y="115106"/>
                  <a:pt x="88044" y="118988"/>
                  <a:pt x="92869" y="118988"/>
                </a:cubicBezTo>
                <a:cubicBezTo>
                  <a:pt x="97694" y="118988"/>
                  <a:pt x="101575" y="115106"/>
                  <a:pt x="101575" y="110282"/>
                </a:cubicBezTo>
                <a:lnTo>
                  <a:pt x="101575" y="69652"/>
                </a:lnTo>
                <a:cubicBezTo>
                  <a:pt x="101575" y="64827"/>
                  <a:pt x="97694" y="60945"/>
                  <a:pt x="92869" y="60945"/>
                </a:cubicBezTo>
                <a:close/>
                <a:moveTo>
                  <a:pt x="102555" y="139303"/>
                </a:moveTo>
                <a:cubicBezTo>
                  <a:pt x="102775" y="135708"/>
                  <a:pt x="100982" y="132287"/>
                  <a:pt x="97900" y="130423"/>
                </a:cubicBezTo>
                <a:cubicBezTo>
                  <a:pt x="94818" y="128559"/>
                  <a:pt x="90956" y="128559"/>
                  <a:pt x="87874" y="130423"/>
                </a:cubicBezTo>
                <a:cubicBezTo>
                  <a:pt x="84792" y="132287"/>
                  <a:pt x="82999" y="135708"/>
                  <a:pt x="83219" y="139303"/>
                </a:cubicBezTo>
                <a:cubicBezTo>
                  <a:pt x="82999" y="142898"/>
                  <a:pt x="84792" y="146319"/>
                  <a:pt x="87874" y="148183"/>
                </a:cubicBezTo>
                <a:cubicBezTo>
                  <a:pt x="90956" y="150048"/>
                  <a:pt x="94818" y="150048"/>
                  <a:pt x="97900" y="148183"/>
                </a:cubicBezTo>
                <a:cubicBezTo>
                  <a:pt x="100982" y="146319"/>
                  <a:pt x="102775" y="142898"/>
                  <a:pt x="102555" y="13930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8671679" y="1270397"/>
            <a:ext cx="9840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Consequences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07336" y="1657350"/>
            <a:ext cx="3538538" cy="70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records lead to </a:t>
            </a:r>
            <a:pPr>
              <a:lnSpc>
                <a:spcPct val="14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 testing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diagnoses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medication conflicts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increased healthcare costs. Patient safety is compromised when critical health information is inaccessible.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2709863"/>
            <a:ext cx="11430000" cy="3771900"/>
          </a:xfrm>
          <a:custGeom>
            <a:avLst/>
            <a:gdLst/>
            <a:ahLst/>
            <a:cxnLst/>
            <a:rect l="l" t="t" r="r" b="b"/>
            <a:pathLst>
              <a:path w="11430000" h="3771900">
                <a:moveTo>
                  <a:pt x="61897" y="0"/>
                </a:moveTo>
                <a:lnTo>
                  <a:pt x="11368103" y="0"/>
                </a:lnTo>
                <a:cubicBezTo>
                  <a:pt x="11402288" y="0"/>
                  <a:pt x="11430000" y="27712"/>
                  <a:pt x="11430000" y="61897"/>
                </a:cubicBezTo>
                <a:lnTo>
                  <a:pt x="11430000" y="3710003"/>
                </a:lnTo>
                <a:cubicBezTo>
                  <a:pt x="11430000" y="3744188"/>
                  <a:pt x="11402288" y="3771900"/>
                  <a:pt x="11368103" y="3771900"/>
                </a:cubicBezTo>
                <a:lnTo>
                  <a:pt x="61897" y="3771900"/>
                </a:lnTo>
                <a:cubicBezTo>
                  <a:pt x="27712" y="3771900"/>
                  <a:pt x="0" y="3744188"/>
                  <a:pt x="0" y="3710003"/>
                </a:cubicBezTo>
                <a:lnTo>
                  <a:pt x="0" y="61897"/>
                </a:lnTo>
                <a:cubicBezTo>
                  <a:pt x="0" y="27735"/>
                  <a:pt x="27735" y="0"/>
                  <a:pt x="618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641" y="2894409"/>
            <a:ext cx="154781" cy="154781"/>
          </a:xfrm>
          <a:custGeom>
            <a:avLst/>
            <a:gdLst/>
            <a:ahLst/>
            <a:cxnLst/>
            <a:rect l="l" t="t" r="r" b="b"/>
            <a:pathLst>
              <a:path w="154781" h="154781">
                <a:moveTo>
                  <a:pt x="9674" y="9674"/>
                </a:moveTo>
                <a:cubicBezTo>
                  <a:pt x="15025" y="9674"/>
                  <a:pt x="19348" y="13997"/>
                  <a:pt x="19348" y="19348"/>
                </a:cubicBezTo>
                <a:lnTo>
                  <a:pt x="19348" y="120923"/>
                </a:lnTo>
                <a:cubicBezTo>
                  <a:pt x="19348" y="123583"/>
                  <a:pt x="21524" y="125760"/>
                  <a:pt x="24185" y="125760"/>
                </a:cubicBezTo>
                <a:lnTo>
                  <a:pt x="145107" y="125760"/>
                </a:lnTo>
                <a:cubicBezTo>
                  <a:pt x="150458" y="125760"/>
                  <a:pt x="154781" y="130083"/>
                  <a:pt x="154781" y="135434"/>
                </a:cubicBezTo>
                <a:cubicBezTo>
                  <a:pt x="154781" y="140784"/>
                  <a:pt x="150458" y="145107"/>
                  <a:pt x="145107" y="145107"/>
                </a:cubicBezTo>
                <a:lnTo>
                  <a:pt x="24185" y="145107"/>
                </a:lnTo>
                <a:cubicBezTo>
                  <a:pt x="10823" y="145107"/>
                  <a:pt x="0" y="134285"/>
                  <a:pt x="0" y="120923"/>
                </a:cubicBezTo>
                <a:lnTo>
                  <a:pt x="0" y="19348"/>
                </a:lnTo>
                <a:cubicBezTo>
                  <a:pt x="0" y="13997"/>
                  <a:pt x="4323" y="9674"/>
                  <a:pt x="9674" y="9674"/>
                </a:cubicBezTo>
                <a:close/>
                <a:moveTo>
                  <a:pt x="38695" y="29021"/>
                </a:moveTo>
                <a:cubicBezTo>
                  <a:pt x="38695" y="23671"/>
                  <a:pt x="43018" y="19348"/>
                  <a:pt x="48369" y="19348"/>
                </a:cubicBezTo>
                <a:lnTo>
                  <a:pt x="106412" y="19348"/>
                </a:lnTo>
                <a:cubicBezTo>
                  <a:pt x="111763" y="19348"/>
                  <a:pt x="116086" y="23671"/>
                  <a:pt x="116086" y="29021"/>
                </a:cubicBezTo>
                <a:cubicBezTo>
                  <a:pt x="116086" y="34372"/>
                  <a:pt x="111763" y="38695"/>
                  <a:pt x="106412" y="38695"/>
                </a:cubicBezTo>
                <a:lnTo>
                  <a:pt x="48369" y="38695"/>
                </a:lnTo>
                <a:cubicBezTo>
                  <a:pt x="43018" y="38695"/>
                  <a:pt x="38695" y="34372"/>
                  <a:pt x="38695" y="29021"/>
                </a:cubicBezTo>
                <a:close/>
                <a:moveTo>
                  <a:pt x="48369" y="53206"/>
                </a:moveTo>
                <a:lnTo>
                  <a:pt x="87064" y="53206"/>
                </a:lnTo>
                <a:cubicBezTo>
                  <a:pt x="92415" y="53206"/>
                  <a:pt x="96738" y="57529"/>
                  <a:pt x="96738" y="62880"/>
                </a:cubicBezTo>
                <a:cubicBezTo>
                  <a:pt x="96738" y="68231"/>
                  <a:pt x="92415" y="72554"/>
                  <a:pt x="87064" y="72554"/>
                </a:cubicBezTo>
                <a:lnTo>
                  <a:pt x="48369" y="72554"/>
                </a:lnTo>
                <a:cubicBezTo>
                  <a:pt x="43018" y="72554"/>
                  <a:pt x="38695" y="68231"/>
                  <a:pt x="38695" y="62880"/>
                </a:cubicBezTo>
                <a:cubicBezTo>
                  <a:pt x="38695" y="57529"/>
                  <a:pt x="43018" y="53206"/>
                  <a:pt x="48369" y="53206"/>
                </a:cubicBezTo>
                <a:close/>
                <a:moveTo>
                  <a:pt x="48369" y="87064"/>
                </a:moveTo>
                <a:lnTo>
                  <a:pt x="125760" y="87064"/>
                </a:lnTo>
                <a:cubicBezTo>
                  <a:pt x="131111" y="87064"/>
                  <a:pt x="135434" y="91387"/>
                  <a:pt x="135434" y="96738"/>
                </a:cubicBezTo>
                <a:cubicBezTo>
                  <a:pt x="135434" y="102089"/>
                  <a:pt x="131111" y="106412"/>
                  <a:pt x="125760" y="106412"/>
                </a:cubicBezTo>
                <a:lnTo>
                  <a:pt x="48369" y="106412"/>
                </a:lnTo>
                <a:cubicBezTo>
                  <a:pt x="43018" y="106412"/>
                  <a:pt x="38695" y="102089"/>
                  <a:pt x="38695" y="96738"/>
                </a:cubicBezTo>
                <a:cubicBezTo>
                  <a:pt x="38695" y="91387"/>
                  <a:pt x="43018" y="87064"/>
                  <a:pt x="48369" y="8706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726281" y="2864644"/>
            <a:ext cx="110120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Data Fragmentation: The Numbers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5781" y="3205163"/>
            <a:ext cx="2686050" cy="990600"/>
          </a:xfrm>
          <a:custGeom>
            <a:avLst/>
            <a:gdLst/>
            <a:ahLst/>
            <a:cxnLst/>
            <a:rect l="l" t="t" r="r" b="b"/>
            <a:pathLst>
              <a:path w="2686050" h="990600">
                <a:moveTo>
                  <a:pt x="61912" y="0"/>
                </a:moveTo>
                <a:lnTo>
                  <a:pt x="2624138" y="0"/>
                </a:lnTo>
                <a:cubicBezTo>
                  <a:pt x="2658308" y="0"/>
                  <a:pt x="2686050" y="27742"/>
                  <a:pt x="2686050" y="61912"/>
                </a:cubicBezTo>
                <a:lnTo>
                  <a:pt x="2686050" y="928688"/>
                </a:lnTo>
                <a:cubicBezTo>
                  <a:pt x="2686050" y="962858"/>
                  <a:pt x="2658308" y="990600"/>
                  <a:pt x="2624138" y="990600"/>
                </a:cubicBezTo>
                <a:lnTo>
                  <a:pt x="61912" y="990600"/>
                </a:lnTo>
                <a:cubicBezTo>
                  <a:pt x="27742" y="990600"/>
                  <a:pt x="0" y="962858"/>
                  <a:pt x="0" y="928688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89955" y="3328988"/>
            <a:ext cx="25777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8650" y="3700463"/>
            <a:ext cx="25003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healthcare organizations report data silos as a major barrier to care coordination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46847" y="3205163"/>
            <a:ext cx="2686050" cy="990600"/>
          </a:xfrm>
          <a:custGeom>
            <a:avLst/>
            <a:gdLst/>
            <a:ahLst/>
            <a:cxnLst/>
            <a:rect l="l" t="t" r="r" b="b"/>
            <a:pathLst>
              <a:path w="2686050" h="990600">
                <a:moveTo>
                  <a:pt x="61912" y="0"/>
                </a:moveTo>
                <a:lnTo>
                  <a:pt x="2624138" y="0"/>
                </a:lnTo>
                <a:cubicBezTo>
                  <a:pt x="2658308" y="0"/>
                  <a:pt x="2686050" y="27742"/>
                  <a:pt x="2686050" y="61912"/>
                </a:cubicBezTo>
                <a:lnTo>
                  <a:pt x="2686050" y="928688"/>
                </a:lnTo>
                <a:cubicBezTo>
                  <a:pt x="2686050" y="962858"/>
                  <a:pt x="2658308" y="990600"/>
                  <a:pt x="2624138" y="990600"/>
                </a:cubicBezTo>
                <a:lnTo>
                  <a:pt x="61912" y="990600"/>
                </a:lnTo>
                <a:cubicBezTo>
                  <a:pt x="27742" y="990600"/>
                  <a:pt x="0" y="962858"/>
                  <a:pt x="0" y="928688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401020" y="3328988"/>
            <a:ext cx="25777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194" b="1" dirty="0">
                <a:solidFill>
                  <a:srgbClr val="5A8A9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$1,100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39716" y="3700463"/>
            <a:ext cx="25003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cost per patient due to duplicate testing from fragmented records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57913" y="3205163"/>
            <a:ext cx="2686050" cy="990600"/>
          </a:xfrm>
          <a:custGeom>
            <a:avLst/>
            <a:gdLst/>
            <a:ahLst/>
            <a:cxnLst/>
            <a:rect l="l" t="t" r="r" b="b"/>
            <a:pathLst>
              <a:path w="2686050" h="990600">
                <a:moveTo>
                  <a:pt x="61912" y="0"/>
                </a:moveTo>
                <a:lnTo>
                  <a:pt x="2624138" y="0"/>
                </a:lnTo>
                <a:cubicBezTo>
                  <a:pt x="2658308" y="0"/>
                  <a:pt x="2686050" y="27742"/>
                  <a:pt x="2686050" y="61912"/>
                </a:cubicBezTo>
                <a:lnTo>
                  <a:pt x="2686050" y="928688"/>
                </a:lnTo>
                <a:cubicBezTo>
                  <a:pt x="2686050" y="962858"/>
                  <a:pt x="2658308" y="990600"/>
                  <a:pt x="2624138" y="990600"/>
                </a:cubicBezTo>
                <a:lnTo>
                  <a:pt x="61912" y="990600"/>
                </a:lnTo>
                <a:cubicBezTo>
                  <a:pt x="27742" y="990600"/>
                  <a:pt x="0" y="962858"/>
                  <a:pt x="0" y="928688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212086" y="3328988"/>
            <a:ext cx="25777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194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50781" y="3700463"/>
            <a:ext cx="25003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patients see 3+ different providers annually, increasing fragmentation risk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68978" y="3205163"/>
            <a:ext cx="2686050" cy="990600"/>
          </a:xfrm>
          <a:custGeom>
            <a:avLst/>
            <a:gdLst/>
            <a:ahLst/>
            <a:cxnLst/>
            <a:rect l="l" t="t" r="r" b="b"/>
            <a:pathLst>
              <a:path w="2686050" h="990600">
                <a:moveTo>
                  <a:pt x="61912" y="0"/>
                </a:moveTo>
                <a:lnTo>
                  <a:pt x="2624138" y="0"/>
                </a:lnTo>
                <a:cubicBezTo>
                  <a:pt x="2658308" y="0"/>
                  <a:pt x="2686050" y="27742"/>
                  <a:pt x="2686050" y="61912"/>
                </a:cubicBezTo>
                <a:lnTo>
                  <a:pt x="2686050" y="928688"/>
                </a:lnTo>
                <a:cubicBezTo>
                  <a:pt x="2686050" y="962858"/>
                  <a:pt x="2658308" y="990600"/>
                  <a:pt x="2624138" y="990600"/>
                </a:cubicBezTo>
                <a:lnTo>
                  <a:pt x="61912" y="990600"/>
                </a:lnTo>
                <a:cubicBezTo>
                  <a:pt x="27742" y="990600"/>
                  <a:pt x="0" y="962858"/>
                  <a:pt x="0" y="928688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023152" y="3328988"/>
            <a:ext cx="25777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61847" y="3700463"/>
            <a:ext cx="25003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medication errors stem from incomplete patient history access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5781" y="4323398"/>
            <a:ext cx="11125200" cy="7620"/>
          </a:xfrm>
          <a:custGeom>
            <a:avLst/>
            <a:gdLst/>
            <a:ahLst/>
            <a:cxnLst/>
            <a:rect l="l" t="t" r="r" b="b"/>
            <a:pathLst>
              <a:path w="11125200" h="7620">
                <a:moveTo>
                  <a:pt x="0" y="0"/>
                </a:moveTo>
                <a:lnTo>
                  <a:pt x="11125200" y="0"/>
                </a:lnTo>
                <a:lnTo>
                  <a:pt x="111252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212529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35781" y="4451033"/>
            <a:ext cx="111871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Healthcare Information and Management Systems Society (HIMSS), 2024; Journal of the American Medical Association (JAMA), 2023; Office of the National Coordinator for Health Information Technology (ONC), 2024.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7694"/>
            <a:ext cx="115693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Objectives &amp; Key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31081"/>
            <a:ext cx="5638800" cy="1466850"/>
          </a:xfrm>
          <a:custGeom>
            <a:avLst/>
            <a:gdLst/>
            <a:ahLst/>
            <a:cxnLst/>
            <a:rect l="l" t="t" r="r" b="b"/>
            <a:pathLst>
              <a:path w="5638800" h="1466850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1404934"/>
                </a:lnTo>
                <a:cubicBezTo>
                  <a:pt x="5638800" y="1439129"/>
                  <a:pt x="5611079" y="1466850"/>
                  <a:pt x="5576884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031081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" name="Shape 4"/>
          <p:cNvSpPr/>
          <p:nvPr/>
        </p:nvSpPr>
        <p:spPr>
          <a:xfrm>
            <a:off x="573881" y="1185863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61911" y="0"/>
                </a:moveTo>
                <a:lnTo>
                  <a:pt x="376239" y="0"/>
                </a:lnTo>
                <a:cubicBezTo>
                  <a:pt x="410432" y="0"/>
                  <a:pt x="438150" y="27718"/>
                  <a:pt x="438150" y="61911"/>
                </a:cubicBezTo>
                <a:lnTo>
                  <a:pt x="438150" y="376239"/>
                </a:lnTo>
                <a:cubicBezTo>
                  <a:pt x="438150" y="410432"/>
                  <a:pt x="410432" y="438150"/>
                  <a:pt x="376239" y="438150"/>
                </a:cubicBezTo>
                <a:lnTo>
                  <a:pt x="61911" y="438150"/>
                </a:lnTo>
                <a:cubicBezTo>
                  <a:pt x="27718" y="438150"/>
                  <a:pt x="0" y="410432"/>
                  <a:pt x="0" y="376239"/>
                </a:cubicBezTo>
                <a:lnTo>
                  <a:pt x="0" y="61911"/>
                </a:lnTo>
                <a:cubicBezTo>
                  <a:pt x="0" y="27718"/>
                  <a:pt x="27718" y="0"/>
                  <a:pt x="61911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7" name="Shape 5"/>
          <p:cNvSpPr/>
          <p:nvPr/>
        </p:nvSpPr>
        <p:spPr>
          <a:xfrm>
            <a:off x="672703" y="1312069"/>
            <a:ext cx="232172" cy="185738"/>
          </a:xfrm>
          <a:custGeom>
            <a:avLst/>
            <a:gdLst/>
            <a:ahLst/>
            <a:cxnLst/>
            <a:rect l="l" t="t" r="r" b="b"/>
            <a:pathLst>
              <a:path w="232172" h="185738">
                <a:moveTo>
                  <a:pt x="116086" y="5804"/>
                </a:moveTo>
                <a:cubicBezTo>
                  <a:pt x="136909" y="5804"/>
                  <a:pt x="153814" y="22710"/>
                  <a:pt x="153814" y="43532"/>
                </a:cubicBezTo>
                <a:cubicBezTo>
                  <a:pt x="153814" y="64355"/>
                  <a:pt x="136909" y="81260"/>
                  <a:pt x="116086" y="81260"/>
                </a:cubicBezTo>
                <a:cubicBezTo>
                  <a:pt x="95263" y="81260"/>
                  <a:pt x="78358" y="64355"/>
                  <a:pt x="78358" y="43532"/>
                </a:cubicBezTo>
                <a:cubicBezTo>
                  <a:pt x="78358" y="22710"/>
                  <a:pt x="95263" y="5804"/>
                  <a:pt x="116086" y="5804"/>
                </a:cubicBezTo>
                <a:close/>
                <a:moveTo>
                  <a:pt x="34826" y="31924"/>
                </a:moveTo>
                <a:cubicBezTo>
                  <a:pt x="49241" y="31924"/>
                  <a:pt x="60945" y="43627"/>
                  <a:pt x="60945" y="58043"/>
                </a:cubicBezTo>
                <a:cubicBezTo>
                  <a:pt x="60945" y="72459"/>
                  <a:pt x="49241" y="84162"/>
                  <a:pt x="34826" y="84162"/>
                </a:cubicBezTo>
                <a:cubicBezTo>
                  <a:pt x="20410" y="84162"/>
                  <a:pt x="8706" y="72459"/>
                  <a:pt x="8706" y="58043"/>
                </a:cubicBezTo>
                <a:cubicBezTo>
                  <a:pt x="8706" y="43627"/>
                  <a:pt x="20410" y="31924"/>
                  <a:pt x="34826" y="31924"/>
                </a:cubicBezTo>
                <a:close/>
                <a:moveTo>
                  <a:pt x="0" y="150912"/>
                </a:moveTo>
                <a:cubicBezTo>
                  <a:pt x="0" y="125264"/>
                  <a:pt x="20787" y="104477"/>
                  <a:pt x="46434" y="104477"/>
                </a:cubicBezTo>
                <a:cubicBezTo>
                  <a:pt x="51078" y="104477"/>
                  <a:pt x="55576" y="105167"/>
                  <a:pt x="59821" y="106436"/>
                </a:cubicBezTo>
                <a:cubicBezTo>
                  <a:pt x="47885" y="119786"/>
                  <a:pt x="40630" y="137417"/>
                  <a:pt x="40630" y="156716"/>
                </a:cubicBezTo>
                <a:lnTo>
                  <a:pt x="40630" y="162520"/>
                </a:lnTo>
                <a:cubicBezTo>
                  <a:pt x="40630" y="166656"/>
                  <a:pt x="41501" y="170574"/>
                  <a:pt x="43061" y="174129"/>
                </a:cubicBezTo>
                <a:lnTo>
                  <a:pt x="11609" y="174129"/>
                </a:lnTo>
                <a:cubicBezTo>
                  <a:pt x="5188" y="174129"/>
                  <a:pt x="0" y="168941"/>
                  <a:pt x="0" y="162520"/>
                </a:cubicBezTo>
                <a:lnTo>
                  <a:pt x="0" y="150912"/>
                </a:lnTo>
                <a:close/>
                <a:moveTo>
                  <a:pt x="189111" y="174129"/>
                </a:moveTo>
                <a:cubicBezTo>
                  <a:pt x="190671" y="170574"/>
                  <a:pt x="191542" y="166656"/>
                  <a:pt x="191542" y="162520"/>
                </a:cubicBezTo>
                <a:lnTo>
                  <a:pt x="191542" y="156716"/>
                </a:lnTo>
                <a:cubicBezTo>
                  <a:pt x="191542" y="137417"/>
                  <a:pt x="184286" y="119786"/>
                  <a:pt x="172351" y="106436"/>
                </a:cubicBezTo>
                <a:cubicBezTo>
                  <a:pt x="176596" y="105167"/>
                  <a:pt x="181094" y="104477"/>
                  <a:pt x="185738" y="104477"/>
                </a:cubicBezTo>
                <a:cubicBezTo>
                  <a:pt x="211385" y="104477"/>
                  <a:pt x="232172" y="125264"/>
                  <a:pt x="232172" y="150912"/>
                </a:cubicBezTo>
                <a:lnTo>
                  <a:pt x="232172" y="162520"/>
                </a:lnTo>
                <a:cubicBezTo>
                  <a:pt x="232172" y="168941"/>
                  <a:pt x="226984" y="174129"/>
                  <a:pt x="220563" y="174129"/>
                </a:cubicBezTo>
                <a:lnTo>
                  <a:pt x="189111" y="174129"/>
                </a:lnTo>
                <a:close/>
                <a:moveTo>
                  <a:pt x="171227" y="58043"/>
                </a:moveTo>
                <a:cubicBezTo>
                  <a:pt x="171227" y="43627"/>
                  <a:pt x="182930" y="31924"/>
                  <a:pt x="197346" y="31924"/>
                </a:cubicBezTo>
                <a:cubicBezTo>
                  <a:pt x="211762" y="31924"/>
                  <a:pt x="223465" y="43627"/>
                  <a:pt x="223465" y="58043"/>
                </a:cubicBezTo>
                <a:cubicBezTo>
                  <a:pt x="223465" y="72459"/>
                  <a:pt x="211762" y="84162"/>
                  <a:pt x="197346" y="84162"/>
                </a:cubicBezTo>
                <a:cubicBezTo>
                  <a:pt x="182930" y="84162"/>
                  <a:pt x="171227" y="72459"/>
                  <a:pt x="171227" y="58043"/>
                </a:cubicBezTo>
                <a:close/>
                <a:moveTo>
                  <a:pt x="58043" y="156716"/>
                </a:moveTo>
                <a:cubicBezTo>
                  <a:pt x="58043" y="124647"/>
                  <a:pt x="84017" y="98673"/>
                  <a:pt x="116086" y="98673"/>
                </a:cubicBezTo>
                <a:cubicBezTo>
                  <a:pt x="148155" y="98673"/>
                  <a:pt x="174129" y="124647"/>
                  <a:pt x="174129" y="156716"/>
                </a:cubicBezTo>
                <a:lnTo>
                  <a:pt x="174129" y="162520"/>
                </a:lnTo>
                <a:cubicBezTo>
                  <a:pt x="174129" y="168941"/>
                  <a:pt x="168941" y="174129"/>
                  <a:pt x="162520" y="174129"/>
                </a:cubicBezTo>
                <a:lnTo>
                  <a:pt x="69652" y="174129"/>
                </a:lnTo>
                <a:cubicBezTo>
                  <a:pt x="63231" y="174129"/>
                  <a:pt x="58043" y="168941"/>
                  <a:pt x="58043" y="162520"/>
                </a:cubicBezTo>
                <a:lnTo>
                  <a:pt x="58043" y="1567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31094" y="1185863"/>
            <a:ext cx="48303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Centralized Patient Profiles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1094" y="1464469"/>
            <a:ext cx="481488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comprehensive patient demographics, contact information, emergency contacts, insurance details, and medical history in a single, secure location accessible across all participating clinics.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619375"/>
            <a:ext cx="5638800" cy="1466850"/>
          </a:xfrm>
          <a:custGeom>
            <a:avLst/>
            <a:gdLst/>
            <a:ahLst/>
            <a:cxnLst/>
            <a:rect l="l" t="t" r="r" b="b"/>
            <a:pathLst>
              <a:path w="5638800" h="1466850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1404934"/>
                </a:lnTo>
                <a:cubicBezTo>
                  <a:pt x="5638800" y="1439129"/>
                  <a:pt x="5611079" y="1466850"/>
                  <a:pt x="5576884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2619375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2" name="Shape 10"/>
          <p:cNvSpPr/>
          <p:nvPr/>
        </p:nvSpPr>
        <p:spPr>
          <a:xfrm>
            <a:off x="573881" y="2774156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61911" y="0"/>
                </a:moveTo>
                <a:lnTo>
                  <a:pt x="376239" y="0"/>
                </a:lnTo>
                <a:cubicBezTo>
                  <a:pt x="410432" y="0"/>
                  <a:pt x="438150" y="27718"/>
                  <a:pt x="438150" y="61911"/>
                </a:cubicBezTo>
                <a:lnTo>
                  <a:pt x="438150" y="376239"/>
                </a:lnTo>
                <a:cubicBezTo>
                  <a:pt x="438150" y="410432"/>
                  <a:pt x="410432" y="438150"/>
                  <a:pt x="376239" y="438150"/>
                </a:cubicBezTo>
                <a:lnTo>
                  <a:pt x="61911" y="438150"/>
                </a:lnTo>
                <a:cubicBezTo>
                  <a:pt x="27718" y="438150"/>
                  <a:pt x="0" y="410432"/>
                  <a:pt x="0" y="376239"/>
                </a:cubicBezTo>
                <a:lnTo>
                  <a:pt x="0" y="61911"/>
                </a:lnTo>
                <a:cubicBezTo>
                  <a:pt x="0" y="27718"/>
                  <a:pt x="27718" y="0"/>
                  <a:pt x="61911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4312" y="2900363"/>
            <a:ext cx="208955" cy="185738"/>
          </a:xfrm>
          <a:custGeom>
            <a:avLst/>
            <a:gdLst/>
            <a:ahLst/>
            <a:cxnLst/>
            <a:rect l="l" t="t" r="r" b="b"/>
            <a:pathLst>
              <a:path w="208955" h="185738">
                <a:moveTo>
                  <a:pt x="11609" y="17413"/>
                </a:moveTo>
                <a:cubicBezTo>
                  <a:pt x="11609" y="7800"/>
                  <a:pt x="19408" y="0"/>
                  <a:pt x="29021" y="0"/>
                </a:cubicBezTo>
                <a:lnTo>
                  <a:pt x="46434" y="0"/>
                </a:lnTo>
                <a:cubicBezTo>
                  <a:pt x="52855" y="0"/>
                  <a:pt x="58043" y="5188"/>
                  <a:pt x="58043" y="11609"/>
                </a:cubicBezTo>
                <a:cubicBezTo>
                  <a:pt x="58043" y="18030"/>
                  <a:pt x="52855" y="23217"/>
                  <a:pt x="46434" y="23217"/>
                </a:cubicBezTo>
                <a:lnTo>
                  <a:pt x="34826" y="23217"/>
                </a:lnTo>
                <a:lnTo>
                  <a:pt x="34826" y="69652"/>
                </a:lnTo>
                <a:cubicBezTo>
                  <a:pt x="34826" y="88878"/>
                  <a:pt x="50425" y="104477"/>
                  <a:pt x="69652" y="104477"/>
                </a:cubicBezTo>
                <a:cubicBezTo>
                  <a:pt x="88878" y="104477"/>
                  <a:pt x="104477" y="88878"/>
                  <a:pt x="104477" y="69652"/>
                </a:cubicBezTo>
                <a:lnTo>
                  <a:pt x="104477" y="23217"/>
                </a:lnTo>
                <a:lnTo>
                  <a:pt x="92869" y="23217"/>
                </a:lnTo>
                <a:cubicBezTo>
                  <a:pt x="86448" y="23217"/>
                  <a:pt x="81260" y="18030"/>
                  <a:pt x="81260" y="11609"/>
                </a:cubicBezTo>
                <a:cubicBezTo>
                  <a:pt x="81260" y="5188"/>
                  <a:pt x="86448" y="0"/>
                  <a:pt x="92869" y="0"/>
                </a:cubicBezTo>
                <a:lnTo>
                  <a:pt x="110282" y="0"/>
                </a:lnTo>
                <a:cubicBezTo>
                  <a:pt x="119895" y="0"/>
                  <a:pt x="127695" y="7800"/>
                  <a:pt x="127695" y="17413"/>
                </a:cubicBezTo>
                <a:lnTo>
                  <a:pt x="127695" y="69652"/>
                </a:lnTo>
                <a:cubicBezTo>
                  <a:pt x="127695" y="97730"/>
                  <a:pt x="107742" y="121165"/>
                  <a:pt x="81260" y="126534"/>
                </a:cubicBezTo>
                <a:lnTo>
                  <a:pt x="81260" y="133499"/>
                </a:lnTo>
                <a:cubicBezTo>
                  <a:pt x="81260" y="155954"/>
                  <a:pt x="99435" y="174129"/>
                  <a:pt x="121890" y="174129"/>
                </a:cubicBezTo>
                <a:cubicBezTo>
                  <a:pt x="144346" y="174129"/>
                  <a:pt x="162520" y="155954"/>
                  <a:pt x="162520" y="133499"/>
                </a:cubicBezTo>
                <a:lnTo>
                  <a:pt x="162520" y="102482"/>
                </a:lnTo>
                <a:cubicBezTo>
                  <a:pt x="148989" y="97694"/>
                  <a:pt x="139303" y="84815"/>
                  <a:pt x="139303" y="69652"/>
                </a:cubicBezTo>
                <a:cubicBezTo>
                  <a:pt x="139303" y="50425"/>
                  <a:pt x="154902" y="34826"/>
                  <a:pt x="174129" y="34826"/>
                </a:cubicBezTo>
                <a:cubicBezTo>
                  <a:pt x="193356" y="34826"/>
                  <a:pt x="208955" y="50425"/>
                  <a:pt x="208955" y="69652"/>
                </a:cubicBezTo>
                <a:cubicBezTo>
                  <a:pt x="208955" y="84815"/>
                  <a:pt x="199269" y="97730"/>
                  <a:pt x="185738" y="102482"/>
                </a:cubicBezTo>
                <a:lnTo>
                  <a:pt x="185738" y="133499"/>
                </a:lnTo>
                <a:cubicBezTo>
                  <a:pt x="185738" y="168760"/>
                  <a:pt x="157151" y="197346"/>
                  <a:pt x="121890" y="197346"/>
                </a:cubicBezTo>
                <a:cubicBezTo>
                  <a:pt x="86629" y="197346"/>
                  <a:pt x="58043" y="168760"/>
                  <a:pt x="58043" y="133499"/>
                </a:cubicBezTo>
                <a:lnTo>
                  <a:pt x="58043" y="126534"/>
                </a:lnTo>
                <a:cubicBezTo>
                  <a:pt x="31561" y="121165"/>
                  <a:pt x="11609" y="97730"/>
                  <a:pt x="11609" y="69652"/>
                </a:cubicBezTo>
                <a:lnTo>
                  <a:pt x="11609" y="17413"/>
                </a:lnTo>
                <a:close/>
                <a:moveTo>
                  <a:pt x="174129" y="81260"/>
                </a:moveTo>
                <a:cubicBezTo>
                  <a:pt x="180536" y="81260"/>
                  <a:pt x="185738" y="76059"/>
                  <a:pt x="185738" y="69652"/>
                </a:cubicBezTo>
                <a:cubicBezTo>
                  <a:pt x="185738" y="63245"/>
                  <a:pt x="180536" y="58043"/>
                  <a:pt x="174129" y="58043"/>
                </a:cubicBezTo>
                <a:cubicBezTo>
                  <a:pt x="167722" y="58043"/>
                  <a:pt x="162520" y="63245"/>
                  <a:pt x="162520" y="69652"/>
                </a:cubicBezTo>
                <a:cubicBezTo>
                  <a:pt x="162520" y="76059"/>
                  <a:pt x="167722" y="81260"/>
                  <a:pt x="174129" y="812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31094" y="2774156"/>
            <a:ext cx="48303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Visit Tracking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1094" y="3052763"/>
            <a:ext cx="481488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detailed visit information including date, clinic location, attending physician, reason for visit, symptoms, vital signs, and clinical notes for complete encounter documentation.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207669"/>
            <a:ext cx="5638800" cy="1466850"/>
          </a:xfrm>
          <a:custGeom>
            <a:avLst/>
            <a:gdLst/>
            <a:ahLst/>
            <a:cxnLst/>
            <a:rect l="l" t="t" r="r" b="b"/>
            <a:pathLst>
              <a:path w="5638800" h="1466850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1404934"/>
                </a:lnTo>
                <a:cubicBezTo>
                  <a:pt x="5638800" y="1439129"/>
                  <a:pt x="5611079" y="1466850"/>
                  <a:pt x="5576884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4207669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573881" y="436245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61911" y="0"/>
                </a:moveTo>
                <a:lnTo>
                  <a:pt x="376239" y="0"/>
                </a:lnTo>
                <a:cubicBezTo>
                  <a:pt x="410432" y="0"/>
                  <a:pt x="438150" y="27718"/>
                  <a:pt x="438150" y="61911"/>
                </a:cubicBezTo>
                <a:lnTo>
                  <a:pt x="438150" y="376239"/>
                </a:lnTo>
                <a:cubicBezTo>
                  <a:pt x="438150" y="410432"/>
                  <a:pt x="410432" y="438150"/>
                  <a:pt x="376239" y="438150"/>
                </a:cubicBezTo>
                <a:lnTo>
                  <a:pt x="61911" y="438150"/>
                </a:lnTo>
                <a:cubicBezTo>
                  <a:pt x="27718" y="438150"/>
                  <a:pt x="0" y="410432"/>
                  <a:pt x="0" y="376239"/>
                </a:cubicBezTo>
                <a:lnTo>
                  <a:pt x="0" y="61911"/>
                </a:lnTo>
                <a:cubicBezTo>
                  <a:pt x="0" y="27718"/>
                  <a:pt x="27718" y="0"/>
                  <a:pt x="6191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Shape 17"/>
          <p:cNvSpPr/>
          <p:nvPr/>
        </p:nvSpPr>
        <p:spPr>
          <a:xfrm>
            <a:off x="695920" y="4488656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34826" y="127695"/>
                </a:moveTo>
                <a:cubicBezTo>
                  <a:pt x="34826" y="140500"/>
                  <a:pt x="45237" y="150912"/>
                  <a:pt x="58043" y="150912"/>
                </a:cubicBezTo>
                <a:lnTo>
                  <a:pt x="123885" y="150912"/>
                </a:lnTo>
                <a:cubicBezTo>
                  <a:pt x="130053" y="150912"/>
                  <a:pt x="135966" y="148481"/>
                  <a:pt x="140319" y="144128"/>
                </a:cubicBezTo>
                <a:lnTo>
                  <a:pt x="178954" y="105457"/>
                </a:lnTo>
                <a:cubicBezTo>
                  <a:pt x="183307" y="101104"/>
                  <a:pt x="185738" y="95190"/>
                  <a:pt x="185738" y="89023"/>
                </a:cubicBezTo>
                <a:lnTo>
                  <a:pt x="185738" y="23217"/>
                </a:lnTo>
                <a:cubicBezTo>
                  <a:pt x="185738" y="10411"/>
                  <a:pt x="175326" y="0"/>
                  <a:pt x="162520" y="0"/>
                </a:cubicBezTo>
                <a:lnTo>
                  <a:pt x="58043" y="0"/>
                </a:lnTo>
                <a:cubicBezTo>
                  <a:pt x="45237" y="0"/>
                  <a:pt x="34826" y="10411"/>
                  <a:pt x="34826" y="23217"/>
                </a:cubicBezTo>
                <a:lnTo>
                  <a:pt x="34826" y="127695"/>
                </a:lnTo>
                <a:close/>
                <a:moveTo>
                  <a:pt x="104477" y="40630"/>
                </a:moveTo>
                <a:lnTo>
                  <a:pt x="116086" y="40630"/>
                </a:lnTo>
                <a:cubicBezTo>
                  <a:pt x="119278" y="40630"/>
                  <a:pt x="121890" y="43242"/>
                  <a:pt x="121890" y="46434"/>
                </a:cubicBezTo>
                <a:lnTo>
                  <a:pt x="121890" y="63847"/>
                </a:lnTo>
                <a:lnTo>
                  <a:pt x="139303" y="63847"/>
                </a:lnTo>
                <a:cubicBezTo>
                  <a:pt x="142495" y="63847"/>
                  <a:pt x="145107" y="66459"/>
                  <a:pt x="145107" y="69652"/>
                </a:cubicBezTo>
                <a:lnTo>
                  <a:pt x="145107" y="81260"/>
                </a:lnTo>
                <a:cubicBezTo>
                  <a:pt x="145107" y="84453"/>
                  <a:pt x="142495" y="87064"/>
                  <a:pt x="139303" y="87064"/>
                </a:cubicBezTo>
                <a:lnTo>
                  <a:pt x="121890" y="87064"/>
                </a:lnTo>
                <a:lnTo>
                  <a:pt x="121890" y="104477"/>
                </a:lnTo>
                <a:cubicBezTo>
                  <a:pt x="121890" y="107670"/>
                  <a:pt x="119278" y="110282"/>
                  <a:pt x="116086" y="110282"/>
                </a:cubicBezTo>
                <a:lnTo>
                  <a:pt x="104477" y="110282"/>
                </a:lnTo>
                <a:cubicBezTo>
                  <a:pt x="101285" y="110282"/>
                  <a:pt x="98673" y="107670"/>
                  <a:pt x="98673" y="104477"/>
                </a:cubicBezTo>
                <a:lnTo>
                  <a:pt x="98673" y="87064"/>
                </a:lnTo>
                <a:lnTo>
                  <a:pt x="81260" y="87064"/>
                </a:lnTo>
                <a:cubicBezTo>
                  <a:pt x="78068" y="87064"/>
                  <a:pt x="75456" y="84453"/>
                  <a:pt x="75456" y="81260"/>
                </a:cubicBezTo>
                <a:lnTo>
                  <a:pt x="75456" y="69652"/>
                </a:lnTo>
                <a:cubicBezTo>
                  <a:pt x="75456" y="66459"/>
                  <a:pt x="78068" y="63847"/>
                  <a:pt x="81260" y="63847"/>
                </a:cubicBezTo>
                <a:lnTo>
                  <a:pt x="98673" y="63847"/>
                </a:lnTo>
                <a:lnTo>
                  <a:pt x="98673" y="46434"/>
                </a:lnTo>
                <a:cubicBezTo>
                  <a:pt x="98673" y="43242"/>
                  <a:pt x="101285" y="40630"/>
                  <a:pt x="104477" y="40630"/>
                </a:cubicBezTo>
                <a:close/>
                <a:moveTo>
                  <a:pt x="17413" y="43532"/>
                </a:moveTo>
                <a:cubicBezTo>
                  <a:pt x="17413" y="38707"/>
                  <a:pt x="13531" y="34826"/>
                  <a:pt x="8706" y="34826"/>
                </a:cubicBezTo>
                <a:cubicBezTo>
                  <a:pt x="3882" y="34826"/>
                  <a:pt x="0" y="38707"/>
                  <a:pt x="0" y="43532"/>
                </a:cubicBezTo>
                <a:lnTo>
                  <a:pt x="0" y="162520"/>
                </a:lnTo>
                <a:cubicBezTo>
                  <a:pt x="0" y="175326"/>
                  <a:pt x="10411" y="185738"/>
                  <a:pt x="23217" y="185738"/>
                </a:cubicBezTo>
                <a:lnTo>
                  <a:pt x="118988" y="185738"/>
                </a:lnTo>
                <a:cubicBezTo>
                  <a:pt x="123813" y="185738"/>
                  <a:pt x="127695" y="181856"/>
                  <a:pt x="127695" y="177031"/>
                </a:cubicBezTo>
                <a:cubicBezTo>
                  <a:pt x="127695" y="172206"/>
                  <a:pt x="123813" y="168325"/>
                  <a:pt x="118988" y="168325"/>
                </a:cubicBezTo>
                <a:lnTo>
                  <a:pt x="23217" y="168325"/>
                </a:lnTo>
                <a:cubicBezTo>
                  <a:pt x="20025" y="168325"/>
                  <a:pt x="17413" y="165713"/>
                  <a:pt x="17413" y="162520"/>
                </a:cubicBezTo>
                <a:lnTo>
                  <a:pt x="17413" y="435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31094" y="4362450"/>
            <a:ext cx="48303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Diagnosis &amp; Prescription Recording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1094" y="4641056"/>
            <a:ext cx="48148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diagnoses with ICD codes, severity levels, and clinical assessments. Generate and track prescriptions with medication details, dosage instructions, and duration.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6963" y="1031081"/>
            <a:ext cx="5638800" cy="1466850"/>
          </a:xfrm>
          <a:custGeom>
            <a:avLst/>
            <a:gdLst/>
            <a:ahLst/>
            <a:cxnLst/>
            <a:rect l="l" t="t" r="r" b="b"/>
            <a:pathLst>
              <a:path w="5638800" h="1466850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1404934"/>
                </a:lnTo>
                <a:cubicBezTo>
                  <a:pt x="5638800" y="1439129"/>
                  <a:pt x="5611079" y="1466850"/>
                  <a:pt x="5576884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6963" y="1031081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0794" y="1185863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61911" y="0"/>
                </a:moveTo>
                <a:lnTo>
                  <a:pt x="376239" y="0"/>
                </a:lnTo>
                <a:cubicBezTo>
                  <a:pt x="410432" y="0"/>
                  <a:pt x="438150" y="27718"/>
                  <a:pt x="438150" y="61911"/>
                </a:cubicBezTo>
                <a:lnTo>
                  <a:pt x="438150" y="376239"/>
                </a:lnTo>
                <a:cubicBezTo>
                  <a:pt x="438150" y="410432"/>
                  <a:pt x="410432" y="438150"/>
                  <a:pt x="376239" y="438150"/>
                </a:cubicBezTo>
                <a:lnTo>
                  <a:pt x="61911" y="438150"/>
                </a:lnTo>
                <a:cubicBezTo>
                  <a:pt x="27718" y="438150"/>
                  <a:pt x="0" y="410432"/>
                  <a:pt x="0" y="376239"/>
                </a:cubicBezTo>
                <a:lnTo>
                  <a:pt x="0" y="61911"/>
                </a:lnTo>
                <a:cubicBezTo>
                  <a:pt x="0" y="27718"/>
                  <a:pt x="27718" y="0"/>
                  <a:pt x="61911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41" y="1312069"/>
            <a:ext cx="162520" cy="185738"/>
          </a:xfrm>
          <a:custGeom>
            <a:avLst/>
            <a:gdLst/>
            <a:ahLst/>
            <a:cxnLst/>
            <a:rect l="l" t="t" r="r" b="b"/>
            <a:pathLst>
              <a:path w="162520" h="185738">
                <a:moveTo>
                  <a:pt x="46434" y="0"/>
                </a:moveTo>
                <a:cubicBezTo>
                  <a:pt x="52855" y="0"/>
                  <a:pt x="58043" y="5188"/>
                  <a:pt x="58043" y="11609"/>
                </a:cubicBezTo>
                <a:lnTo>
                  <a:pt x="58043" y="23217"/>
                </a:lnTo>
                <a:lnTo>
                  <a:pt x="104477" y="23217"/>
                </a:lnTo>
                <a:lnTo>
                  <a:pt x="104477" y="11609"/>
                </a:lnTo>
                <a:cubicBezTo>
                  <a:pt x="104477" y="5188"/>
                  <a:pt x="109665" y="0"/>
                  <a:pt x="116086" y="0"/>
                </a:cubicBezTo>
                <a:cubicBezTo>
                  <a:pt x="122507" y="0"/>
                  <a:pt x="127695" y="5188"/>
                  <a:pt x="127695" y="11609"/>
                </a:cubicBezTo>
                <a:lnTo>
                  <a:pt x="127695" y="23217"/>
                </a:lnTo>
                <a:lnTo>
                  <a:pt x="139303" y="23217"/>
                </a:lnTo>
                <a:cubicBezTo>
                  <a:pt x="152109" y="23217"/>
                  <a:pt x="162520" y="33629"/>
                  <a:pt x="162520" y="46434"/>
                </a:cubicBezTo>
                <a:lnTo>
                  <a:pt x="162520" y="150912"/>
                </a:lnTo>
                <a:cubicBezTo>
                  <a:pt x="162520" y="163717"/>
                  <a:pt x="152109" y="174129"/>
                  <a:pt x="139303" y="174129"/>
                </a:cubicBezTo>
                <a:lnTo>
                  <a:pt x="23217" y="174129"/>
                </a:lnTo>
                <a:cubicBezTo>
                  <a:pt x="10411" y="174129"/>
                  <a:pt x="0" y="163717"/>
                  <a:pt x="0" y="150912"/>
                </a:cubicBezTo>
                <a:lnTo>
                  <a:pt x="0" y="46434"/>
                </a:lnTo>
                <a:cubicBezTo>
                  <a:pt x="0" y="33629"/>
                  <a:pt x="10411" y="23217"/>
                  <a:pt x="23217" y="23217"/>
                </a:cubicBezTo>
                <a:lnTo>
                  <a:pt x="34826" y="23217"/>
                </a:lnTo>
                <a:lnTo>
                  <a:pt x="34826" y="11609"/>
                </a:lnTo>
                <a:cubicBezTo>
                  <a:pt x="34826" y="5188"/>
                  <a:pt x="40013" y="0"/>
                  <a:pt x="46434" y="0"/>
                </a:cubicBezTo>
                <a:close/>
                <a:moveTo>
                  <a:pt x="111878" y="82965"/>
                </a:moveTo>
                <a:cubicBezTo>
                  <a:pt x="114417" y="78902"/>
                  <a:pt x="113184" y="73533"/>
                  <a:pt x="109121" y="70958"/>
                </a:cubicBezTo>
                <a:cubicBezTo>
                  <a:pt x="105058" y="68382"/>
                  <a:pt x="99689" y="69652"/>
                  <a:pt x="97113" y="73715"/>
                </a:cubicBezTo>
                <a:lnTo>
                  <a:pt x="74839" y="109375"/>
                </a:lnTo>
                <a:lnTo>
                  <a:pt x="65044" y="96315"/>
                </a:lnTo>
                <a:cubicBezTo>
                  <a:pt x="62142" y="92470"/>
                  <a:pt x="56701" y="91672"/>
                  <a:pt x="52855" y="94574"/>
                </a:cubicBezTo>
                <a:cubicBezTo>
                  <a:pt x="49010" y="97476"/>
                  <a:pt x="48212" y="102917"/>
                  <a:pt x="51114" y="106763"/>
                </a:cubicBezTo>
                <a:lnTo>
                  <a:pt x="68527" y="129980"/>
                </a:lnTo>
                <a:cubicBezTo>
                  <a:pt x="70232" y="132265"/>
                  <a:pt x="72989" y="133571"/>
                  <a:pt x="75855" y="133463"/>
                </a:cubicBezTo>
                <a:cubicBezTo>
                  <a:pt x="78721" y="133354"/>
                  <a:pt x="81333" y="131830"/>
                  <a:pt x="82856" y="129363"/>
                </a:cubicBezTo>
                <a:lnTo>
                  <a:pt x="111878" y="8292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908006" y="1185863"/>
            <a:ext cx="48303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Follow-up Scheduling &amp; Monitoring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8006" y="1464469"/>
            <a:ext cx="481488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Schedule and track follow-up appointments with automated reminders. Monitor patient compliance with follow-up recommendations and care plan adherence across clinic networks.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963" y="2619375"/>
            <a:ext cx="5638800" cy="1466850"/>
          </a:xfrm>
          <a:custGeom>
            <a:avLst/>
            <a:gdLst/>
            <a:ahLst/>
            <a:cxnLst/>
            <a:rect l="l" t="t" r="r" b="b"/>
            <a:pathLst>
              <a:path w="5638800" h="1466850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1404934"/>
                </a:lnTo>
                <a:cubicBezTo>
                  <a:pt x="5638800" y="1439129"/>
                  <a:pt x="5611079" y="1466850"/>
                  <a:pt x="5576884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6963" y="2619375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0794" y="2774156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61911" y="0"/>
                </a:moveTo>
                <a:lnTo>
                  <a:pt x="376239" y="0"/>
                </a:lnTo>
                <a:cubicBezTo>
                  <a:pt x="410432" y="0"/>
                  <a:pt x="438150" y="27718"/>
                  <a:pt x="438150" y="61911"/>
                </a:cubicBezTo>
                <a:lnTo>
                  <a:pt x="438150" y="376239"/>
                </a:lnTo>
                <a:cubicBezTo>
                  <a:pt x="438150" y="410432"/>
                  <a:pt x="410432" y="438150"/>
                  <a:pt x="376239" y="438150"/>
                </a:cubicBezTo>
                <a:lnTo>
                  <a:pt x="61911" y="438150"/>
                </a:lnTo>
                <a:cubicBezTo>
                  <a:pt x="27718" y="438150"/>
                  <a:pt x="0" y="410432"/>
                  <a:pt x="0" y="376239"/>
                </a:cubicBezTo>
                <a:lnTo>
                  <a:pt x="0" y="61911"/>
                </a:lnTo>
                <a:cubicBezTo>
                  <a:pt x="0" y="27718"/>
                  <a:pt x="27718" y="0"/>
                  <a:pt x="61911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2833" y="2900363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23217" y="40630"/>
                </a:moveTo>
                <a:cubicBezTo>
                  <a:pt x="23217" y="31017"/>
                  <a:pt x="31017" y="23217"/>
                  <a:pt x="40630" y="23217"/>
                </a:cubicBezTo>
                <a:cubicBezTo>
                  <a:pt x="50243" y="23217"/>
                  <a:pt x="58043" y="31017"/>
                  <a:pt x="58043" y="40630"/>
                </a:cubicBezTo>
                <a:lnTo>
                  <a:pt x="58043" y="81260"/>
                </a:lnTo>
                <a:lnTo>
                  <a:pt x="23217" y="81260"/>
                </a:lnTo>
                <a:lnTo>
                  <a:pt x="23217" y="40630"/>
                </a:lnTo>
                <a:close/>
                <a:moveTo>
                  <a:pt x="63847" y="133499"/>
                </a:moveTo>
                <a:cubicBezTo>
                  <a:pt x="63847" y="115832"/>
                  <a:pt x="70413" y="99689"/>
                  <a:pt x="81260" y="87427"/>
                </a:cubicBezTo>
                <a:lnTo>
                  <a:pt x="81260" y="40630"/>
                </a:lnTo>
                <a:cubicBezTo>
                  <a:pt x="81260" y="18175"/>
                  <a:pt x="63085" y="0"/>
                  <a:pt x="40630" y="0"/>
                </a:cubicBezTo>
                <a:cubicBezTo>
                  <a:pt x="18175" y="0"/>
                  <a:pt x="0" y="18175"/>
                  <a:pt x="0" y="40630"/>
                </a:cubicBezTo>
                <a:lnTo>
                  <a:pt x="0" y="145107"/>
                </a:lnTo>
                <a:cubicBezTo>
                  <a:pt x="0" y="167563"/>
                  <a:pt x="18175" y="185738"/>
                  <a:pt x="40630" y="185738"/>
                </a:cubicBezTo>
                <a:cubicBezTo>
                  <a:pt x="54161" y="185738"/>
                  <a:pt x="66133" y="179135"/>
                  <a:pt x="73533" y="168941"/>
                </a:cubicBezTo>
                <a:cubicBezTo>
                  <a:pt x="67366" y="158566"/>
                  <a:pt x="63847" y="146450"/>
                  <a:pt x="63847" y="133499"/>
                </a:cubicBezTo>
                <a:close/>
                <a:moveTo>
                  <a:pt x="87318" y="157949"/>
                </a:moveTo>
                <a:cubicBezTo>
                  <a:pt x="88987" y="161106"/>
                  <a:pt x="93232" y="161468"/>
                  <a:pt x="95771" y="158929"/>
                </a:cubicBezTo>
                <a:lnTo>
                  <a:pt x="158929" y="95771"/>
                </a:lnTo>
                <a:cubicBezTo>
                  <a:pt x="161468" y="93232"/>
                  <a:pt x="161106" y="88987"/>
                  <a:pt x="157949" y="87318"/>
                </a:cubicBezTo>
                <a:cubicBezTo>
                  <a:pt x="150658" y="83437"/>
                  <a:pt x="142350" y="81260"/>
                  <a:pt x="133499" y="81260"/>
                </a:cubicBezTo>
                <a:cubicBezTo>
                  <a:pt x="104659" y="81260"/>
                  <a:pt x="81260" y="104659"/>
                  <a:pt x="81260" y="133499"/>
                </a:cubicBezTo>
                <a:cubicBezTo>
                  <a:pt x="81260" y="142314"/>
                  <a:pt x="83437" y="150658"/>
                  <a:pt x="87318" y="157949"/>
                </a:cubicBezTo>
                <a:close/>
                <a:moveTo>
                  <a:pt x="108069" y="171227"/>
                </a:moveTo>
                <a:cubicBezTo>
                  <a:pt x="105529" y="173766"/>
                  <a:pt x="105892" y="178011"/>
                  <a:pt x="109048" y="179679"/>
                </a:cubicBezTo>
                <a:cubicBezTo>
                  <a:pt x="116340" y="183561"/>
                  <a:pt x="124647" y="185738"/>
                  <a:pt x="133499" y="185738"/>
                </a:cubicBezTo>
                <a:cubicBezTo>
                  <a:pt x="162339" y="185738"/>
                  <a:pt x="185738" y="162339"/>
                  <a:pt x="185738" y="133499"/>
                </a:cubicBezTo>
                <a:cubicBezTo>
                  <a:pt x="185738" y="124684"/>
                  <a:pt x="183561" y="116340"/>
                  <a:pt x="179679" y="109048"/>
                </a:cubicBezTo>
                <a:cubicBezTo>
                  <a:pt x="178011" y="105892"/>
                  <a:pt x="173766" y="105529"/>
                  <a:pt x="171227" y="108069"/>
                </a:cubicBezTo>
                <a:lnTo>
                  <a:pt x="108069" y="1712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908006" y="2774156"/>
            <a:ext cx="48303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Medication History Maintenance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8006" y="3052763"/>
            <a:ext cx="48148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comprehensive medication profiles including current prescriptions, historical medications, allergies, adverse reactions, and drug interaction alerts for patient safety.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963" y="4207669"/>
            <a:ext cx="5638800" cy="1466850"/>
          </a:xfrm>
          <a:custGeom>
            <a:avLst/>
            <a:gdLst/>
            <a:ahLst/>
            <a:cxnLst/>
            <a:rect l="l" t="t" r="r" b="b"/>
            <a:pathLst>
              <a:path w="5638800" h="1466850">
                <a:moveTo>
                  <a:pt x="38100" y="0"/>
                </a:moveTo>
                <a:lnTo>
                  <a:pt x="5576884" y="0"/>
                </a:lnTo>
                <a:cubicBezTo>
                  <a:pt x="5611079" y="0"/>
                  <a:pt x="5638800" y="27721"/>
                  <a:pt x="5638800" y="61916"/>
                </a:cubicBezTo>
                <a:lnTo>
                  <a:pt x="5638800" y="1404934"/>
                </a:lnTo>
                <a:cubicBezTo>
                  <a:pt x="5638800" y="1439129"/>
                  <a:pt x="5611079" y="1466850"/>
                  <a:pt x="5576884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6963" y="4207669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Shape 34"/>
          <p:cNvSpPr/>
          <p:nvPr/>
        </p:nvSpPr>
        <p:spPr>
          <a:xfrm>
            <a:off x="6350794" y="436245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61911" y="0"/>
                </a:moveTo>
                <a:lnTo>
                  <a:pt x="376239" y="0"/>
                </a:lnTo>
                <a:cubicBezTo>
                  <a:pt x="410432" y="0"/>
                  <a:pt x="438150" y="27718"/>
                  <a:pt x="438150" y="61911"/>
                </a:cubicBezTo>
                <a:lnTo>
                  <a:pt x="438150" y="376239"/>
                </a:lnTo>
                <a:cubicBezTo>
                  <a:pt x="438150" y="410432"/>
                  <a:pt x="410432" y="438150"/>
                  <a:pt x="376239" y="438150"/>
                </a:cubicBezTo>
                <a:lnTo>
                  <a:pt x="61911" y="438150"/>
                </a:lnTo>
                <a:cubicBezTo>
                  <a:pt x="27718" y="438150"/>
                  <a:pt x="0" y="410432"/>
                  <a:pt x="0" y="376239"/>
                </a:cubicBezTo>
                <a:lnTo>
                  <a:pt x="0" y="61911"/>
                </a:lnTo>
                <a:cubicBezTo>
                  <a:pt x="0" y="27718"/>
                  <a:pt x="27718" y="0"/>
                  <a:pt x="6191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2833" y="4488656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92869" y="0"/>
                </a:moveTo>
                <a:cubicBezTo>
                  <a:pt x="94537" y="0"/>
                  <a:pt x="96206" y="363"/>
                  <a:pt x="97730" y="1052"/>
                </a:cubicBezTo>
                <a:lnTo>
                  <a:pt x="166075" y="30037"/>
                </a:lnTo>
                <a:cubicBezTo>
                  <a:pt x="174056" y="33411"/>
                  <a:pt x="180006" y="41283"/>
                  <a:pt x="179969" y="50788"/>
                </a:cubicBezTo>
                <a:cubicBezTo>
                  <a:pt x="179788" y="86774"/>
                  <a:pt x="164987" y="152617"/>
                  <a:pt x="102482" y="182545"/>
                </a:cubicBezTo>
                <a:cubicBezTo>
                  <a:pt x="96424" y="185447"/>
                  <a:pt x="89386" y="185447"/>
                  <a:pt x="83328" y="182545"/>
                </a:cubicBezTo>
                <a:cubicBezTo>
                  <a:pt x="20787" y="152617"/>
                  <a:pt x="6022" y="86774"/>
                  <a:pt x="5841" y="50788"/>
                </a:cubicBezTo>
                <a:cubicBezTo>
                  <a:pt x="5804" y="41283"/>
                  <a:pt x="11754" y="33411"/>
                  <a:pt x="19735" y="30037"/>
                </a:cubicBezTo>
                <a:lnTo>
                  <a:pt x="88044" y="1052"/>
                </a:lnTo>
                <a:cubicBezTo>
                  <a:pt x="89568" y="363"/>
                  <a:pt x="91200" y="0"/>
                  <a:pt x="92869" y="0"/>
                </a:cubicBezTo>
                <a:close/>
                <a:moveTo>
                  <a:pt x="92869" y="24233"/>
                </a:moveTo>
                <a:lnTo>
                  <a:pt x="92869" y="161396"/>
                </a:lnTo>
                <a:cubicBezTo>
                  <a:pt x="142931" y="137163"/>
                  <a:pt x="156390" y="83473"/>
                  <a:pt x="156716" y="51332"/>
                </a:cubicBezTo>
                <a:lnTo>
                  <a:pt x="92869" y="24269"/>
                </a:lnTo>
                <a:lnTo>
                  <a:pt x="92869" y="24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908006" y="4362450"/>
            <a:ext cx="48303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Multi-Clinic Data Access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08006" y="4641056"/>
            <a:ext cx="481488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authorized healthcare providers across multiple clinics to access patient records securely with role-based permissions, audit logging, and HIPAA-compliant data protection measures.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5795963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61914" y="0"/>
                </a:moveTo>
                <a:lnTo>
                  <a:pt x="11368086" y="0"/>
                </a:lnTo>
                <a:cubicBezTo>
                  <a:pt x="11402280" y="0"/>
                  <a:pt x="11430000" y="27720"/>
                  <a:pt x="11430000" y="61914"/>
                </a:cubicBezTo>
                <a:lnTo>
                  <a:pt x="11430000" y="623886"/>
                </a:lnTo>
                <a:cubicBezTo>
                  <a:pt x="11430000" y="658080"/>
                  <a:pt x="11402280" y="685800"/>
                  <a:pt x="11368086" y="685800"/>
                </a:cubicBezTo>
                <a:lnTo>
                  <a:pt x="61914" y="685800"/>
                </a:lnTo>
                <a:cubicBezTo>
                  <a:pt x="27720" y="685800"/>
                  <a:pt x="0" y="658080"/>
                  <a:pt x="0" y="623886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gradFill rotWithShape="1" flip="none">
            <a:gsLst>
              <a:gs pos="0">
                <a:srgbClr val="2C5F7C"/>
              </a:gs>
              <a:gs pos="100000">
                <a:srgbClr val="5A8A9F"/>
              </a:gs>
            </a:gsLst>
            <a:lin ang="0" scaled="1"/>
          </a:gradFill>
          <a:ln/>
        </p:spPr>
      </p:sp>
      <p:sp>
        <p:nvSpPr>
          <p:cNvPr id="41" name="Shape 39"/>
          <p:cNvSpPr/>
          <p:nvPr/>
        </p:nvSpPr>
        <p:spPr>
          <a:xfrm>
            <a:off x="531614" y="6018609"/>
            <a:ext cx="232172" cy="232172"/>
          </a:xfrm>
          <a:custGeom>
            <a:avLst/>
            <a:gdLst/>
            <a:ahLst/>
            <a:cxnLst/>
            <a:rect l="l" t="t" r="r" b="b"/>
            <a:pathLst>
              <a:path w="232172" h="232172">
                <a:moveTo>
                  <a:pt x="203150" y="116086"/>
                </a:moveTo>
                <a:cubicBezTo>
                  <a:pt x="203150" y="68034"/>
                  <a:pt x="164138" y="29021"/>
                  <a:pt x="116086" y="29021"/>
                </a:cubicBezTo>
                <a:cubicBezTo>
                  <a:pt x="68034" y="29021"/>
                  <a:pt x="29021" y="68034"/>
                  <a:pt x="29021" y="116086"/>
                </a:cubicBezTo>
                <a:cubicBezTo>
                  <a:pt x="29021" y="164138"/>
                  <a:pt x="68034" y="203150"/>
                  <a:pt x="116086" y="203150"/>
                </a:cubicBezTo>
                <a:cubicBezTo>
                  <a:pt x="164138" y="203150"/>
                  <a:pt x="203150" y="164138"/>
                  <a:pt x="203150" y="116086"/>
                </a:cubicBezTo>
                <a:close/>
                <a:moveTo>
                  <a:pt x="0" y="116086"/>
                </a:moveTo>
                <a:cubicBezTo>
                  <a:pt x="0" y="52016"/>
                  <a:pt x="52016" y="0"/>
                  <a:pt x="116086" y="0"/>
                </a:cubicBezTo>
                <a:cubicBezTo>
                  <a:pt x="180156" y="0"/>
                  <a:pt x="232172" y="52016"/>
                  <a:pt x="232172" y="116086"/>
                </a:cubicBezTo>
                <a:cubicBezTo>
                  <a:pt x="232172" y="180156"/>
                  <a:pt x="180156" y="232172"/>
                  <a:pt x="116086" y="232172"/>
                </a:cubicBezTo>
                <a:cubicBezTo>
                  <a:pt x="52016" y="232172"/>
                  <a:pt x="0" y="180156"/>
                  <a:pt x="0" y="116086"/>
                </a:cubicBezTo>
                <a:close/>
                <a:moveTo>
                  <a:pt x="116086" y="152363"/>
                </a:moveTo>
                <a:cubicBezTo>
                  <a:pt x="136108" y="152363"/>
                  <a:pt x="152363" y="136108"/>
                  <a:pt x="152363" y="116086"/>
                </a:cubicBezTo>
                <a:cubicBezTo>
                  <a:pt x="152363" y="96064"/>
                  <a:pt x="136108" y="79809"/>
                  <a:pt x="116086" y="79809"/>
                </a:cubicBezTo>
                <a:cubicBezTo>
                  <a:pt x="96064" y="79809"/>
                  <a:pt x="79809" y="96064"/>
                  <a:pt x="79809" y="116086"/>
                </a:cubicBezTo>
                <a:cubicBezTo>
                  <a:pt x="79809" y="136108"/>
                  <a:pt x="96064" y="152363"/>
                  <a:pt x="116086" y="152363"/>
                </a:cubicBezTo>
                <a:close/>
                <a:moveTo>
                  <a:pt x="116086" y="50788"/>
                </a:moveTo>
                <a:cubicBezTo>
                  <a:pt x="152125" y="50788"/>
                  <a:pt x="181384" y="80047"/>
                  <a:pt x="181384" y="116086"/>
                </a:cubicBezTo>
                <a:cubicBezTo>
                  <a:pt x="181384" y="152125"/>
                  <a:pt x="152125" y="181384"/>
                  <a:pt x="116086" y="181384"/>
                </a:cubicBezTo>
                <a:cubicBezTo>
                  <a:pt x="80047" y="181384"/>
                  <a:pt x="50788" y="152125"/>
                  <a:pt x="50788" y="116086"/>
                </a:cubicBezTo>
                <a:cubicBezTo>
                  <a:pt x="50788" y="80047"/>
                  <a:pt x="80047" y="50788"/>
                  <a:pt x="116086" y="50788"/>
                </a:cubicBezTo>
                <a:close/>
                <a:moveTo>
                  <a:pt x="101575" y="116086"/>
                </a:moveTo>
                <a:cubicBezTo>
                  <a:pt x="101575" y="108077"/>
                  <a:pt x="108077" y="101575"/>
                  <a:pt x="116086" y="101575"/>
                </a:cubicBezTo>
                <a:cubicBezTo>
                  <a:pt x="124095" y="101575"/>
                  <a:pt x="130597" y="108077"/>
                  <a:pt x="130597" y="116086"/>
                </a:cubicBezTo>
                <a:cubicBezTo>
                  <a:pt x="130597" y="124095"/>
                  <a:pt x="124095" y="130597"/>
                  <a:pt x="116086" y="130597"/>
                </a:cubicBezTo>
                <a:cubicBezTo>
                  <a:pt x="108077" y="130597"/>
                  <a:pt x="101575" y="124095"/>
                  <a:pt x="101575" y="11608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918805" y="5919788"/>
            <a:ext cx="58019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Goal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8805" y="6167438"/>
            <a:ext cx="578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complete and continuous medical records while ensuring data security and regulatory compliance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759798" y="5919788"/>
            <a:ext cx="92571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28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821710" y="6198394"/>
            <a:ext cx="863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HIPAA Compliant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7694"/>
            <a:ext cx="115693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Database Design: Entity-Relationship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31081"/>
            <a:ext cx="6915150" cy="5829300"/>
          </a:xfrm>
          <a:custGeom>
            <a:avLst/>
            <a:gdLst/>
            <a:ahLst/>
            <a:cxnLst/>
            <a:rect l="l" t="t" r="r" b="b"/>
            <a:pathLst>
              <a:path w="6915150" h="5829300">
                <a:moveTo>
                  <a:pt x="61907" y="0"/>
                </a:moveTo>
                <a:lnTo>
                  <a:pt x="6853243" y="0"/>
                </a:lnTo>
                <a:cubicBezTo>
                  <a:pt x="6887433" y="0"/>
                  <a:pt x="6915150" y="27717"/>
                  <a:pt x="6915150" y="61907"/>
                </a:cubicBezTo>
                <a:lnTo>
                  <a:pt x="6915150" y="5767393"/>
                </a:lnTo>
                <a:cubicBezTo>
                  <a:pt x="6915150" y="5801583"/>
                  <a:pt x="6887433" y="5829300"/>
                  <a:pt x="6853243" y="5829300"/>
                </a:cubicBezTo>
                <a:lnTo>
                  <a:pt x="61907" y="5829300"/>
                </a:lnTo>
                <a:cubicBezTo>
                  <a:pt x="27717" y="5829300"/>
                  <a:pt x="0" y="5801583"/>
                  <a:pt x="0" y="5767393"/>
                </a:cubicBezTo>
                <a:lnTo>
                  <a:pt x="0" y="61907"/>
                </a:lnTo>
                <a:cubicBezTo>
                  <a:pt x="0" y="27740"/>
                  <a:pt x="27740" y="0"/>
                  <a:pt x="619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0955" y="1185863"/>
            <a:ext cx="66704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Entity-Relationship Diagram (ERD)</a:t>
            </a:r>
            <a:endParaRPr lang="en-US" sz="1600" dirty="0"/>
          </a:p>
        </p:txBody>
      </p:sp>
      <p:pic>
        <p:nvPicPr>
          <p:cNvPr id="6" name="Image 0" descr="https://kimi-img.moonshot.cn/pub/slides/26-02-23-15:25:25-d6e01peuvalj1de30eg0.png">    </p:cNvPr>
          <p:cNvPicPr>
            <a:picLocks noChangeAspect="1"/>
          </p:cNvPicPr>
          <p:nvPr/>
        </p:nvPicPr>
        <p:blipFill>
          <a:blip r:embed="rId1"/>
          <a:srcRect l="0" r="0" t="14" b="14"/>
          <a:stretch/>
        </p:blipFill>
        <p:spPr>
          <a:xfrm>
            <a:off x="535781" y="1495425"/>
            <a:ext cx="6600825" cy="41910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415213" y="1050131"/>
            <a:ext cx="4400550" cy="4200525"/>
          </a:xfrm>
          <a:custGeom>
            <a:avLst/>
            <a:gdLst/>
            <a:ahLst/>
            <a:cxnLst/>
            <a:rect l="l" t="t" r="r" b="b"/>
            <a:pathLst>
              <a:path w="4400550" h="4200525">
                <a:moveTo>
                  <a:pt x="38100" y="0"/>
                </a:moveTo>
                <a:lnTo>
                  <a:pt x="4362450" y="0"/>
                </a:lnTo>
                <a:cubicBezTo>
                  <a:pt x="4383478" y="0"/>
                  <a:pt x="4400550" y="17072"/>
                  <a:pt x="4400550" y="38100"/>
                </a:cubicBezTo>
                <a:lnTo>
                  <a:pt x="4400550" y="4138609"/>
                </a:lnTo>
                <a:cubicBezTo>
                  <a:pt x="4400550" y="4172804"/>
                  <a:pt x="4372829" y="4200525"/>
                  <a:pt x="4338634" y="4200525"/>
                </a:cubicBezTo>
                <a:lnTo>
                  <a:pt x="61916" y="4200525"/>
                </a:lnTo>
                <a:cubicBezTo>
                  <a:pt x="27721" y="4200525"/>
                  <a:pt x="0" y="4172804"/>
                  <a:pt x="0" y="41386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15213" y="1050131"/>
            <a:ext cx="4400550" cy="38100"/>
          </a:xfrm>
          <a:custGeom>
            <a:avLst/>
            <a:gdLst/>
            <a:ahLst/>
            <a:cxnLst/>
            <a:rect l="l" t="t" r="r" b="b"/>
            <a:pathLst>
              <a:path w="4400550" h="38100">
                <a:moveTo>
                  <a:pt x="38100" y="0"/>
                </a:moveTo>
                <a:lnTo>
                  <a:pt x="4362450" y="0"/>
                </a:lnTo>
                <a:cubicBezTo>
                  <a:pt x="4383478" y="0"/>
                  <a:pt x="4400550" y="17072"/>
                  <a:pt x="4400550" y="38100"/>
                </a:cubicBezTo>
                <a:lnTo>
                  <a:pt x="4400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9" name="Text 6"/>
          <p:cNvSpPr/>
          <p:nvPr/>
        </p:nvSpPr>
        <p:spPr>
          <a:xfrm>
            <a:off x="7539037" y="1193006"/>
            <a:ext cx="42225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Entities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39037" y="1502569"/>
            <a:ext cx="4152900" cy="466725"/>
          </a:xfrm>
          <a:custGeom>
            <a:avLst/>
            <a:gdLst/>
            <a:ahLst/>
            <a:cxnLst/>
            <a:rect l="l" t="t" r="r" b="b"/>
            <a:pathLst>
              <a:path w="4152900" h="466725">
                <a:moveTo>
                  <a:pt x="61911" y="0"/>
                </a:moveTo>
                <a:lnTo>
                  <a:pt x="4090989" y="0"/>
                </a:lnTo>
                <a:cubicBezTo>
                  <a:pt x="4125181" y="0"/>
                  <a:pt x="4152900" y="27719"/>
                  <a:pt x="4152900" y="61911"/>
                </a:cubicBezTo>
                <a:lnTo>
                  <a:pt x="4152900" y="404814"/>
                </a:lnTo>
                <a:cubicBezTo>
                  <a:pt x="4152900" y="439006"/>
                  <a:pt x="4125181" y="466725"/>
                  <a:pt x="4090989" y="466725"/>
                </a:cubicBezTo>
                <a:lnTo>
                  <a:pt x="61911" y="466725"/>
                </a:lnTo>
                <a:cubicBezTo>
                  <a:pt x="27719" y="466725"/>
                  <a:pt x="0" y="439006"/>
                  <a:pt x="0" y="404814"/>
                </a:cubicBezTo>
                <a:lnTo>
                  <a:pt x="0" y="61911"/>
                </a:lnTo>
                <a:cubicBezTo>
                  <a:pt x="0" y="27719"/>
                  <a:pt x="27719" y="0"/>
                  <a:pt x="61911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600950" y="1610916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30956" y="0"/>
                </a:moveTo>
                <a:lnTo>
                  <a:pt x="216694" y="0"/>
                </a:lnTo>
                <a:cubicBezTo>
                  <a:pt x="233779" y="0"/>
                  <a:pt x="247650" y="13871"/>
                  <a:pt x="247650" y="30956"/>
                </a:cubicBezTo>
                <a:lnTo>
                  <a:pt x="247650" y="216694"/>
                </a:lnTo>
                <a:cubicBezTo>
                  <a:pt x="247650" y="233779"/>
                  <a:pt x="233779" y="247650"/>
                  <a:pt x="216694" y="247650"/>
                </a:cubicBezTo>
                <a:lnTo>
                  <a:pt x="30956" y="247650"/>
                </a:lnTo>
                <a:cubicBezTo>
                  <a:pt x="13871" y="247650"/>
                  <a:pt x="0" y="233779"/>
                  <a:pt x="0" y="216694"/>
                </a:cubicBezTo>
                <a:lnTo>
                  <a:pt x="0" y="30956"/>
                </a:lnTo>
                <a:cubicBezTo>
                  <a:pt x="0" y="13871"/>
                  <a:pt x="13871" y="0"/>
                  <a:pt x="30956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12" name="Text 9"/>
          <p:cNvSpPr/>
          <p:nvPr/>
        </p:nvSpPr>
        <p:spPr>
          <a:xfrm>
            <a:off x="7573863" y="1610916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41469" y="1564481"/>
            <a:ext cx="13477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41469" y="1750219"/>
            <a:ext cx="13400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Demographics, contact info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39037" y="2028825"/>
            <a:ext cx="4152900" cy="466725"/>
          </a:xfrm>
          <a:custGeom>
            <a:avLst/>
            <a:gdLst/>
            <a:ahLst/>
            <a:cxnLst/>
            <a:rect l="l" t="t" r="r" b="b"/>
            <a:pathLst>
              <a:path w="4152900" h="466725">
                <a:moveTo>
                  <a:pt x="61911" y="0"/>
                </a:moveTo>
                <a:lnTo>
                  <a:pt x="4090989" y="0"/>
                </a:lnTo>
                <a:cubicBezTo>
                  <a:pt x="4125181" y="0"/>
                  <a:pt x="4152900" y="27719"/>
                  <a:pt x="4152900" y="61911"/>
                </a:cubicBezTo>
                <a:lnTo>
                  <a:pt x="4152900" y="404814"/>
                </a:lnTo>
                <a:cubicBezTo>
                  <a:pt x="4152900" y="439006"/>
                  <a:pt x="4125181" y="466725"/>
                  <a:pt x="4090989" y="466725"/>
                </a:cubicBezTo>
                <a:lnTo>
                  <a:pt x="61911" y="466725"/>
                </a:lnTo>
                <a:cubicBezTo>
                  <a:pt x="27719" y="466725"/>
                  <a:pt x="0" y="439006"/>
                  <a:pt x="0" y="404814"/>
                </a:cubicBezTo>
                <a:lnTo>
                  <a:pt x="0" y="61911"/>
                </a:lnTo>
                <a:cubicBezTo>
                  <a:pt x="0" y="27719"/>
                  <a:pt x="27719" y="0"/>
                  <a:pt x="61911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600950" y="2137172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30956" y="0"/>
                </a:moveTo>
                <a:lnTo>
                  <a:pt x="216694" y="0"/>
                </a:lnTo>
                <a:cubicBezTo>
                  <a:pt x="233779" y="0"/>
                  <a:pt x="247650" y="13871"/>
                  <a:pt x="247650" y="30956"/>
                </a:cubicBezTo>
                <a:lnTo>
                  <a:pt x="247650" y="216694"/>
                </a:lnTo>
                <a:cubicBezTo>
                  <a:pt x="247650" y="233779"/>
                  <a:pt x="233779" y="247650"/>
                  <a:pt x="216694" y="247650"/>
                </a:cubicBezTo>
                <a:lnTo>
                  <a:pt x="30956" y="247650"/>
                </a:lnTo>
                <a:cubicBezTo>
                  <a:pt x="13871" y="247650"/>
                  <a:pt x="0" y="233779"/>
                  <a:pt x="0" y="216694"/>
                </a:cubicBezTo>
                <a:lnTo>
                  <a:pt x="0" y="30956"/>
                </a:lnTo>
                <a:cubicBezTo>
                  <a:pt x="0" y="13871"/>
                  <a:pt x="13871" y="0"/>
                  <a:pt x="30956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7" name="Text 14"/>
          <p:cNvSpPr/>
          <p:nvPr/>
        </p:nvSpPr>
        <p:spPr>
          <a:xfrm>
            <a:off x="7573863" y="2137172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41469" y="2090738"/>
            <a:ext cx="957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41469" y="2276475"/>
            <a:ext cx="9495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Facility information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39037" y="2555081"/>
            <a:ext cx="4152900" cy="466725"/>
          </a:xfrm>
          <a:custGeom>
            <a:avLst/>
            <a:gdLst/>
            <a:ahLst/>
            <a:cxnLst/>
            <a:rect l="l" t="t" r="r" b="b"/>
            <a:pathLst>
              <a:path w="4152900" h="466725">
                <a:moveTo>
                  <a:pt x="61911" y="0"/>
                </a:moveTo>
                <a:lnTo>
                  <a:pt x="4090989" y="0"/>
                </a:lnTo>
                <a:cubicBezTo>
                  <a:pt x="4125181" y="0"/>
                  <a:pt x="4152900" y="27719"/>
                  <a:pt x="4152900" y="61911"/>
                </a:cubicBezTo>
                <a:lnTo>
                  <a:pt x="4152900" y="404814"/>
                </a:lnTo>
                <a:cubicBezTo>
                  <a:pt x="4152900" y="439006"/>
                  <a:pt x="4125181" y="466725"/>
                  <a:pt x="4090989" y="466725"/>
                </a:cubicBezTo>
                <a:lnTo>
                  <a:pt x="61911" y="466725"/>
                </a:lnTo>
                <a:cubicBezTo>
                  <a:pt x="27719" y="466725"/>
                  <a:pt x="0" y="439006"/>
                  <a:pt x="0" y="404814"/>
                </a:cubicBezTo>
                <a:lnTo>
                  <a:pt x="0" y="61911"/>
                </a:lnTo>
                <a:cubicBezTo>
                  <a:pt x="0" y="27719"/>
                  <a:pt x="27719" y="0"/>
                  <a:pt x="61911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600950" y="2663428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30956" y="0"/>
                </a:moveTo>
                <a:lnTo>
                  <a:pt x="216694" y="0"/>
                </a:lnTo>
                <a:cubicBezTo>
                  <a:pt x="233779" y="0"/>
                  <a:pt x="247650" y="13871"/>
                  <a:pt x="247650" y="30956"/>
                </a:cubicBezTo>
                <a:lnTo>
                  <a:pt x="247650" y="216694"/>
                </a:lnTo>
                <a:cubicBezTo>
                  <a:pt x="247650" y="233779"/>
                  <a:pt x="233779" y="247650"/>
                  <a:pt x="216694" y="247650"/>
                </a:cubicBezTo>
                <a:lnTo>
                  <a:pt x="30956" y="247650"/>
                </a:lnTo>
                <a:cubicBezTo>
                  <a:pt x="13871" y="247650"/>
                  <a:pt x="0" y="233779"/>
                  <a:pt x="0" y="216694"/>
                </a:cubicBezTo>
                <a:lnTo>
                  <a:pt x="0" y="30956"/>
                </a:lnTo>
                <a:cubicBezTo>
                  <a:pt x="0" y="13871"/>
                  <a:pt x="13871" y="0"/>
                  <a:pt x="30956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19"/>
          <p:cNvSpPr/>
          <p:nvPr/>
        </p:nvSpPr>
        <p:spPr>
          <a:xfrm>
            <a:off x="7573863" y="2663428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41469" y="2616994"/>
            <a:ext cx="871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941469" y="2802731"/>
            <a:ext cx="863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Encounter details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39037" y="3081338"/>
            <a:ext cx="4152900" cy="466725"/>
          </a:xfrm>
          <a:custGeom>
            <a:avLst/>
            <a:gdLst/>
            <a:ahLst/>
            <a:cxnLst/>
            <a:rect l="l" t="t" r="r" b="b"/>
            <a:pathLst>
              <a:path w="4152900" h="466725">
                <a:moveTo>
                  <a:pt x="61911" y="0"/>
                </a:moveTo>
                <a:lnTo>
                  <a:pt x="4090989" y="0"/>
                </a:lnTo>
                <a:cubicBezTo>
                  <a:pt x="4125181" y="0"/>
                  <a:pt x="4152900" y="27719"/>
                  <a:pt x="4152900" y="61911"/>
                </a:cubicBezTo>
                <a:lnTo>
                  <a:pt x="4152900" y="404814"/>
                </a:lnTo>
                <a:cubicBezTo>
                  <a:pt x="4152900" y="439006"/>
                  <a:pt x="4125181" y="466725"/>
                  <a:pt x="4090989" y="466725"/>
                </a:cubicBezTo>
                <a:lnTo>
                  <a:pt x="61911" y="466725"/>
                </a:lnTo>
                <a:cubicBezTo>
                  <a:pt x="27719" y="466725"/>
                  <a:pt x="0" y="439006"/>
                  <a:pt x="0" y="404814"/>
                </a:cubicBezTo>
                <a:lnTo>
                  <a:pt x="0" y="61911"/>
                </a:lnTo>
                <a:cubicBezTo>
                  <a:pt x="0" y="27719"/>
                  <a:pt x="27719" y="0"/>
                  <a:pt x="61911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600950" y="3189684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30956" y="0"/>
                </a:moveTo>
                <a:lnTo>
                  <a:pt x="216694" y="0"/>
                </a:lnTo>
                <a:cubicBezTo>
                  <a:pt x="233779" y="0"/>
                  <a:pt x="247650" y="13871"/>
                  <a:pt x="247650" y="30956"/>
                </a:cubicBezTo>
                <a:lnTo>
                  <a:pt x="247650" y="216694"/>
                </a:lnTo>
                <a:cubicBezTo>
                  <a:pt x="247650" y="233779"/>
                  <a:pt x="233779" y="247650"/>
                  <a:pt x="216694" y="247650"/>
                </a:cubicBezTo>
                <a:lnTo>
                  <a:pt x="30956" y="247650"/>
                </a:lnTo>
                <a:cubicBezTo>
                  <a:pt x="13871" y="247650"/>
                  <a:pt x="0" y="233779"/>
                  <a:pt x="0" y="216694"/>
                </a:cubicBezTo>
                <a:lnTo>
                  <a:pt x="0" y="30956"/>
                </a:lnTo>
                <a:cubicBezTo>
                  <a:pt x="0" y="13871"/>
                  <a:pt x="13871" y="0"/>
                  <a:pt x="30956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27" name="Text 24"/>
          <p:cNvSpPr/>
          <p:nvPr/>
        </p:nvSpPr>
        <p:spPr>
          <a:xfrm>
            <a:off x="7573863" y="3189684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941469" y="3143250"/>
            <a:ext cx="938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Diagnosis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941469" y="3328988"/>
            <a:ext cx="9304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conditions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539037" y="3607594"/>
            <a:ext cx="4152900" cy="466725"/>
          </a:xfrm>
          <a:custGeom>
            <a:avLst/>
            <a:gdLst/>
            <a:ahLst/>
            <a:cxnLst/>
            <a:rect l="l" t="t" r="r" b="b"/>
            <a:pathLst>
              <a:path w="4152900" h="466725">
                <a:moveTo>
                  <a:pt x="61911" y="0"/>
                </a:moveTo>
                <a:lnTo>
                  <a:pt x="4090989" y="0"/>
                </a:lnTo>
                <a:cubicBezTo>
                  <a:pt x="4125181" y="0"/>
                  <a:pt x="4152900" y="27719"/>
                  <a:pt x="4152900" y="61911"/>
                </a:cubicBezTo>
                <a:lnTo>
                  <a:pt x="4152900" y="404814"/>
                </a:lnTo>
                <a:cubicBezTo>
                  <a:pt x="4152900" y="439006"/>
                  <a:pt x="4125181" y="466725"/>
                  <a:pt x="4090989" y="466725"/>
                </a:cubicBezTo>
                <a:lnTo>
                  <a:pt x="61911" y="466725"/>
                </a:lnTo>
                <a:cubicBezTo>
                  <a:pt x="27719" y="466725"/>
                  <a:pt x="0" y="439006"/>
                  <a:pt x="0" y="404814"/>
                </a:cubicBezTo>
                <a:lnTo>
                  <a:pt x="0" y="61911"/>
                </a:lnTo>
                <a:cubicBezTo>
                  <a:pt x="0" y="27719"/>
                  <a:pt x="27719" y="0"/>
                  <a:pt x="61911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600950" y="3715941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30956" y="0"/>
                </a:moveTo>
                <a:lnTo>
                  <a:pt x="216694" y="0"/>
                </a:lnTo>
                <a:cubicBezTo>
                  <a:pt x="233779" y="0"/>
                  <a:pt x="247650" y="13871"/>
                  <a:pt x="247650" y="30956"/>
                </a:cubicBezTo>
                <a:lnTo>
                  <a:pt x="247650" y="216694"/>
                </a:lnTo>
                <a:cubicBezTo>
                  <a:pt x="247650" y="233779"/>
                  <a:pt x="233779" y="247650"/>
                  <a:pt x="216694" y="247650"/>
                </a:cubicBezTo>
                <a:lnTo>
                  <a:pt x="30956" y="247650"/>
                </a:lnTo>
                <a:cubicBezTo>
                  <a:pt x="13871" y="247650"/>
                  <a:pt x="0" y="233779"/>
                  <a:pt x="0" y="216694"/>
                </a:cubicBezTo>
                <a:lnTo>
                  <a:pt x="0" y="30956"/>
                </a:lnTo>
                <a:cubicBezTo>
                  <a:pt x="0" y="13871"/>
                  <a:pt x="13871" y="0"/>
                  <a:pt x="30956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32" name="Text 29"/>
          <p:cNvSpPr/>
          <p:nvPr/>
        </p:nvSpPr>
        <p:spPr>
          <a:xfrm>
            <a:off x="7573863" y="3715941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Rx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941469" y="3669506"/>
            <a:ext cx="9096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Prescription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941469" y="3855244"/>
            <a:ext cx="9018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Medication orders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539037" y="4133850"/>
            <a:ext cx="4152900" cy="466725"/>
          </a:xfrm>
          <a:custGeom>
            <a:avLst/>
            <a:gdLst/>
            <a:ahLst/>
            <a:cxnLst/>
            <a:rect l="l" t="t" r="r" b="b"/>
            <a:pathLst>
              <a:path w="4152900" h="466725">
                <a:moveTo>
                  <a:pt x="61911" y="0"/>
                </a:moveTo>
                <a:lnTo>
                  <a:pt x="4090989" y="0"/>
                </a:lnTo>
                <a:cubicBezTo>
                  <a:pt x="4125181" y="0"/>
                  <a:pt x="4152900" y="27719"/>
                  <a:pt x="4152900" y="61911"/>
                </a:cubicBezTo>
                <a:lnTo>
                  <a:pt x="4152900" y="404814"/>
                </a:lnTo>
                <a:cubicBezTo>
                  <a:pt x="4152900" y="439006"/>
                  <a:pt x="4125181" y="466725"/>
                  <a:pt x="4090989" y="466725"/>
                </a:cubicBezTo>
                <a:lnTo>
                  <a:pt x="61911" y="466725"/>
                </a:lnTo>
                <a:cubicBezTo>
                  <a:pt x="27719" y="466725"/>
                  <a:pt x="0" y="439006"/>
                  <a:pt x="0" y="404814"/>
                </a:cubicBezTo>
                <a:lnTo>
                  <a:pt x="0" y="61911"/>
                </a:lnTo>
                <a:cubicBezTo>
                  <a:pt x="0" y="27719"/>
                  <a:pt x="27719" y="0"/>
                  <a:pt x="61911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600950" y="4242197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30956" y="0"/>
                </a:moveTo>
                <a:lnTo>
                  <a:pt x="216694" y="0"/>
                </a:lnTo>
                <a:cubicBezTo>
                  <a:pt x="233779" y="0"/>
                  <a:pt x="247650" y="13871"/>
                  <a:pt x="247650" y="30956"/>
                </a:cubicBezTo>
                <a:lnTo>
                  <a:pt x="247650" y="216694"/>
                </a:lnTo>
                <a:cubicBezTo>
                  <a:pt x="247650" y="233779"/>
                  <a:pt x="233779" y="247650"/>
                  <a:pt x="216694" y="247650"/>
                </a:cubicBezTo>
                <a:lnTo>
                  <a:pt x="30956" y="247650"/>
                </a:lnTo>
                <a:cubicBezTo>
                  <a:pt x="13871" y="247650"/>
                  <a:pt x="0" y="233779"/>
                  <a:pt x="0" y="216694"/>
                </a:cubicBezTo>
                <a:lnTo>
                  <a:pt x="0" y="30956"/>
                </a:lnTo>
                <a:cubicBezTo>
                  <a:pt x="0" y="13871"/>
                  <a:pt x="13871" y="0"/>
                  <a:pt x="30956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4"/>
          <p:cNvSpPr/>
          <p:nvPr/>
        </p:nvSpPr>
        <p:spPr>
          <a:xfrm>
            <a:off x="7573863" y="4242197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941469" y="4195763"/>
            <a:ext cx="862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941469" y="4381500"/>
            <a:ext cx="854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Drug information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39037" y="4660106"/>
            <a:ext cx="4152900" cy="466725"/>
          </a:xfrm>
          <a:custGeom>
            <a:avLst/>
            <a:gdLst/>
            <a:ahLst/>
            <a:cxnLst/>
            <a:rect l="l" t="t" r="r" b="b"/>
            <a:pathLst>
              <a:path w="4152900" h="466725">
                <a:moveTo>
                  <a:pt x="61911" y="0"/>
                </a:moveTo>
                <a:lnTo>
                  <a:pt x="4090989" y="0"/>
                </a:lnTo>
                <a:cubicBezTo>
                  <a:pt x="4125181" y="0"/>
                  <a:pt x="4152900" y="27719"/>
                  <a:pt x="4152900" y="61911"/>
                </a:cubicBezTo>
                <a:lnTo>
                  <a:pt x="4152900" y="404814"/>
                </a:lnTo>
                <a:cubicBezTo>
                  <a:pt x="4152900" y="439006"/>
                  <a:pt x="4125181" y="466725"/>
                  <a:pt x="4090989" y="466725"/>
                </a:cubicBezTo>
                <a:lnTo>
                  <a:pt x="61911" y="466725"/>
                </a:lnTo>
                <a:cubicBezTo>
                  <a:pt x="27719" y="466725"/>
                  <a:pt x="0" y="439006"/>
                  <a:pt x="0" y="404814"/>
                </a:cubicBezTo>
                <a:lnTo>
                  <a:pt x="0" y="61911"/>
                </a:lnTo>
                <a:cubicBezTo>
                  <a:pt x="0" y="27719"/>
                  <a:pt x="27719" y="0"/>
                  <a:pt x="61911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600950" y="4768453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30956" y="0"/>
                </a:moveTo>
                <a:lnTo>
                  <a:pt x="216694" y="0"/>
                </a:lnTo>
                <a:cubicBezTo>
                  <a:pt x="233779" y="0"/>
                  <a:pt x="247650" y="13871"/>
                  <a:pt x="247650" y="30956"/>
                </a:cubicBezTo>
                <a:lnTo>
                  <a:pt x="247650" y="216694"/>
                </a:lnTo>
                <a:cubicBezTo>
                  <a:pt x="247650" y="233779"/>
                  <a:pt x="233779" y="247650"/>
                  <a:pt x="216694" y="247650"/>
                </a:cubicBezTo>
                <a:lnTo>
                  <a:pt x="30956" y="247650"/>
                </a:lnTo>
                <a:cubicBezTo>
                  <a:pt x="13871" y="247650"/>
                  <a:pt x="0" y="233779"/>
                  <a:pt x="0" y="216694"/>
                </a:cubicBezTo>
                <a:lnTo>
                  <a:pt x="0" y="30956"/>
                </a:lnTo>
                <a:cubicBezTo>
                  <a:pt x="0" y="13871"/>
                  <a:pt x="13871" y="0"/>
                  <a:pt x="30956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42" name="Text 39"/>
          <p:cNvSpPr/>
          <p:nvPr/>
        </p:nvSpPr>
        <p:spPr>
          <a:xfrm>
            <a:off x="7573863" y="4768453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941469" y="4722019"/>
            <a:ext cx="107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FollowUp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941469" y="4907756"/>
            <a:ext cx="1063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Appointment tracking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415213" y="5372100"/>
            <a:ext cx="4400550" cy="1485900"/>
          </a:xfrm>
          <a:custGeom>
            <a:avLst/>
            <a:gdLst/>
            <a:ahLst/>
            <a:cxnLst/>
            <a:rect l="l" t="t" r="r" b="b"/>
            <a:pathLst>
              <a:path w="4400550" h="1485900">
                <a:moveTo>
                  <a:pt x="61917" y="0"/>
                </a:moveTo>
                <a:lnTo>
                  <a:pt x="4338633" y="0"/>
                </a:lnTo>
                <a:cubicBezTo>
                  <a:pt x="4372829" y="0"/>
                  <a:pt x="4400550" y="27721"/>
                  <a:pt x="4400550" y="61917"/>
                </a:cubicBezTo>
                <a:lnTo>
                  <a:pt x="4400550" y="1423983"/>
                </a:lnTo>
                <a:cubicBezTo>
                  <a:pt x="4400550" y="1458179"/>
                  <a:pt x="4372829" y="1485900"/>
                  <a:pt x="4338633" y="1485900"/>
                </a:cubicBezTo>
                <a:lnTo>
                  <a:pt x="61917" y="1485900"/>
                </a:lnTo>
                <a:cubicBezTo>
                  <a:pt x="27721" y="1485900"/>
                  <a:pt x="0" y="1458179"/>
                  <a:pt x="0" y="1423983"/>
                </a:cubicBezTo>
                <a:lnTo>
                  <a:pt x="0" y="61917"/>
                </a:lnTo>
                <a:cubicBezTo>
                  <a:pt x="0" y="27744"/>
                  <a:pt x="27744" y="0"/>
                  <a:pt x="619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7539037" y="5495925"/>
            <a:ext cx="42225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561064" y="5836444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105155" y="16953"/>
                </a:moveTo>
                <a:cubicBezTo>
                  <a:pt x="108613" y="19469"/>
                  <a:pt x="109387" y="24305"/>
                  <a:pt x="106872" y="27764"/>
                </a:cubicBezTo>
                <a:lnTo>
                  <a:pt x="44959" y="112894"/>
                </a:lnTo>
                <a:cubicBezTo>
                  <a:pt x="43629" y="114732"/>
                  <a:pt x="41573" y="115868"/>
                  <a:pt x="39300" y="116062"/>
                </a:cubicBezTo>
                <a:cubicBezTo>
                  <a:pt x="37027" y="116255"/>
                  <a:pt x="34826" y="115409"/>
                  <a:pt x="33230" y="113813"/>
                </a:cubicBezTo>
                <a:lnTo>
                  <a:pt x="2273" y="82856"/>
                </a:lnTo>
                <a:cubicBezTo>
                  <a:pt x="-750" y="79833"/>
                  <a:pt x="-750" y="74924"/>
                  <a:pt x="2273" y="71901"/>
                </a:cubicBezTo>
                <a:cubicBezTo>
                  <a:pt x="5296" y="68878"/>
                  <a:pt x="10206" y="68878"/>
                  <a:pt x="13229" y="71901"/>
                </a:cubicBezTo>
                <a:lnTo>
                  <a:pt x="37776" y="96448"/>
                </a:lnTo>
                <a:lnTo>
                  <a:pt x="94368" y="18646"/>
                </a:lnTo>
                <a:cubicBezTo>
                  <a:pt x="96883" y="15188"/>
                  <a:pt x="101720" y="14414"/>
                  <a:pt x="105179" y="1692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5"/>
          <p:cNvSpPr/>
          <p:nvPr/>
        </p:nvSpPr>
        <p:spPr>
          <a:xfrm>
            <a:off x="7755731" y="5805488"/>
            <a:ext cx="2319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3NF Normalization: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redundancy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561064" y="6084094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105155" y="16953"/>
                </a:moveTo>
                <a:cubicBezTo>
                  <a:pt x="108613" y="19469"/>
                  <a:pt x="109387" y="24305"/>
                  <a:pt x="106872" y="27764"/>
                </a:cubicBezTo>
                <a:lnTo>
                  <a:pt x="44959" y="112894"/>
                </a:lnTo>
                <a:cubicBezTo>
                  <a:pt x="43629" y="114732"/>
                  <a:pt x="41573" y="115868"/>
                  <a:pt x="39300" y="116062"/>
                </a:cubicBezTo>
                <a:cubicBezTo>
                  <a:pt x="37027" y="116255"/>
                  <a:pt x="34826" y="115409"/>
                  <a:pt x="33230" y="113813"/>
                </a:cubicBezTo>
                <a:lnTo>
                  <a:pt x="2273" y="82856"/>
                </a:lnTo>
                <a:cubicBezTo>
                  <a:pt x="-750" y="79833"/>
                  <a:pt x="-750" y="74924"/>
                  <a:pt x="2273" y="71901"/>
                </a:cubicBezTo>
                <a:cubicBezTo>
                  <a:pt x="5296" y="68878"/>
                  <a:pt x="10206" y="68878"/>
                  <a:pt x="13229" y="71901"/>
                </a:cubicBezTo>
                <a:lnTo>
                  <a:pt x="37776" y="96448"/>
                </a:lnTo>
                <a:lnTo>
                  <a:pt x="94368" y="18646"/>
                </a:lnTo>
                <a:cubicBezTo>
                  <a:pt x="96883" y="15188"/>
                  <a:pt x="101720" y="14414"/>
                  <a:pt x="105179" y="1692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0" name="Text 47"/>
          <p:cNvSpPr/>
          <p:nvPr/>
        </p:nvSpPr>
        <p:spPr>
          <a:xfrm>
            <a:off x="7755731" y="6053138"/>
            <a:ext cx="2395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Referential Integrity: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Foreign key constraints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561064" y="6331744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105155" y="16953"/>
                </a:moveTo>
                <a:cubicBezTo>
                  <a:pt x="108613" y="19469"/>
                  <a:pt x="109387" y="24305"/>
                  <a:pt x="106872" y="27764"/>
                </a:cubicBezTo>
                <a:lnTo>
                  <a:pt x="44959" y="112894"/>
                </a:lnTo>
                <a:cubicBezTo>
                  <a:pt x="43629" y="114732"/>
                  <a:pt x="41573" y="115868"/>
                  <a:pt x="39300" y="116062"/>
                </a:cubicBezTo>
                <a:cubicBezTo>
                  <a:pt x="37027" y="116255"/>
                  <a:pt x="34826" y="115409"/>
                  <a:pt x="33230" y="113813"/>
                </a:cubicBezTo>
                <a:lnTo>
                  <a:pt x="2273" y="82856"/>
                </a:lnTo>
                <a:cubicBezTo>
                  <a:pt x="-750" y="79833"/>
                  <a:pt x="-750" y="74924"/>
                  <a:pt x="2273" y="71901"/>
                </a:cubicBezTo>
                <a:cubicBezTo>
                  <a:pt x="5296" y="68878"/>
                  <a:pt x="10206" y="68878"/>
                  <a:pt x="13229" y="71901"/>
                </a:cubicBezTo>
                <a:lnTo>
                  <a:pt x="37776" y="96448"/>
                </a:lnTo>
                <a:lnTo>
                  <a:pt x="94368" y="18646"/>
                </a:lnTo>
                <a:cubicBezTo>
                  <a:pt x="96883" y="15188"/>
                  <a:pt x="101720" y="14414"/>
                  <a:pt x="105179" y="1692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2" name="Text 49"/>
          <p:cNvSpPr/>
          <p:nvPr/>
        </p:nvSpPr>
        <p:spPr>
          <a:xfrm>
            <a:off x="7755731" y="6300788"/>
            <a:ext cx="2462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Supports multi-clinic deployment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561064" y="6579394"/>
            <a:ext cx="108347" cy="123825"/>
          </a:xfrm>
          <a:custGeom>
            <a:avLst/>
            <a:gdLst/>
            <a:ahLst/>
            <a:cxnLst/>
            <a:rect l="l" t="t" r="r" b="b"/>
            <a:pathLst>
              <a:path w="108347" h="123825">
                <a:moveTo>
                  <a:pt x="105155" y="16953"/>
                </a:moveTo>
                <a:cubicBezTo>
                  <a:pt x="108613" y="19469"/>
                  <a:pt x="109387" y="24305"/>
                  <a:pt x="106872" y="27764"/>
                </a:cubicBezTo>
                <a:lnTo>
                  <a:pt x="44959" y="112894"/>
                </a:lnTo>
                <a:cubicBezTo>
                  <a:pt x="43629" y="114732"/>
                  <a:pt x="41573" y="115868"/>
                  <a:pt x="39300" y="116062"/>
                </a:cubicBezTo>
                <a:cubicBezTo>
                  <a:pt x="37027" y="116255"/>
                  <a:pt x="34826" y="115409"/>
                  <a:pt x="33230" y="113813"/>
                </a:cubicBezTo>
                <a:lnTo>
                  <a:pt x="2273" y="82856"/>
                </a:lnTo>
                <a:cubicBezTo>
                  <a:pt x="-750" y="79833"/>
                  <a:pt x="-750" y="74924"/>
                  <a:pt x="2273" y="71901"/>
                </a:cubicBezTo>
                <a:cubicBezTo>
                  <a:pt x="5296" y="68878"/>
                  <a:pt x="10206" y="68878"/>
                  <a:pt x="13229" y="71901"/>
                </a:cubicBezTo>
                <a:lnTo>
                  <a:pt x="37776" y="96448"/>
                </a:lnTo>
                <a:lnTo>
                  <a:pt x="94368" y="18646"/>
                </a:lnTo>
                <a:cubicBezTo>
                  <a:pt x="96883" y="15188"/>
                  <a:pt x="101720" y="14414"/>
                  <a:pt x="105179" y="1692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4" name="Text 51"/>
          <p:cNvSpPr/>
          <p:nvPr/>
        </p:nvSpPr>
        <p:spPr>
          <a:xfrm>
            <a:off x="7755731" y="6548438"/>
            <a:ext cx="20621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change tracking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0214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b="1" spc="71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MODEL SPECIFICATION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498078"/>
            <a:ext cx="1167308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828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Entities &amp; Attributes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875109"/>
            <a:ext cx="3786188" cy="3230563"/>
          </a:xfrm>
          <a:custGeom>
            <a:avLst/>
            <a:gdLst/>
            <a:ahLst/>
            <a:cxnLst/>
            <a:rect l="l" t="t" r="r" b="b"/>
            <a:pathLst>
              <a:path w="3786188" h="3230563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8970"/>
                </a:lnTo>
                <a:cubicBezTo>
                  <a:pt x="3786188" y="3207464"/>
                  <a:pt x="3763089" y="3230563"/>
                  <a:pt x="3734595" y="3230562"/>
                </a:cubicBezTo>
                <a:lnTo>
                  <a:pt x="51592" y="3230563"/>
                </a:lnTo>
                <a:cubicBezTo>
                  <a:pt x="23099" y="3230562"/>
                  <a:pt x="0" y="3207464"/>
                  <a:pt x="0" y="317897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7500" y="875109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" name="Shape 4"/>
          <p:cNvSpPr/>
          <p:nvPr/>
        </p:nvSpPr>
        <p:spPr>
          <a:xfrm>
            <a:off x="420688" y="994172"/>
            <a:ext cx="261937" cy="261937"/>
          </a:xfrm>
          <a:custGeom>
            <a:avLst/>
            <a:gdLst/>
            <a:ahLst/>
            <a:cxnLst/>
            <a:rect l="l" t="t" r="r" b="b"/>
            <a:pathLst>
              <a:path w="261937" h="261937">
                <a:moveTo>
                  <a:pt x="51594" y="0"/>
                </a:moveTo>
                <a:lnTo>
                  <a:pt x="210344" y="0"/>
                </a:lnTo>
                <a:cubicBezTo>
                  <a:pt x="238838" y="0"/>
                  <a:pt x="261937" y="23099"/>
                  <a:pt x="261937" y="51594"/>
                </a:cubicBezTo>
                <a:lnTo>
                  <a:pt x="261937" y="210344"/>
                </a:lnTo>
                <a:cubicBezTo>
                  <a:pt x="261937" y="238838"/>
                  <a:pt x="238838" y="261937"/>
                  <a:pt x="210344" y="261937"/>
                </a:cubicBezTo>
                <a:lnTo>
                  <a:pt x="51594" y="261937"/>
                </a:lnTo>
                <a:cubicBezTo>
                  <a:pt x="23099" y="261937"/>
                  <a:pt x="0" y="238838"/>
                  <a:pt x="0" y="210344"/>
                </a:cubicBezTo>
                <a:lnTo>
                  <a:pt x="0" y="51594"/>
                </a:lnTo>
                <a:cubicBezTo>
                  <a:pt x="0" y="23118"/>
                  <a:pt x="23118" y="0"/>
                  <a:pt x="51594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7" name="Text 5"/>
          <p:cNvSpPr/>
          <p:nvPr/>
        </p:nvSpPr>
        <p:spPr>
          <a:xfrm>
            <a:off x="394891" y="994172"/>
            <a:ext cx="31353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6047" y="1032867"/>
            <a:ext cx="46930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88" y="132953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5414" y="1382117"/>
            <a:ext cx="77391" cy="77391"/>
          </a:xfrm>
          <a:custGeom>
            <a:avLst/>
            <a:gdLst/>
            <a:ahLst/>
            <a:cxnLst/>
            <a:rect l="l" t="t" r="r" b="b"/>
            <a:pathLst>
              <a:path w="77391" h="77391">
                <a:moveTo>
                  <a:pt x="50788" y="53206"/>
                </a:moveTo>
                <a:cubicBezTo>
                  <a:pt x="65480" y="53206"/>
                  <a:pt x="77391" y="41295"/>
                  <a:pt x="77391" y="26603"/>
                </a:cubicBezTo>
                <a:cubicBezTo>
                  <a:pt x="77391" y="11911"/>
                  <a:pt x="65480" y="0"/>
                  <a:pt x="50788" y="0"/>
                </a:cubicBezTo>
                <a:cubicBezTo>
                  <a:pt x="36095" y="0"/>
                  <a:pt x="24185" y="11911"/>
                  <a:pt x="24185" y="26603"/>
                </a:cubicBezTo>
                <a:cubicBezTo>
                  <a:pt x="24185" y="29430"/>
                  <a:pt x="24623" y="32165"/>
                  <a:pt x="25439" y="34720"/>
                </a:cubicBezTo>
                <a:lnTo>
                  <a:pt x="1058" y="59101"/>
                </a:lnTo>
                <a:cubicBezTo>
                  <a:pt x="378" y="59781"/>
                  <a:pt x="0" y="60703"/>
                  <a:pt x="0" y="61671"/>
                </a:cubicBezTo>
                <a:lnTo>
                  <a:pt x="0" y="73763"/>
                </a:lnTo>
                <a:cubicBezTo>
                  <a:pt x="0" y="75773"/>
                  <a:pt x="1617" y="77391"/>
                  <a:pt x="3628" y="77391"/>
                </a:cubicBezTo>
                <a:lnTo>
                  <a:pt x="15720" y="77391"/>
                </a:lnTo>
                <a:cubicBezTo>
                  <a:pt x="17730" y="77391"/>
                  <a:pt x="19348" y="75773"/>
                  <a:pt x="19348" y="73763"/>
                </a:cubicBezTo>
                <a:lnTo>
                  <a:pt x="19348" y="67717"/>
                </a:lnTo>
                <a:lnTo>
                  <a:pt x="25394" y="67717"/>
                </a:lnTo>
                <a:cubicBezTo>
                  <a:pt x="27404" y="67717"/>
                  <a:pt x="29021" y="66099"/>
                  <a:pt x="29021" y="64089"/>
                </a:cubicBezTo>
                <a:lnTo>
                  <a:pt x="29021" y="58043"/>
                </a:lnTo>
                <a:lnTo>
                  <a:pt x="35068" y="58043"/>
                </a:lnTo>
                <a:cubicBezTo>
                  <a:pt x="36035" y="58043"/>
                  <a:pt x="36957" y="57665"/>
                  <a:pt x="37637" y="56985"/>
                </a:cubicBezTo>
                <a:lnTo>
                  <a:pt x="42671" y="51951"/>
                </a:lnTo>
                <a:cubicBezTo>
                  <a:pt x="45225" y="52768"/>
                  <a:pt x="47961" y="53206"/>
                  <a:pt x="50788" y="53206"/>
                </a:cubicBezTo>
                <a:close/>
                <a:moveTo>
                  <a:pt x="56834" y="14511"/>
                </a:moveTo>
                <a:cubicBezTo>
                  <a:pt x="60171" y="14511"/>
                  <a:pt x="62880" y="17220"/>
                  <a:pt x="62880" y="20557"/>
                </a:cubicBezTo>
                <a:cubicBezTo>
                  <a:pt x="62880" y="23894"/>
                  <a:pt x="60171" y="26603"/>
                  <a:pt x="56834" y="26603"/>
                </a:cubicBezTo>
                <a:cubicBezTo>
                  <a:pt x="53497" y="26603"/>
                  <a:pt x="50788" y="23894"/>
                  <a:pt x="50788" y="20557"/>
                </a:cubicBezTo>
                <a:cubicBezTo>
                  <a:pt x="50788" y="17220"/>
                  <a:pt x="53497" y="14511"/>
                  <a:pt x="56834" y="1451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594816" y="1355328"/>
            <a:ext cx="7912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patient_id (PK)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4422" y="16023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3" name="Text 11"/>
          <p:cNvSpPr/>
          <p:nvPr/>
        </p:nvSpPr>
        <p:spPr>
          <a:xfrm>
            <a:off x="557609" y="1561703"/>
            <a:ext cx="545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first_name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4422" y="18087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5" name="Text 13"/>
          <p:cNvSpPr/>
          <p:nvPr/>
        </p:nvSpPr>
        <p:spPr>
          <a:xfrm>
            <a:off x="557609" y="1768078"/>
            <a:ext cx="48964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last_name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4422" y="20151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7" name="Text 15"/>
          <p:cNvSpPr/>
          <p:nvPr/>
        </p:nvSpPr>
        <p:spPr>
          <a:xfrm>
            <a:off x="557609" y="1974453"/>
            <a:ext cx="688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date_of_birth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4422" y="22215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9" name="Text 17"/>
          <p:cNvSpPr/>
          <p:nvPr/>
        </p:nvSpPr>
        <p:spPr>
          <a:xfrm>
            <a:off x="557609" y="2180828"/>
            <a:ext cx="3467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gender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4422" y="24278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1" name="Text 19"/>
          <p:cNvSpPr/>
          <p:nvPr/>
        </p:nvSpPr>
        <p:spPr>
          <a:xfrm>
            <a:off x="557609" y="2387203"/>
            <a:ext cx="64045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phone_number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4422" y="26342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3" name="Text 21"/>
          <p:cNvSpPr/>
          <p:nvPr/>
        </p:nvSpPr>
        <p:spPr>
          <a:xfrm>
            <a:off x="557609" y="2593578"/>
            <a:ext cx="291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4422" y="28406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5" name="Text 23"/>
          <p:cNvSpPr/>
          <p:nvPr/>
        </p:nvSpPr>
        <p:spPr>
          <a:xfrm>
            <a:off x="557609" y="2799953"/>
            <a:ext cx="39439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4422" y="30470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7" name="Text 25"/>
          <p:cNvSpPr/>
          <p:nvPr/>
        </p:nvSpPr>
        <p:spPr>
          <a:xfrm>
            <a:off x="557609" y="3006328"/>
            <a:ext cx="8865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emergency_contact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4422" y="32533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9" name="Text 27"/>
          <p:cNvSpPr/>
          <p:nvPr/>
        </p:nvSpPr>
        <p:spPr>
          <a:xfrm>
            <a:off x="557609" y="3212703"/>
            <a:ext cx="74364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insurance_info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4422" y="34597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31" name="Text 29"/>
          <p:cNvSpPr/>
          <p:nvPr/>
        </p:nvSpPr>
        <p:spPr>
          <a:xfrm>
            <a:off x="557609" y="3419078"/>
            <a:ext cx="545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created_at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17500" y="4224734"/>
            <a:ext cx="3786188" cy="3230563"/>
          </a:xfrm>
          <a:custGeom>
            <a:avLst/>
            <a:gdLst/>
            <a:ahLst/>
            <a:cxnLst/>
            <a:rect l="l" t="t" r="r" b="b"/>
            <a:pathLst>
              <a:path w="3786188" h="3230563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8970"/>
                </a:lnTo>
                <a:cubicBezTo>
                  <a:pt x="3786188" y="3207464"/>
                  <a:pt x="3763089" y="3230563"/>
                  <a:pt x="3734595" y="3230562"/>
                </a:cubicBezTo>
                <a:lnTo>
                  <a:pt x="51592" y="3230563"/>
                </a:lnTo>
                <a:cubicBezTo>
                  <a:pt x="23099" y="3230562"/>
                  <a:pt x="0" y="3207464"/>
                  <a:pt x="0" y="317897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500" y="4224734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34" name="Shape 32"/>
          <p:cNvSpPr/>
          <p:nvPr/>
        </p:nvSpPr>
        <p:spPr>
          <a:xfrm>
            <a:off x="420688" y="4343797"/>
            <a:ext cx="261937" cy="261937"/>
          </a:xfrm>
          <a:custGeom>
            <a:avLst/>
            <a:gdLst/>
            <a:ahLst/>
            <a:cxnLst/>
            <a:rect l="l" t="t" r="r" b="b"/>
            <a:pathLst>
              <a:path w="261937" h="261937">
                <a:moveTo>
                  <a:pt x="51594" y="0"/>
                </a:moveTo>
                <a:lnTo>
                  <a:pt x="210344" y="0"/>
                </a:lnTo>
                <a:cubicBezTo>
                  <a:pt x="238838" y="0"/>
                  <a:pt x="261937" y="23099"/>
                  <a:pt x="261937" y="51594"/>
                </a:cubicBezTo>
                <a:lnTo>
                  <a:pt x="261937" y="210344"/>
                </a:lnTo>
                <a:cubicBezTo>
                  <a:pt x="261937" y="238838"/>
                  <a:pt x="238838" y="261937"/>
                  <a:pt x="210344" y="261937"/>
                </a:cubicBezTo>
                <a:lnTo>
                  <a:pt x="51594" y="261937"/>
                </a:lnTo>
                <a:cubicBezTo>
                  <a:pt x="23099" y="261937"/>
                  <a:pt x="0" y="238838"/>
                  <a:pt x="0" y="210344"/>
                </a:cubicBezTo>
                <a:lnTo>
                  <a:pt x="0" y="51594"/>
                </a:lnTo>
                <a:cubicBezTo>
                  <a:pt x="0" y="23118"/>
                  <a:pt x="23118" y="0"/>
                  <a:pt x="51594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35" name="Text 33"/>
          <p:cNvSpPr/>
          <p:nvPr/>
        </p:nvSpPr>
        <p:spPr>
          <a:xfrm>
            <a:off x="394891" y="4343797"/>
            <a:ext cx="31353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6047" y="4382492"/>
            <a:ext cx="381992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0688" y="4679156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5414" y="4731742"/>
            <a:ext cx="77391" cy="77391"/>
          </a:xfrm>
          <a:custGeom>
            <a:avLst/>
            <a:gdLst/>
            <a:ahLst/>
            <a:cxnLst/>
            <a:rect l="l" t="t" r="r" b="b"/>
            <a:pathLst>
              <a:path w="77391" h="77391">
                <a:moveTo>
                  <a:pt x="50788" y="53206"/>
                </a:moveTo>
                <a:cubicBezTo>
                  <a:pt x="65480" y="53206"/>
                  <a:pt x="77391" y="41295"/>
                  <a:pt x="77391" y="26603"/>
                </a:cubicBezTo>
                <a:cubicBezTo>
                  <a:pt x="77391" y="11911"/>
                  <a:pt x="65480" y="0"/>
                  <a:pt x="50788" y="0"/>
                </a:cubicBezTo>
                <a:cubicBezTo>
                  <a:pt x="36095" y="0"/>
                  <a:pt x="24185" y="11911"/>
                  <a:pt x="24185" y="26603"/>
                </a:cubicBezTo>
                <a:cubicBezTo>
                  <a:pt x="24185" y="29430"/>
                  <a:pt x="24623" y="32165"/>
                  <a:pt x="25439" y="34720"/>
                </a:cubicBezTo>
                <a:lnTo>
                  <a:pt x="1058" y="59101"/>
                </a:lnTo>
                <a:cubicBezTo>
                  <a:pt x="378" y="59781"/>
                  <a:pt x="0" y="60703"/>
                  <a:pt x="0" y="61671"/>
                </a:cubicBezTo>
                <a:lnTo>
                  <a:pt x="0" y="73763"/>
                </a:lnTo>
                <a:cubicBezTo>
                  <a:pt x="0" y="75773"/>
                  <a:pt x="1617" y="77391"/>
                  <a:pt x="3628" y="77391"/>
                </a:cubicBezTo>
                <a:lnTo>
                  <a:pt x="15720" y="77391"/>
                </a:lnTo>
                <a:cubicBezTo>
                  <a:pt x="17730" y="77391"/>
                  <a:pt x="19348" y="75773"/>
                  <a:pt x="19348" y="73763"/>
                </a:cubicBezTo>
                <a:lnTo>
                  <a:pt x="19348" y="67717"/>
                </a:lnTo>
                <a:lnTo>
                  <a:pt x="25394" y="67717"/>
                </a:lnTo>
                <a:cubicBezTo>
                  <a:pt x="27404" y="67717"/>
                  <a:pt x="29021" y="66099"/>
                  <a:pt x="29021" y="64089"/>
                </a:cubicBezTo>
                <a:lnTo>
                  <a:pt x="29021" y="58043"/>
                </a:lnTo>
                <a:lnTo>
                  <a:pt x="35068" y="58043"/>
                </a:lnTo>
                <a:cubicBezTo>
                  <a:pt x="36035" y="58043"/>
                  <a:pt x="36957" y="57665"/>
                  <a:pt x="37637" y="56985"/>
                </a:cubicBezTo>
                <a:lnTo>
                  <a:pt x="42671" y="51951"/>
                </a:lnTo>
                <a:cubicBezTo>
                  <a:pt x="45225" y="52768"/>
                  <a:pt x="47961" y="53206"/>
                  <a:pt x="50788" y="53206"/>
                </a:cubicBezTo>
                <a:close/>
                <a:moveTo>
                  <a:pt x="56834" y="14511"/>
                </a:moveTo>
                <a:cubicBezTo>
                  <a:pt x="60171" y="14511"/>
                  <a:pt x="62880" y="17220"/>
                  <a:pt x="62880" y="20557"/>
                </a:cubicBezTo>
                <a:cubicBezTo>
                  <a:pt x="62880" y="23894"/>
                  <a:pt x="60171" y="26603"/>
                  <a:pt x="56834" y="26603"/>
                </a:cubicBezTo>
                <a:cubicBezTo>
                  <a:pt x="53497" y="26603"/>
                  <a:pt x="50788" y="23894"/>
                  <a:pt x="50788" y="20557"/>
                </a:cubicBezTo>
                <a:cubicBezTo>
                  <a:pt x="50788" y="17220"/>
                  <a:pt x="53497" y="14511"/>
                  <a:pt x="56834" y="1451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594816" y="4704953"/>
            <a:ext cx="74364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clinic_id (PK)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4422" y="49520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41" name="Text 39"/>
          <p:cNvSpPr/>
          <p:nvPr/>
        </p:nvSpPr>
        <p:spPr>
          <a:xfrm>
            <a:off x="557609" y="4911328"/>
            <a:ext cx="59283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clinic_name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4422" y="51583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43" name="Text 41"/>
          <p:cNvSpPr/>
          <p:nvPr/>
        </p:nvSpPr>
        <p:spPr>
          <a:xfrm>
            <a:off x="557609" y="5117703"/>
            <a:ext cx="39439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4422" y="53647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45" name="Text 43"/>
          <p:cNvSpPr/>
          <p:nvPr/>
        </p:nvSpPr>
        <p:spPr>
          <a:xfrm>
            <a:off x="557609" y="5324078"/>
            <a:ext cx="2435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4422" y="55711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47" name="Text 45"/>
          <p:cNvSpPr/>
          <p:nvPr/>
        </p:nvSpPr>
        <p:spPr>
          <a:xfrm>
            <a:off x="557609" y="5530453"/>
            <a:ext cx="291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4422" y="57775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49" name="Text 47"/>
          <p:cNvSpPr/>
          <p:nvPr/>
        </p:nvSpPr>
        <p:spPr>
          <a:xfrm>
            <a:off x="557609" y="5736828"/>
            <a:ext cx="4420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zip_code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4422" y="59838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51" name="Text 49"/>
          <p:cNvSpPr/>
          <p:nvPr/>
        </p:nvSpPr>
        <p:spPr>
          <a:xfrm>
            <a:off x="557609" y="5943203"/>
            <a:ext cx="291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4422" y="61902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53" name="Text 51"/>
          <p:cNvSpPr/>
          <p:nvPr/>
        </p:nvSpPr>
        <p:spPr>
          <a:xfrm>
            <a:off x="557609" y="6149578"/>
            <a:ext cx="291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4422" y="63966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55" name="Text 53"/>
          <p:cNvSpPr/>
          <p:nvPr/>
        </p:nvSpPr>
        <p:spPr>
          <a:xfrm>
            <a:off x="557609" y="6355953"/>
            <a:ext cx="74364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license_number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204196" y="875109"/>
            <a:ext cx="3786188" cy="3230563"/>
          </a:xfrm>
          <a:custGeom>
            <a:avLst/>
            <a:gdLst/>
            <a:ahLst/>
            <a:cxnLst/>
            <a:rect l="l" t="t" r="r" b="b"/>
            <a:pathLst>
              <a:path w="3786188" h="3230563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8970"/>
                </a:lnTo>
                <a:cubicBezTo>
                  <a:pt x="3786188" y="3207464"/>
                  <a:pt x="3763089" y="3230563"/>
                  <a:pt x="3734595" y="3230562"/>
                </a:cubicBezTo>
                <a:lnTo>
                  <a:pt x="51592" y="3230563"/>
                </a:lnTo>
                <a:cubicBezTo>
                  <a:pt x="23099" y="3230562"/>
                  <a:pt x="0" y="3207464"/>
                  <a:pt x="0" y="317897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204196" y="875109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8" name="Shape 56"/>
          <p:cNvSpPr/>
          <p:nvPr/>
        </p:nvSpPr>
        <p:spPr>
          <a:xfrm>
            <a:off x="4307384" y="994172"/>
            <a:ext cx="261937" cy="261937"/>
          </a:xfrm>
          <a:custGeom>
            <a:avLst/>
            <a:gdLst/>
            <a:ahLst/>
            <a:cxnLst/>
            <a:rect l="l" t="t" r="r" b="b"/>
            <a:pathLst>
              <a:path w="261937" h="261937">
                <a:moveTo>
                  <a:pt x="51594" y="0"/>
                </a:moveTo>
                <a:lnTo>
                  <a:pt x="210344" y="0"/>
                </a:lnTo>
                <a:cubicBezTo>
                  <a:pt x="238838" y="0"/>
                  <a:pt x="261937" y="23099"/>
                  <a:pt x="261937" y="51594"/>
                </a:cubicBezTo>
                <a:lnTo>
                  <a:pt x="261937" y="210344"/>
                </a:lnTo>
                <a:cubicBezTo>
                  <a:pt x="261937" y="238838"/>
                  <a:pt x="238838" y="261937"/>
                  <a:pt x="210344" y="261937"/>
                </a:cubicBezTo>
                <a:lnTo>
                  <a:pt x="51594" y="261937"/>
                </a:lnTo>
                <a:cubicBezTo>
                  <a:pt x="23099" y="261937"/>
                  <a:pt x="0" y="238838"/>
                  <a:pt x="0" y="210344"/>
                </a:cubicBezTo>
                <a:lnTo>
                  <a:pt x="0" y="51594"/>
                </a:lnTo>
                <a:cubicBezTo>
                  <a:pt x="0" y="23118"/>
                  <a:pt x="23118" y="0"/>
                  <a:pt x="5159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9" name="Text 57"/>
          <p:cNvSpPr/>
          <p:nvPr/>
        </p:nvSpPr>
        <p:spPr>
          <a:xfrm>
            <a:off x="4281587" y="994172"/>
            <a:ext cx="31353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642743" y="1032867"/>
            <a:ext cx="318492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307384" y="132953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342110" y="1382117"/>
            <a:ext cx="77391" cy="77391"/>
          </a:xfrm>
          <a:custGeom>
            <a:avLst/>
            <a:gdLst/>
            <a:ahLst/>
            <a:cxnLst/>
            <a:rect l="l" t="t" r="r" b="b"/>
            <a:pathLst>
              <a:path w="77391" h="77391">
                <a:moveTo>
                  <a:pt x="50788" y="53206"/>
                </a:moveTo>
                <a:cubicBezTo>
                  <a:pt x="65480" y="53206"/>
                  <a:pt x="77391" y="41295"/>
                  <a:pt x="77391" y="26603"/>
                </a:cubicBezTo>
                <a:cubicBezTo>
                  <a:pt x="77391" y="11911"/>
                  <a:pt x="65480" y="0"/>
                  <a:pt x="50788" y="0"/>
                </a:cubicBezTo>
                <a:cubicBezTo>
                  <a:pt x="36095" y="0"/>
                  <a:pt x="24185" y="11911"/>
                  <a:pt x="24185" y="26603"/>
                </a:cubicBezTo>
                <a:cubicBezTo>
                  <a:pt x="24185" y="29430"/>
                  <a:pt x="24623" y="32165"/>
                  <a:pt x="25439" y="34720"/>
                </a:cubicBezTo>
                <a:lnTo>
                  <a:pt x="1058" y="59101"/>
                </a:lnTo>
                <a:cubicBezTo>
                  <a:pt x="378" y="59781"/>
                  <a:pt x="0" y="60703"/>
                  <a:pt x="0" y="61671"/>
                </a:cubicBezTo>
                <a:lnTo>
                  <a:pt x="0" y="73763"/>
                </a:lnTo>
                <a:cubicBezTo>
                  <a:pt x="0" y="75773"/>
                  <a:pt x="1617" y="77391"/>
                  <a:pt x="3628" y="77391"/>
                </a:cubicBezTo>
                <a:lnTo>
                  <a:pt x="15720" y="77391"/>
                </a:lnTo>
                <a:cubicBezTo>
                  <a:pt x="17730" y="77391"/>
                  <a:pt x="19348" y="75773"/>
                  <a:pt x="19348" y="73763"/>
                </a:cubicBezTo>
                <a:lnTo>
                  <a:pt x="19348" y="67717"/>
                </a:lnTo>
                <a:lnTo>
                  <a:pt x="25394" y="67717"/>
                </a:lnTo>
                <a:cubicBezTo>
                  <a:pt x="27404" y="67717"/>
                  <a:pt x="29021" y="66099"/>
                  <a:pt x="29021" y="64089"/>
                </a:cubicBezTo>
                <a:lnTo>
                  <a:pt x="29021" y="58043"/>
                </a:lnTo>
                <a:lnTo>
                  <a:pt x="35068" y="58043"/>
                </a:lnTo>
                <a:cubicBezTo>
                  <a:pt x="36035" y="58043"/>
                  <a:pt x="36957" y="57665"/>
                  <a:pt x="37637" y="56985"/>
                </a:cubicBezTo>
                <a:lnTo>
                  <a:pt x="42671" y="51951"/>
                </a:lnTo>
                <a:cubicBezTo>
                  <a:pt x="45225" y="52768"/>
                  <a:pt x="47961" y="53206"/>
                  <a:pt x="50788" y="53206"/>
                </a:cubicBezTo>
                <a:close/>
                <a:moveTo>
                  <a:pt x="56834" y="14511"/>
                </a:moveTo>
                <a:cubicBezTo>
                  <a:pt x="60171" y="14511"/>
                  <a:pt x="62880" y="17220"/>
                  <a:pt x="62880" y="20557"/>
                </a:cubicBezTo>
                <a:cubicBezTo>
                  <a:pt x="62880" y="23894"/>
                  <a:pt x="60171" y="26603"/>
                  <a:pt x="56834" y="26603"/>
                </a:cubicBezTo>
                <a:cubicBezTo>
                  <a:pt x="53497" y="26603"/>
                  <a:pt x="50788" y="23894"/>
                  <a:pt x="50788" y="20557"/>
                </a:cubicBezTo>
                <a:cubicBezTo>
                  <a:pt x="50788" y="17220"/>
                  <a:pt x="53497" y="14511"/>
                  <a:pt x="56834" y="1451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3" name="Text 61"/>
          <p:cNvSpPr/>
          <p:nvPr/>
        </p:nvSpPr>
        <p:spPr>
          <a:xfrm>
            <a:off x="4481513" y="1355328"/>
            <a:ext cx="688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visit_id (PK)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307384" y="1535906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337274" y="1588492"/>
            <a:ext cx="87064" cy="77391"/>
          </a:xfrm>
          <a:custGeom>
            <a:avLst/>
            <a:gdLst/>
            <a:ahLst/>
            <a:cxnLst/>
            <a:rect l="l" t="t" r="r" b="b"/>
            <a:pathLst>
              <a:path w="87064" h="77391">
                <a:moveTo>
                  <a:pt x="63409" y="14511"/>
                </a:moveTo>
                <a:cubicBezTo>
                  <a:pt x="60900" y="14511"/>
                  <a:pt x="58466" y="15191"/>
                  <a:pt x="56335" y="16430"/>
                </a:cubicBezTo>
                <a:cubicBezTo>
                  <a:pt x="53947" y="14012"/>
                  <a:pt x="51165" y="11986"/>
                  <a:pt x="48097" y="10460"/>
                </a:cubicBezTo>
                <a:cubicBezTo>
                  <a:pt x="52360" y="6832"/>
                  <a:pt x="57786" y="4837"/>
                  <a:pt x="63409" y="4837"/>
                </a:cubicBezTo>
                <a:cubicBezTo>
                  <a:pt x="76469" y="4837"/>
                  <a:pt x="87064" y="15418"/>
                  <a:pt x="87064" y="28492"/>
                </a:cubicBezTo>
                <a:cubicBezTo>
                  <a:pt x="87064" y="34765"/>
                  <a:pt x="84570" y="40781"/>
                  <a:pt x="80142" y="45210"/>
                </a:cubicBezTo>
                <a:lnTo>
                  <a:pt x="69395" y="55957"/>
                </a:lnTo>
                <a:cubicBezTo>
                  <a:pt x="64966" y="60386"/>
                  <a:pt x="58950" y="62880"/>
                  <a:pt x="52677" y="62880"/>
                </a:cubicBezTo>
                <a:cubicBezTo>
                  <a:pt x="39617" y="62880"/>
                  <a:pt x="29021" y="52299"/>
                  <a:pt x="29021" y="39224"/>
                </a:cubicBezTo>
                <a:cubicBezTo>
                  <a:pt x="29021" y="38998"/>
                  <a:pt x="29021" y="38771"/>
                  <a:pt x="29037" y="38544"/>
                </a:cubicBezTo>
                <a:cubicBezTo>
                  <a:pt x="29112" y="35869"/>
                  <a:pt x="31334" y="33768"/>
                  <a:pt x="34010" y="33843"/>
                </a:cubicBezTo>
                <a:cubicBezTo>
                  <a:pt x="36685" y="33919"/>
                  <a:pt x="38786" y="36141"/>
                  <a:pt x="38710" y="38816"/>
                </a:cubicBezTo>
                <a:cubicBezTo>
                  <a:pt x="38710" y="38952"/>
                  <a:pt x="38710" y="39088"/>
                  <a:pt x="38710" y="39209"/>
                </a:cubicBezTo>
                <a:cubicBezTo>
                  <a:pt x="38710" y="46933"/>
                  <a:pt x="44968" y="53191"/>
                  <a:pt x="52692" y="53191"/>
                </a:cubicBezTo>
                <a:cubicBezTo>
                  <a:pt x="56395" y="53191"/>
                  <a:pt x="59948" y="51725"/>
                  <a:pt x="62578" y="49095"/>
                </a:cubicBezTo>
                <a:lnTo>
                  <a:pt x="73325" y="38348"/>
                </a:lnTo>
                <a:cubicBezTo>
                  <a:pt x="75940" y="35733"/>
                  <a:pt x="77421" y="32165"/>
                  <a:pt x="77421" y="28462"/>
                </a:cubicBezTo>
                <a:cubicBezTo>
                  <a:pt x="77421" y="20738"/>
                  <a:pt x="71163" y="14481"/>
                  <a:pt x="63439" y="14481"/>
                </a:cubicBezTo>
                <a:close/>
                <a:moveTo>
                  <a:pt x="41597" y="26195"/>
                </a:moveTo>
                <a:cubicBezTo>
                  <a:pt x="41310" y="26074"/>
                  <a:pt x="41023" y="25908"/>
                  <a:pt x="40766" y="25726"/>
                </a:cubicBezTo>
                <a:cubicBezTo>
                  <a:pt x="38862" y="24744"/>
                  <a:pt x="36685" y="24185"/>
                  <a:pt x="34403" y="24185"/>
                </a:cubicBezTo>
                <a:cubicBezTo>
                  <a:pt x="30699" y="24185"/>
                  <a:pt x="27147" y="25651"/>
                  <a:pt x="24517" y="28281"/>
                </a:cubicBezTo>
                <a:lnTo>
                  <a:pt x="13770" y="39028"/>
                </a:lnTo>
                <a:cubicBezTo>
                  <a:pt x="11155" y="41643"/>
                  <a:pt x="9674" y="45210"/>
                  <a:pt x="9674" y="48913"/>
                </a:cubicBezTo>
                <a:cubicBezTo>
                  <a:pt x="9674" y="56637"/>
                  <a:pt x="15932" y="62895"/>
                  <a:pt x="23656" y="62895"/>
                </a:cubicBezTo>
                <a:cubicBezTo>
                  <a:pt x="26150" y="62895"/>
                  <a:pt x="28583" y="62230"/>
                  <a:pt x="30714" y="60990"/>
                </a:cubicBezTo>
                <a:cubicBezTo>
                  <a:pt x="33103" y="63409"/>
                  <a:pt x="35884" y="65434"/>
                  <a:pt x="38967" y="66961"/>
                </a:cubicBezTo>
                <a:cubicBezTo>
                  <a:pt x="34705" y="70574"/>
                  <a:pt x="29294" y="72584"/>
                  <a:pt x="23656" y="72584"/>
                </a:cubicBezTo>
                <a:cubicBezTo>
                  <a:pt x="10596" y="72584"/>
                  <a:pt x="0" y="62003"/>
                  <a:pt x="0" y="48928"/>
                </a:cubicBezTo>
                <a:cubicBezTo>
                  <a:pt x="0" y="42656"/>
                  <a:pt x="2494" y="36640"/>
                  <a:pt x="6923" y="32211"/>
                </a:cubicBezTo>
                <a:lnTo>
                  <a:pt x="17670" y="21464"/>
                </a:lnTo>
                <a:cubicBezTo>
                  <a:pt x="22099" y="17035"/>
                  <a:pt x="28115" y="14541"/>
                  <a:pt x="34387" y="14541"/>
                </a:cubicBezTo>
                <a:cubicBezTo>
                  <a:pt x="47477" y="14541"/>
                  <a:pt x="58043" y="25212"/>
                  <a:pt x="58043" y="38257"/>
                </a:cubicBezTo>
                <a:cubicBezTo>
                  <a:pt x="58043" y="38453"/>
                  <a:pt x="58043" y="38650"/>
                  <a:pt x="58043" y="38846"/>
                </a:cubicBezTo>
                <a:cubicBezTo>
                  <a:pt x="57983" y="41522"/>
                  <a:pt x="55761" y="43623"/>
                  <a:pt x="53085" y="43562"/>
                </a:cubicBezTo>
                <a:cubicBezTo>
                  <a:pt x="50410" y="43502"/>
                  <a:pt x="48309" y="41280"/>
                  <a:pt x="48369" y="38605"/>
                </a:cubicBezTo>
                <a:cubicBezTo>
                  <a:pt x="48369" y="38484"/>
                  <a:pt x="48369" y="38378"/>
                  <a:pt x="48369" y="38257"/>
                </a:cubicBezTo>
                <a:cubicBezTo>
                  <a:pt x="48369" y="33163"/>
                  <a:pt x="45648" y="28689"/>
                  <a:pt x="41597" y="26225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6" name="Text 64"/>
          <p:cNvSpPr/>
          <p:nvPr/>
        </p:nvSpPr>
        <p:spPr>
          <a:xfrm>
            <a:off x="4481513" y="1561703"/>
            <a:ext cx="7912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patient_id (FK)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07384" y="174228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337274" y="1794867"/>
            <a:ext cx="87064" cy="77391"/>
          </a:xfrm>
          <a:custGeom>
            <a:avLst/>
            <a:gdLst/>
            <a:ahLst/>
            <a:cxnLst/>
            <a:rect l="l" t="t" r="r" b="b"/>
            <a:pathLst>
              <a:path w="87064" h="77391">
                <a:moveTo>
                  <a:pt x="63409" y="14511"/>
                </a:moveTo>
                <a:cubicBezTo>
                  <a:pt x="60900" y="14511"/>
                  <a:pt x="58466" y="15191"/>
                  <a:pt x="56335" y="16430"/>
                </a:cubicBezTo>
                <a:cubicBezTo>
                  <a:pt x="53947" y="14012"/>
                  <a:pt x="51165" y="11986"/>
                  <a:pt x="48097" y="10460"/>
                </a:cubicBezTo>
                <a:cubicBezTo>
                  <a:pt x="52360" y="6832"/>
                  <a:pt x="57786" y="4837"/>
                  <a:pt x="63409" y="4837"/>
                </a:cubicBezTo>
                <a:cubicBezTo>
                  <a:pt x="76469" y="4837"/>
                  <a:pt x="87064" y="15418"/>
                  <a:pt x="87064" y="28492"/>
                </a:cubicBezTo>
                <a:cubicBezTo>
                  <a:pt x="87064" y="34765"/>
                  <a:pt x="84570" y="40781"/>
                  <a:pt x="80142" y="45210"/>
                </a:cubicBezTo>
                <a:lnTo>
                  <a:pt x="69395" y="55957"/>
                </a:lnTo>
                <a:cubicBezTo>
                  <a:pt x="64966" y="60386"/>
                  <a:pt x="58950" y="62880"/>
                  <a:pt x="52677" y="62880"/>
                </a:cubicBezTo>
                <a:cubicBezTo>
                  <a:pt x="39617" y="62880"/>
                  <a:pt x="29021" y="52299"/>
                  <a:pt x="29021" y="39224"/>
                </a:cubicBezTo>
                <a:cubicBezTo>
                  <a:pt x="29021" y="38998"/>
                  <a:pt x="29021" y="38771"/>
                  <a:pt x="29037" y="38544"/>
                </a:cubicBezTo>
                <a:cubicBezTo>
                  <a:pt x="29112" y="35869"/>
                  <a:pt x="31334" y="33768"/>
                  <a:pt x="34010" y="33843"/>
                </a:cubicBezTo>
                <a:cubicBezTo>
                  <a:pt x="36685" y="33919"/>
                  <a:pt x="38786" y="36141"/>
                  <a:pt x="38710" y="38816"/>
                </a:cubicBezTo>
                <a:cubicBezTo>
                  <a:pt x="38710" y="38952"/>
                  <a:pt x="38710" y="39088"/>
                  <a:pt x="38710" y="39209"/>
                </a:cubicBezTo>
                <a:cubicBezTo>
                  <a:pt x="38710" y="46933"/>
                  <a:pt x="44968" y="53191"/>
                  <a:pt x="52692" y="53191"/>
                </a:cubicBezTo>
                <a:cubicBezTo>
                  <a:pt x="56395" y="53191"/>
                  <a:pt x="59948" y="51725"/>
                  <a:pt x="62578" y="49095"/>
                </a:cubicBezTo>
                <a:lnTo>
                  <a:pt x="73325" y="38348"/>
                </a:lnTo>
                <a:cubicBezTo>
                  <a:pt x="75940" y="35733"/>
                  <a:pt x="77421" y="32165"/>
                  <a:pt x="77421" y="28462"/>
                </a:cubicBezTo>
                <a:cubicBezTo>
                  <a:pt x="77421" y="20738"/>
                  <a:pt x="71163" y="14481"/>
                  <a:pt x="63439" y="14481"/>
                </a:cubicBezTo>
                <a:close/>
                <a:moveTo>
                  <a:pt x="41597" y="26195"/>
                </a:moveTo>
                <a:cubicBezTo>
                  <a:pt x="41310" y="26074"/>
                  <a:pt x="41023" y="25908"/>
                  <a:pt x="40766" y="25726"/>
                </a:cubicBezTo>
                <a:cubicBezTo>
                  <a:pt x="38862" y="24744"/>
                  <a:pt x="36685" y="24185"/>
                  <a:pt x="34403" y="24185"/>
                </a:cubicBezTo>
                <a:cubicBezTo>
                  <a:pt x="30699" y="24185"/>
                  <a:pt x="27147" y="25651"/>
                  <a:pt x="24517" y="28281"/>
                </a:cubicBezTo>
                <a:lnTo>
                  <a:pt x="13770" y="39028"/>
                </a:lnTo>
                <a:cubicBezTo>
                  <a:pt x="11155" y="41643"/>
                  <a:pt x="9674" y="45210"/>
                  <a:pt x="9674" y="48913"/>
                </a:cubicBezTo>
                <a:cubicBezTo>
                  <a:pt x="9674" y="56637"/>
                  <a:pt x="15932" y="62895"/>
                  <a:pt x="23656" y="62895"/>
                </a:cubicBezTo>
                <a:cubicBezTo>
                  <a:pt x="26150" y="62895"/>
                  <a:pt x="28583" y="62230"/>
                  <a:pt x="30714" y="60990"/>
                </a:cubicBezTo>
                <a:cubicBezTo>
                  <a:pt x="33103" y="63409"/>
                  <a:pt x="35884" y="65434"/>
                  <a:pt x="38967" y="66961"/>
                </a:cubicBezTo>
                <a:cubicBezTo>
                  <a:pt x="34705" y="70574"/>
                  <a:pt x="29294" y="72584"/>
                  <a:pt x="23656" y="72584"/>
                </a:cubicBezTo>
                <a:cubicBezTo>
                  <a:pt x="10596" y="72584"/>
                  <a:pt x="0" y="62003"/>
                  <a:pt x="0" y="48928"/>
                </a:cubicBezTo>
                <a:cubicBezTo>
                  <a:pt x="0" y="42656"/>
                  <a:pt x="2494" y="36640"/>
                  <a:pt x="6923" y="32211"/>
                </a:cubicBezTo>
                <a:lnTo>
                  <a:pt x="17670" y="21464"/>
                </a:lnTo>
                <a:cubicBezTo>
                  <a:pt x="22099" y="17035"/>
                  <a:pt x="28115" y="14541"/>
                  <a:pt x="34387" y="14541"/>
                </a:cubicBezTo>
                <a:cubicBezTo>
                  <a:pt x="47477" y="14541"/>
                  <a:pt x="58043" y="25212"/>
                  <a:pt x="58043" y="38257"/>
                </a:cubicBezTo>
                <a:cubicBezTo>
                  <a:pt x="58043" y="38453"/>
                  <a:pt x="58043" y="38650"/>
                  <a:pt x="58043" y="38846"/>
                </a:cubicBezTo>
                <a:cubicBezTo>
                  <a:pt x="57983" y="41522"/>
                  <a:pt x="55761" y="43623"/>
                  <a:pt x="53085" y="43562"/>
                </a:cubicBezTo>
                <a:cubicBezTo>
                  <a:pt x="50410" y="43502"/>
                  <a:pt x="48309" y="41280"/>
                  <a:pt x="48369" y="38605"/>
                </a:cubicBezTo>
                <a:cubicBezTo>
                  <a:pt x="48369" y="38484"/>
                  <a:pt x="48369" y="38378"/>
                  <a:pt x="48369" y="38257"/>
                </a:cubicBezTo>
                <a:cubicBezTo>
                  <a:pt x="48369" y="33163"/>
                  <a:pt x="45648" y="28689"/>
                  <a:pt x="41597" y="26225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9" name="Text 67"/>
          <p:cNvSpPr/>
          <p:nvPr/>
        </p:nvSpPr>
        <p:spPr>
          <a:xfrm>
            <a:off x="4481513" y="1768078"/>
            <a:ext cx="74364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clinic_id (FK)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307384" y="1948656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337274" y="2001242"/>
            <a:ext cx="87064" cy="77391"/>
          </a:xfrm>
          <a:custGeom>
            <a:avLst/>
            <a:gdLst/>
            <a:ahLst/>
            <a:cxnLst/>
            <a:rect l="l" t="t" r="r" b="b"/>
            <a:pathLst>
              <a:path w="87064" h="77391">
                <a:moveTo>
                  <a:pt x="63409" y="14511"/>
                </a:moveTo>
                <a:cubicBezTo>
                  <a:pt x="60900" y="14511"/>
                  <a:pt x="58466" y="15191"/>
                  <a:pt x="56335" y="16430"/>
                </a:cubicBezTo>
                <a:cubicBezTo>
                  <a:pt x="53947" y="14012"/>
                  <a:pt x="51165" y="11986"/>
                  <a:pt x="48097" y="10460"/>
                </a:cubicBezTo>
                <a:cubicBezTo>
                  <a:pt x="52360" y="6832"/>
                  <a:pt x="57786" y="4837"/>
                  <a:pt x="63409" y="4837"/>
                </a:cubicBezTo>
                <a:cubicBezTo>
                  <a:pt x="76469" y="4837"/>
                  <a:pt x="87064" y="15418"/>
                  <a:pt x="87064" y="28492"/>
                </a:cubicBezTo>
                <a:cubicBezTo>
                  <a:pt x="87064" y="34765"/>
                  <a:pt x="84570" y="40781"/>
                  <a:pt x="80142" y="45210"/>
                </a:cubicBezTo>
                <a:lnTo>
                  <a:pt x="69395" y="55957"/>
                </a:lnTo>
                <a:cubicBezTo>
                  <a:pt x="64966" y="60386"/>
                  <a:pt x="58950" y="62880"/>
                  <a:pt x="52677" y="62880"/>
                </a:cubicBezTo>
                <a:cubicBezTo>
                  <a:pt x="39617" y="62880"/>
                  <a:pt x="29021" y="52299"/>
                  <a:pt x="29021" y="39224"/>
                </a:cubicBezTo>
                <a:cubicBezTo>
                  <a:pt x="29021" y="38998"/>
                  <a:pt x="29021" y="38771"/>
                  <a:pt x="29037" y="38544"/>
                </a:cubicBezTo>
                <a:cubicBezTo>
                  <a:pt x="29112" y="35869"/>
                  <a:pt x="31334" y="33768"/>
                  <a:pt x="34010" y="33843"/>
                </a:cubicBezTo>
                <a:cubicBezTo>
                  <a:pt x="36685" y="33919"/>
                  <a:pt x="38786" y="36141"/>
                  <a:pt x="38710" y="38816"/>
                </a:cubicBezTo>
                <a:cubicBezTo>
                  <a:pt x="38710" y="38952"/>
                  <a:pt x="38710" y="39088"/>
                  <a:pt x="38710" y="39209"/>
                </a:cubicBezTo>
                <a:cubicBezTo>
                  <a:pt x="38710" y="46933"/>
                  <a:pt x="44968" y="53191"/>
                  <a:pt x="52692" y="53191"/>
                </a:cubicBezTo>
                <a:cubicBezTo>
                  <a:pt x="56395" y="53191"/>
                  <a:pt x="59948" y="51725"/>
                  <a:pt x="62578" y="49095"/>
                </a:cubicBezTo>
                <a:lnTo>
                  <a:pt x="73325" y="38348"/>
                </a:lnTo>
                <a:cubicBezTo>
                  <a:pt x="75940" y="35733"/>
                  <a:pt x="77421" y="32165"/>
                  <a:pt x="77421" y="28462"/>
                </a:cubicBezTo>
                <a:cubicBezTo>
                  <a:pt x="77421" y="20738"/>
                  <a:pt x="71163" y="14481"/>
                  <a:pt x="63439" y="14481"/>
                </a:cubicBezTo>
                <a:close/>
                <a:moveTo>
                  <a:pt x="41597" y="26195"/>
                </a:moveTo>
                <a:cubicBezTo>
                  <a:pt x="41310" y="26074"/>
                  <a:pt x="41023" y="25908"/>
                  <a:pt x="40766" y="25726"/>
                </a:cubicBezTo>
                <a:cubicBezTo>
                  <a:pt x="38862" y="24744"/>
                  <a:pt x="36685" y="24185"/>
                  <a:pt x="34403" y="24185"/>
                </a:cubicBezTo>
                <a:cubicBezTo>
                  <a:pt x="30699" y="24185"/>
                  <a:pt x="27147" y="25651"/>
                  <a:pt x="24517" y="28281"/>
                </a:cubicBezTo>
                <a:lnTo>
                  <a:pt x="13770" y="39028"/>
                </a:lnTo>
                <a:cubicBezTo>
                  <a:pt x="11155" y="41643"/>
                  <a:pt x="9674" y="45210"/>
                  <a:pt x="9674" y="48913"/>
                </a:cubicBezTo>
                <a:cubicBezTo>
                  <a:pt x="9674" y="56637"/>
                  <a:pt x="15932" y="62895"/>
                  <a:pt x="23656" y="62895"/>
                </a:cubicBezTo>
                <a:cubicBezTo>
                  <a:pt x="26150" y="62895"/>
                  <a:pt x="28583" y="62230"/>
                  <a:pt x="30714" y="60990"/>
                </a:cubicBezTo>
                <a:cubicBezTo>
                  <a:pt x="33103" y="63409"/>
                  <a:pt x="35884" y="65434"/>
                  <a:pt x="38967" y="66961"/>
                </a:cubicBezTo>
                <a:cubicBezTo>
                  <a:pt x="34705" y="70574"/>
                  <a:pt x="29294" y="72584"/>
                  <a:pt x="23656" y="72584"/>
                </a:cubicBezTo>
                <a:cubicBezTo>
                  <a:pt x="10596" y="72584"/>
                  <a:pt x="0" y="62003"/>
                  <a:pt x="0" y="48928"/>
                </a:cubicBezTo>
                <a:cubicBezTo>
                  <a:pt x="0" y="42656"/>
                  <a:pt x="2494" y="36640"/>
                  <a:pt x="6923" y="32211"/>
                </a:cubicBezTo>
                <a:lnTo>
                  <a:pt x="17670" y="21464"/>
                </a:lnTo>
                <a:cubicBezTo>
                  <a:pt x="22099" y="17035"/>
                  <a:pt x="28115" y="14541"/>
                  <a:pt x="34387" y="14541"/>
                </a:cubicBezTo>
                <a:cubicBezTo>
                  <a:pt x="47477" y="14541"/>
                  <a:pt x="58043" y="25212"/>
                  <a:pt x="58043" y="38257"/>
                </a:cubicBezTo>
                <a:cubicBezTo>
                  <a:pt x="58043" y="38453"/>
                  <a:pt x="58043" y="38650"/>
                  <a:pt x="58043" y="38846"/>
                </a:cubicBezTo>
                <a:cubicBezTo>
                  <a:pt x="57983" y="41522"/>
                  <a:pt x="55761" y="43623"/>
                  <a:pt x="53085" y="43562"/>
                </a:cubicBezTo>
                <a:cubicBezTo>
                  <a:pt x="50410" y="43502"/>
                  <a:pt x="48309" y="41280"/>
                  <a:pt x="48369" y="38605"/>
                </a:cubicBezTo>
                <a:cubicBezTo>
                  <a:pt x="48369" y="38484"/>
                  <a:pt x="48369" y="38378"/>
                  <a:pt x="48369" y="38257"/>
                </a:cubicBezTo>
                <a:cubicBezTo>
                  <a:pt x="48369" y="33163"/>
                  <a:pt x="45648" y="28689"/>
                  <a:pt x="41597" y="26225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72" name="Text 70"/>
          <p:cNvSpPr/>
          <p:nvPr/>
        </p:nvSpPr>
        <p:spPr>
          <a:xfrm>
            <a:off x="4481513" y="1974453"/>
            <a:ext cx="8865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physician_id (FK)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341118" y="22215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74" name="Text 72"/>
          <p:cNvSpPr/>
          <p:nvPr/>
        </p:nvSpPr>
        <p:spPr>
          <a:xfrm>
            <a:off x="4444306" y="2180828"/>
            <a:ext cx="545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visit_date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341118" y="24278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76" name="Text 74"/>
          <p:cNvSpPr/>
          <p:nvPr/>
        </p:nvSpPr>
        <p:spPr>
          <a:xfrm>
            <a:off x="4444306" y="2387203"/>
            <a:ext cx="7912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chief_complaint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4341118" y="26342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78" name="Text 76"/>
          <p:cNvSpPr/>
          <p:nvPr/>
        </p:nvSpPr>
        <p:spPr>
          <a:xfrm>
            <a:off x="4444306" y="2593578"/>
            <a:ext cx="4420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symptoms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4341118" y="28406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80" name="Text 78"/>
          <p:cNvSpPr/>
          <p:nvPr/>
        </p:nvSpPr>
        <p:spPr>
          <a:xfrm>
            <a:off x="4444306" y="2799953"/>
            <a:ext cx="942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vital_signs (JSON)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341118" y="30470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82" name="Text 80"/>
          <p:cNvSpPr/>
          <p:nvPr/>
        </p:nvSpPr>
        <p:spPr>
          <a:xfrm>
            <a:off x="4444306" y="3006328"/>
            <a:ext cx="291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notes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4341118" y="32533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84" name="Text 82"/>
          <p:cNvSpPr/>
          <p:nvPr/>
        </p:nvSpPr>
        <p:spPr>
          <a:xfrm>
            <a:off x="4444306" y="3212703"/>
            <a:ext cx="545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visit_type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4341118" y="34597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86" name="Text 84"/>
          <p:cNvSpPr/>
          <p:nvPr/>
        </p:nvSpPr>
        <p:spPr>
          <a:xfrm>
            <a:off x="4444306" y="3419078"/>
            <a:ext cx="3467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status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4204196" y="4224734"/>
            <a:ext cx="3786188" cy="3230563"/>
          </a:xfrm>
          <a:custGeom>
            <a:avLst/>
            <a:gdLst/>
            <a:ahLst/>
            <a:cxnLst/>
            <a:rect l="l" t="t" r="r" b="b"/>
            <a:pathLst>
              <a:path w="3786188" h="3230563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8970"/>
                </a:lnTo>
                <a:cubicBezTo>
                  <a:pt x="3786188" y="3207464"/>
                  <a:pt x="3763089" y="3230563"/>
                  <a:pt x="3734595" y="3230562"/>
                </a:cubicBezTo>
                <a:lnTo>
                  <a:pt x="51592" y="3230563"/>
                </a:lnTo>
                <a:cubicBezTo>
                  <a:pt x="23099" y="3230562"/>
                  <a:pt x="0" y="3207464"/>
                  <a:pt x="0" y="317897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4204196" y="4224734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89" name="Shape 87"/>
          <p:cNvSpPr/>
          <p:nvPr/>
        </p:nvSpPr>
        <p:spPr>
          <a:xfrm>
            <a:off x="4307384" y="4343797"/>
            <a:ext cx="261937" cy="261937"/>
          </a:xfrm>
          <a:custGeom>
            <a:avLst/>
            <a:gdLst/>
            <a:ahLst/>
            <a:cxnLst/>
            <a:rect l="l" t="t" r="r" b="b"/>
            <a:pathLst>
              <a:path w="261937" h="261937">
                <a:moveTo>
                  <a:pt x="51594" y="0"/>
                </a:moveTo>
                <a:lnTo>
                  <a:pt x="210344" y="0"/>
                </a:lnTo>
                <a:cubicBezTo>
                  <a:pt x="238838" y="0"/>
                  <a:pt x="261937" y="23099"/>
                  <a:pt x="261937" y="51594"/>
                </a:cubicBezTo>
                <a:lnTo>
                  <a:pt x="261937" y="210344"/>
                </a:lnTo>
                <a:cubicBezTo>
                  <a:pt x="261937" y="238838"/>
                  <a:pt x="238838" y="261937"/>
                  <a:pt x="210344" y="261937"/>
                </a:cubicBezTo>
                <a:lnTo>
                  <a:pt x="51594" y="261937"/>
                </a:lnTo>
                <a:cubicBezTo>
                  <a:pt x="23099" y="261937"/>
                  <a:pt x="0" y="238838"/>
                  <a:pt x="0" y="210344"/>
                </a:cubicBezTo>
                <a:lnTo>
                  <a:pt x="0" y="51594"/>
                </a:lnTo>
                <a:cubicBezTo>
                  <a:pt x="0" y="23118"/>
                  <a:pt x="23118" y="0"/>
                  <a:pt x="51594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90" name="Text 88"/>
          <p:cNvSpPr/>
          <p:nvPr/>
        </p:nvSpPr>
        <p:spPr>
          <a:xfrm>
            <a:off x="4281587" y="4343797"/>
            <a:ext cx="31353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4642743" y="4382492"/>
            <a:ext cx="62805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Diagnosis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4307384" y="4679156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342110" y="4731742"/>
            <a:ext cx="77391" cy="77391"/>
          </a:xfrm>
          <a:custGeom>
            <a:avLst/>
            <a:gdLst/>
            <a:ahLst/>
            <a:cxnLst/>
            <a:rect l="l" t="t" r="r" b="b"/>
            <a:pathLst>
              <a:path w="77391" h="77391">
                <a:moveTo>
                  <a:pt x="50788" y="53206"/>
                </a:moveTo>
                <a:cubicBezTo>
                  <a:pt x="65480" y="53206"/>
                  <a:pt x="77391" y="41295"/>
                  <a:pt x="77391" y="26603"/>
                </a:cubicBezTo>
                <a:cubicBezTo>
                  <a:pt x="77391" y="11911"/>
                  <a:pt x="65480" y="0"/>
                  <a:pt x="50788" y="0"/>
                </a:cubicBezTo>
                <a:cubicBezTo>
                  <a:pt x="36095" y="0"/>
                  <a:pt x="24185" y="11911"/>
                  <a:pt x="24185" y="26603"/>
                </a:cubicBezTo>
                <a:cubicBezTo>
                  <a:pt x="24185" y="29430"/>
                  <a:pt x="24623" y="32165"/>
                  <a:pt x="25439" y="34720"/>
                </a:cubicBezTo>
                <a:lnTo>
                  <a:pt x="1058" y="59101"/>
                </a:lnTo>
                <a:cubicBezTo>
                  <a:pt x="378" y="59781"/>
                  <a:pt x="0" y="60703"/>
                  <a:pt x="0" y="61671"/>
                </a:cubicBezTo>
                <a:lnTo>
                  <a:pt x="0" y="73763"/>
                </a:lnTo>
                <a:cubicBezTo>
                  <a:pt x="0" y="75773"/>
                  <a:pt x="1617" y="77391"/>
                  <a:pt x="3628" y="77391"/>
                </a:cubicBezTo>
                <a:lnTo>
                  <a:pt x="15720" y="77391"/>
                </a:lnTo>
                <a:cubicBezTo>
                  <a:pt x="17730" y="77391"/>
                  <a:pt x="19348" y="75773"/>
                  <a:pt x="19348" y="73763"/>
                </a:cubicBezTo>
                <a:lnTo>
                  <a:pt x="19348" y="67717"/>
                </a:lnTo>
                <a:lnTo>
                  <a:pt x="25394" y="67717"/>
                </a:lnTo>
                <a:cubicBezTo>
                  <a:pt x="27404" y="67717"/>
                  <a:pt x="29021" y="66099"/>
                  <a:pt x="29021" y="64089"/>
                </a:cubicBezTo>
                <a:lnTo>
                  <a:pt x="29021" y="58043"/>
                </a:lnTo>
                <a:lnTo>
                  <a:pt x="35068" y="58043"/>
                </a:lnTo>
                <a:cubicBezTo>
                  <a:pt x="36035" y="58043"/>
                  <a:pt x="36957" y="57665"/>
                  <a:pt x="37637" y="56985"/>
                </a:cubicBezTo>
                <a:lnTo>
                  <a:pt x="42671" y="51951"/>
                </a:lnTo>
                <a:cubicBezTo>
                  <a:pt x="45225" y="52768"/>
                  <a:pt x="47961" y="53206"/>
                  <a:pt x="50788" y="53206"/>
                </a:cubicBezTo>
                <a:close/>
                <a:moveTo>
                  <a:pt x="56834" y="14511"/>
                </a:moveTo>
                <a:cubicBezTo>
                  <a:pt x="60171" y="14511"/>
                  <a:pt x="62880" y="17220"/>
                  <a:pt x="62880" y="20557"/>
                </a:cubicBezTo>
                <a:cubicBezTo>
                  <a:pt x="62880" y="23894"/>
                  <a:pt x="60171" y="26603"/>
                  <a:pt x="56834" y="26603"/>
                </a:cubicBezTo>
                <a:cubicBezTo>
                  <a:pt x="53497" y="26603"/>
                  <a:pt x="50788" y="23894"/>
                  <a:pt x="50788" y="20557"/>
                </a:cubicBezTo>
                <a:cubicBezTo>
                  <a:pt x="50788" y="17220"/>
                  <a:pt x="53497" y="14511"/>
                  <a:pt x="56834" y="1451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4" name="Text 92"/>
          <p:cNvSpPr/>
          <p:nvPr/>
        </p:nvSpPr>
        <p:spPr>
          <a:xfrm>
            <a:off x="4481513" y="4704953"/>
            <a:ext cx="8865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diagnosis_id (PK)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4307384" y="488553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2C5F7C">
              <a:alpha val="10196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337274" y="4938117"/>
            <a:ext cx="87064" cy="77391"/>
          </a:xfrm>
          <a:custGeom>
            <a:avLst/>
            <a:gdLst/>
            <a:ahLst/>
            <a:cxnLst/>
            <a:rect l="l" t="t" r="r" b="b"/>
            <a:pathLst>
              <a:path w="87064" h="77391">
                <a:moveTo>
                  <a:pt x="63409" y="14511"/>
                </a:moveTo>
                <a:cubicBezTo>
                  <a:pt x="60900" y="14511"/>
                  <a:pt x="58466" y="15191"/>
                  <a:pt x="56335" y="16430"/>
                </a:cubicBezTo>
                <a:cubicBezTo>
                  <a:pt x="53947" y="14012"/>
                  <a:pt x="51165" y="11986"/>
                  <a:pt x="48097" y="10460"/>
                </a:cubicBezTo>
                <a:cubicBezTo>
                  <a:pt x="52360" y="6832"/>
                  <a:pt x="57786" y="4837"/>
                  <a:pt x="63409" y="4837"/>
                </a:cubicBezTo>
                <a:cubicBezTo>
                  <a:pt x="76469" y="4837"/>
                  <a:pt x="87064" y="15418"/>
                  <a:pt x="87064" y="28492"/>
                </a:cubicBezTo>
                <a:cubicBezTo>
                  <a:pt x="87064" y="34765"/>
                  <a:pt x="84570" y="40781"/>
                  <a:pt x="80142" y="45210"/>
                </a:cubicBezTo>
                <a:lnTo>
                  <a:pt x="69395" y="55957"/>
                </a:lnTo>
                <a:cubicBezTo>
                  <a:pt x="64966" y="60386"/>
                  <a:pt x="58950" y="62880"/>
                  <a:pt x="52677" y="62880"/>
                </a:cubicBezTo>
                <a:cubicBezTo>
                  <a:pt x="39617" y="62880"/>
                  <a:pt x="29021" y="52299"/>
                  <a:pt x="29021" y="39224"/>
                </a:cubicBezTo>
                <a:cubicBezTo>
                  <a:pt x="29021" y="38998"/>
                  <a:pt x="29021" y="38771"/>
                  <a:pt x="29037" y="38544"/>
                </a:cubicBezTo>
                <a:cubicBezTo>
                  <a:pt x="29112" y="35869"/>
                  <a:pt x="31334" y="33768"/>
                  <a:pt x="34010" y="33843"/>
                </a:cubicBezTo>
                <a:cubicBezTo>
                  <a:pt x="36685" y="33919"/>
                  <a:pt x="38786" y="36141"/>
                  <a:pt x="38710" y="38816"/>
                </a:cubicBezTo>
                <a:cubicBezTo>
                  <a:pt x="38710" y="38952"/>
                  <a:pt x="38710" y="39088"/>
                  <a:pt x="38710" y="39209"/>
                </a:cubicBezTo>
                <a:cubicBezTo>
                  <a:pt x="38710" y="46933"/>
                  <a:pt x="44968" y="53191"/>
                  <a:pt x="52692" y="53191"/>
                </a:cubicBezTo>
                <a:cubicBezTo>
                  <a:pt x="56395" y="53191"/>
                  <a:pt x="59948" y="51725"/>
                  <a:pt x="62578" y="49095"/>
                </a:cubicBezTo>
                <a:lnTo>
                  <a:pt x="73325" y="38348"/>
                </a:lnTo>
                <a:cubicBezTo>
                  <a:pt x="75940" y="35733"/>
                  <a:pt x="77421" y="32165"/>
                  <a:pt x="77421" y="28462"/>
                </a:cubicBezTo>
                <a:cubicBezTo>
                  <a:pt x="77421" y="20738"/>
                  <a:pt x="71163" y="14481"/>
                  <a:pt x="63439" y="14481"/>
                </a:cubicBezTo>
                <a:close/>
                <a:moveTo>
                  <a:pt x="41597" y="26195"/>
                </a:moveTo>
                <a:cubicBezTo>
                  <a:pt x="41310" y="26074"/>
                  <a:pt x="41023" y="25908"/>
                  <a:pt x="40766" y="25726"/>
                </a:cubicBezTo>
                <a:cubicBezTo>
                  <a:pt x="38862" y="24744"/>
                  <a:pt x="36685" y="24185"/>
                  <a:pt x="34403" y="24185"/>
                </a:cubicBezTo>
                <a:cubicBezTo>
                  <a:pt x="30699" y="24185"/>
                  <a:pt x="27147" y="25651"/>
                  <a:pt x="24517" y="28281"/>
                </a:cubicBezTo>
                <a:lnTo>
                  <a:pt x="13770" y="39028"/>
                </a:lnTo>
                <a:cubicBezTo>
                  <a:pt x="11155" y="41643"/>
                  <a:pt x="9674" y="45210"/>
                  <a:pt x="9674" y="48913"/>
                </a:cubicBezTo>
                <a:cubicBezTo>
                  <a:pt x="9674" y="56637"/>
                  <a:pt x="15932" y="62895"/>
                  <a:pt x="23656" y="62895"/>
                </a:cubicBezTo>
                <a:cubicBezTo>
                  <a:pt x="26150" y="62895"/>
                  <a:pt x="28583" y="62230"/>
                  <a:pt x="30714" y="60990"/>
                </a:cubicBezTo>
                <a:cubicBezTo>
                  <a:pt x="33103" y="63409"/>
                  <a:pt x="35884" y="65434"/>
                  <a:pt x="38967" y="66961"/>
                </a:cubicBezTo>
                <a:cubicBezTo>
                  <a:pt x="34705" y="70574"/>
                  <a:pt x="29294" y="72584"/>
                  <a:pt x="23656" y="72584"/>
                </a:cubicBezTo>
                <a:cubicBezTo>
                  <a:pt x="10596" y="72584"/>
                  <a:pt x="0" y="62003"/>
                  <a:pt x="0" y="48928"/>
                </a:cubicBezTo>
                <a:cubicBezTo>
                  <a:pt x="0" y="42656"/>
                  <a:pt x="2494" y="36640"/>
                  <a:pt x="6923" y="32211"/>
                </a:cubicBezTo>
                <a:lnTo>
                  <a:pt x="17670" y="21464"/>
                </a:lnTo>
                <a:cubicBezTo>
                  <a:pt x="22099" y="17035"/>
                  <a:pt x="28115" y="14541"/>
                  <a:pt x="34387" y="14541"/>
                </a:cubicBezTo>
                <a:cubicBezTo>
                  <a:pt x="47477" y="14541"/>
                  <a:pt x="58043" y="25212"/>
                  <a:pt x="58043" y="38257"/>
                </a:cubicBezTo>
                <a:cubicBezTo>
                  <a:pt x="58043" y="38453"/>
                  <a:pt x="58043" y="38650"/>
                  <a:pt x="58043" y="38846"/>
                </a:cubicBezTo>
                <a:cubicBezTo>
                  <a:pt x="57983" y="41522"/>
                  <a:pt x="55761" y="43623"/>
                  <a:pt x="53085" y="43562"/>
                </a:cubicBezTo>
                <a:cubicBezTo>
                  <a:pt x="50410" y="43502"/>
                  <a:pt x="48309" y="41280"/>
                  <a:pt x="48369" y="38605"/>
                </a:cubicBezTo>
                <a:cubicBezTo>
                  <a:pt x="48369" y="38484"/>
                  <a:pt x="48369" y="38378"/>
                  <a:pt x="48369" y="38257"/>
                </a:cubicBezTo>
                <a:cubicBezTo>
                  <a:pt x="48369" y="33163"/>
                  <a:pt x="45648" y="28689"/>
                  <a:pt x="41597" y="26225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97" name="Text 95"/>
          <p:cNvSpPr/>
          <p:nvPr/>
        </p:nvSpPr>
        <p:spPr>
          <a:xfrm>
            <a:off x="4481513" y="4911328"/>
            <a:ext cx="688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visit_id (FK)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4341118" y="51583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99" name="Text 97"/>
          <p:cNvSpPr/>
          <p:nvPr/>
        </p:nvSpPr>
        <p:spPr>
          <a:xfrm>
            <a:off x="4444306" y="5117703"/>
            <a:ext cx="4420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icd_code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4341118" y="53647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01" name="Text 99"/>
          <p:cNvSpPr/>
          <p:nvPr/>
        </p:nvSpPr>
        <p:spPr>
          <a:xfrm>
            <a:off x="4444306" y="5324078"/>
            <a:ext cx="59283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4341118" y="55711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03" name="Text 101"/>
          <p:cNvSpPr/>
          <p:nvPr/>
        </p:nvSpPr>
        <p:spPr>
          <a:xfrm>
            <a:off x="4444306" y="5530453"/>
            <a:ext cx="4420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severity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4341118" y="57775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05" name="Text 103"/>
          <p:cNvSpPr/>
          <p:nvPr/>
        </p:nvSpPr>
        <p:spPr>
          <a:xfrm>
            <a:off x="4444306" y="5736828"/>
            <a:ext cx="545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onset_date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4341118" y="59838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07" name="Text 105"/>
          <p:cNvSpPr/>
          <p:nvPr/>
        </p:nvSpPr>
        <p:spPr>
          <a:xfrm>
            <a:off x="4444306" y="5943203"/>
            <a:ext cx="3467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status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4341118" y="61902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09" name="Text 107"/>
          <p:cNvSpPr/>
          <p:nvPr/>
        </p:nvSpPr>
        <p:spPr>
          <a:xfrm>
            <a:off x="4444306" y="6149578"/>
            <a:ext cx="291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notes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8090892" y="875109"/>
            <a:ext cx="3786188" cy="2389188"/>
          </a:xfrm>
          <a:custGeom>
            <a:avLst/>
            <a:gdLst/>
            <a:ahLst/>
            <a:cxnLst/>
            <a:rect l="l" t="t" r="r" b="b"/>
            <a:pathLst>
              <a:path w="3786188" h="2389188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2337605"/>
                </a:lnTo>
                <a:cubicBezTo>
                  <a:pt x="3786188" y="2366093"/>
                  <a:pt x="3763093" y="2389187"/>
                  <a:pt x="3734605" y="2389188"/>
                </a:cubicBezTo>
                <a:lnTo>
                  <a:pt x="51583" y="2389188"/>
                </a:lnTo>
                <a:cubicBezTo>
                  <a:pt x="23094" y="2389188"/>
                  <a:pt x="0" y="2366093"/>
                  <a:pt x="0" y="233760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8090892" y="875109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194080" y="994172"/>
            <a:ext cx="261937" cy="261937"/>
          </a:xfrm>
          <a:custGeom>
            <a:avLst/>
            <a:gdLst/>
            <a:ahLst/>
            <a:cxnLst/>
            <a:rect l="l" t="t" r="r" b="b"/>
            <a:pathLst>
              <a:path w="261937" h="261937">
                <a:moveTo>
                  <a:pt x="51594" y="0"/>
                </a:moveTo>
                <a:lnTo>
                  <a:pt x="210344" y="0"/>
                </a:lnTo>
                <a:cubicBezTo>
                  <a:pt x="238838" y="0"/>
                  <a:pt x="261937" y="23099"/>
                  <a:pt x="261937" y="51594"/>
                </a:cubicBezTo>
                <a:lnTo>
                  <a:pt x="261937" y="210344"/>
                </a:lnTo>
                <a:cubicBezTo>
                  <a:pt x="261937" y="238838"/>
                  <a:pt x="238838" y="261937"/>
                  <a:pt x="210344" y="261937"/>
                </a:cubicBezTo>
                <a:lnTo>
                  <a:pt x="51594" y="261937"/>
                </a:lnTo>
                <a:cubicBezTo>
                  <a:pt x="23099" y="261937"/>
                  <a:pt x="0" y="238838"/>
                  <a:pt x="0" y="210344"/>
                </a:cubicBezTo>
                <a:lnTo>
                  <a:pt x="0" y="51594"/>
                </a:lnTo>
                <a:cubicBezTo>
                  <a:pt x="0" y="23118"/>
                  <a:pt x="23118" y="0"/>
                  <a:pt x="51594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13" name="Text 111"/>
          <p:cNvSpPr/>
          <p:nvPr/>
        </p:nvSpPr>
        <p:spPr>
          <a:xfrm>
            <a:off x="8171508" y="994172"/>
            <a:ext cx="30708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Rx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8529440" y="1032867"/>
            <a:ext cx="75505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</a:t>
            </a:r>
            <a:endParaRPr lang="en-US" sz="1600" dirty="0"/>
          </a:p>
        </p:txBody>
      </p:sp>
      <p:sp>
        <p:nvSpPr>
          <p:cNvPr id="115" name="Shape 113"/>
          <p:cNvSpPr/>
          <p:nvPr/>
        </p:nvSpPr>
        <p:spPr>
          <a:xfrm>
            <a:off x="8194080" y="132953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8228807" y="1382117"/>
            <a:ext cx="77391" cy="77391"/>
          </a:xfrm>
          <a:custGeom>
            <a:avLst/>
            <a:gdLst/>
            <a:ahLst/>
            <a:cxnLst/>
            <a:rect l="l" t="t" r="r" b="b"/>
            <a:pathLst>
              <a:path w="77391" h="77391">
                <a:moveTo>
                  <a:pt x="50788" y="53206"/>
                </a:moveTo>
                <a:cubicBezTo>
                  <a:pt x="65480" y="53206"/>
                  <a:pt x="77391" y="41295"/>
                  <a:pt x="77391" y="26603"/>
                </a:cubicBezTo>
                <a:cubicBezTo>
                  <a:pt x="77391" y="11911"/>
                  <a:pt x="65480" y="0"/>
                  <a:pt x="50788" y="0"/>
                </a:cubicBezTo>
                <a:cubicBezTo>
                  <a:pt x="36095" y="0"/>
                  <a:pt x="24185" y="11911"/>
                  <a:pt x="24185" y="26603"/>
                </a:cubicBezTo>
                <a:cubicBezTo>
                  <a:pt x="24185" y="29430"/>
                  <a:pt x="24623" y="32165"/>
                  <a:pt x="25439" y="34720"/>
                </a:cubicBezTo>
                <a:lnTo>
                  <a:pt x="1058" y="59101"/>
                </a:lnTo>
                <a:cubicBezTo>
                  <a:pt x="378" y="59781"/>
                  <a:pt x="0" y="60703"/>
                  <a:pt x="0" y="61671"/>
                </a:cubicBezTo>
                <a:lnTo>
                  <a:pt x="0" y="73763"/>
                </a:lnTo>
                <a:cubicBezTo>
                  <a:pt x="0" y="75773"/>
                  <a:pt x="1617" y="77391"/>
                  <a:pt x="3628" y="77391"/>
                </a:cubicBezTo>
                <a:lnTo>
                  <a:pt x="15720" y="77391"/>
                </a:lnTo>
                <a:cubicBezTo>
                  <a:pt x="17730" y="77391"/>
                  <a:pt x="19348" y="75773"/>
                  <a:pt x="19348" y="73763"/>
                </a:cubicBezTo>
                <a:lnTo>
                  <a:pt x="19348" y="67717"/>
                </a:lnTo>
                <a:lnTo>
                  <a:pt x="25394" y="67717"/>
                </a:lnTo>
                <a:cubicBezTo>
                  <a:pt x="27404" y="67717"/>
                  <a:pt x="29021" y="66099"/>
                  <a:pt x="29021" y="64089"/>
                </a:cubicBezTo>
                <a:lnTo>
                  <a:pt x="29021" y="58043"/>
                </a:lnTo>
                <a:lnTo>
                  <a:pt x="35068" y="58043"/>
                </a:lnTo>
                <a:cubicBezTo>
                  <a:pt x="36035" y="58043"/>
                  <a:pt x="36957" y="57665"/>
                  <a:pt x="37637" y="56985"/>
                </a:cubicBezTo>
                <a:lnTo>
                  <a:pt x="42671" y="51951"/>
                </a:lnTo>
                <a:cubicBezTo>
                  <a:pt x="45225" y="52768"/>
                  <a:pt x="47961" y="53206"/>
                  <a:pt x="50788" y="53206"/>
                </a:cubicBezTo>
                <a:close/>
                <a:moveTo>
                  <a:pt x="56834" y="14511"/>
                </a:moveTo>
                <a:cubicBezTo>
                  <a:pt x="60171" y="14511"/>
                  <a:pt x="62880" y="17220"/>
                  <a:pt x="62880" y="20557"/>
                </a:cubicBezTo>
                <a:cubicBezTo>
                  <a:pt x="62880" y="23894"/>
                  <a:pt x="60171" y="26603"/>
                  <a:pt x="56834" y="26603"/>
                </a:cubicBezTo>
                <a:cubicBezTo>
                  <a:pt x="53497" y="26603"/>
                  <a:pt x="50788" y="23894"/>
                  <a:pt x="50788" y="20557"/>
                </a:cubicBezTo>
                <a:cubicBezTo>
                  <a:pt x="50788" y="17220"/>
                  <a:pt x="53497" y="14511"/>
                  <a:pt x="56834" y="1451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7" name="Text 115"/>
          <p:cNvSpPr/>
          <p:nvPr/>
        </p:nvSpPr>
        <p:spPr>
          <a:xfrm>
            <a:off x="8368209" y="1355328"/>
            <a:ext cx="103733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prescription_id (PK)</a:t>
            </a:r>
            <a:endParaRPr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8194080" y="1535906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5A8A9F">
              <a:alpha val="10196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8223970" y="1588492"/>
            <a:ext cx="87064" cy="77391"/>
          </a:xfrm>
          <a:custGeom>
            <a:avLst/>
            <a:gdLst/>
            <a:ahLst/>
            <a:cxnLst/>
            <a:rect l="l" t="t" r="r" b="b"/>
            <a:pathLst>
              <a:path w="87064" h="77391">
                <a:moveTo>
                  <a:pt x="63409" y="14511"/>
                </a:moveTo>
                <a:cubicBezTo>
                  <a:pt x="60900" y="14511"/>
                  <a:pt x="58466" y="15191"/>
                  <a:pt x="56335" y="16430"/>
                </a:cubicBezTo>
                <a:cubicBezTo>
                  <a:pt x="53947" y="14012"/>
                  <a:pt x="51165" y="11986"/>
                  <a:pt x="48097" y="10460"/>
                </a:cubicBezTo>
                <a:cubicBezTo>
                  <a:pt x="52360" y="6832"/>
                  <a:pt x="57786" y="4837"/>
                  <a:pt x="63409" y="4837"/>
                </a:cubicBezTo>
                <a:cubicBezTo>
                  <a:pt x="76469" y="4837"/>
                  <a:pt x="87064" y="15418"/>
                  <a:pt x="87064" y="28492"/>
                </a:cubicBezTo>
                <a:cubicBezTo>
                  <a:pt x="87064" y="34765"/>
                  <a:pt x="84570" y="40781"/>
                  <a:pt x="80142" y="45210"/>
                </a:cubicBezTo>
                <a:lnTo>
                  <a:pt x="69395" y="55957"/>
                </a:lnTo>
                <a:cubicBezTo>
                  <a:pt x="64966" y="60386"/>
                  <a:pt x="58950" y="62880"/>
                  <a:pt x="52677" y="62880"/>
                </a:cubicBezTo>
                <a:cubicBezTo>
                  <a:pt x="39617" y="62880"/>
                  <a:pt x="29021" y="52299"/>
                  <a:pt x="29021" y="39224"/>
                </a:cubicBezTo>
                <a:cubicBezTo>
                  <a:pt x="29021" y="38998"/>
                  <a:pt x="29021" y="38771"/>
                  <a:pt x="29037" y="38544"/>
                </a:cubicBezTo>
                <a:cubicBezTo>
                  <a:pt x="29112" y="35869"/>
                  <a:pt x="31334" y="33768"/>
                  <a:pt x="34010" y="33843"/>
                </a:cubicBezTo>
                <a:cubicBezTo>
                  <a:pt x="36685" y="33919"/>
                  <a:pt x="38786" y="36141"/>
                  <a:pt x="38710" y="38816"/>
                </a:cubicBezTo>
                <a:cubicBezTo>
                  <a:pt x="38710" y="38952"/>
                  <a:pt x="38710" y="39088"/>
                  <a:pt x="38710" y="39209"/>
                </a:cubicBezTo>
                <a:cubicBezTo>
                  <a:pt x="38710" y="46933"/>
                  <a:pt x="44968" y="53191"/>
                  <a:pt x="52692" y="53191"/>
                </a:cubicBezTo>
                <a:cubicBezTo>
                  <a:pt x="56395" y="53191"/>
                  <a:pt x="59948" y="51725"/>
                  <a:pt x="62578" y="49095"/>
                </a:cubicBezTo>
                <a:lnTo>
                  <a:pt x="73325" y="38348"/>
                </a:lnTo>
                <a:cubicBezTo>
                  <a:pt x="75940" y="35733"/>
                  <a:pt x="77421" y="32165"/>
                  <a:pt x="77421" y="28462"/>
                </a:cubicBezTo>
                <a:cubicBezTo>
                  <a:pt x="77421" y="20738"/>
                  <a:pt x="71163" y="14481"/>
                  <a:pt x="63439" y="14481"/>
                </a:cubicBezTo>
                <a:close/>
                <a:moveTo>
                  <a:pt x="41597" y="26195"/>
                </a:moveTo>
                <a:cubicBezTo>
                  <a:pt x="41310" y="26074"/>
                  <a:pt x="41023" y="25908"/>
                  <a:pt x="40766" y="25726"/>
                </a:cubicBezTo>
                <a:cubicBezTo>
                  <a:pt x="38862" y="24744"/>
                  <a:pt x="36685" y="24185"/>
                  <a:pt x="34403" y="24185"/>
                </a:cubicBezTo>
                <a:cubicBezTo>
                  <a:pt x="30699" y="24185"/>
                  <a:pt x="27147" y="25651"/>
                  <a:pt x="24517" y="28281"/>
                </a:cubicBezTo>
                <a:lnTo>
                  <a:pt x="13770" y="39028"/>
                </a:lnTo>
                <a:cubicBezTo>
                  <a:pt x="11155" y="41643"/>
                  <a:pt x="9674" y="45210"/>
                  <a:pt x="9674" y="48913"/>
                </a:cubicBezTo>
                <a:cubicBezTo>
                  <a:pt x="9674" y="56637"/>
                  <a:pt x="15932" y="62895"/>
                  <a:pt x="23656" y="62895"/>
                </a:cubicBezTo>
                <a:cubicBezTo>
                  <a:pt x="26150" y="62895"/>
                  <a:pt x="28583" y="62230"/>
                  <a:pt x="30714" y="60990"/>
                </a:cubicBezTo>
                <a:cubicBezTo>
                  <a:pt x="33103" y="63409"/>
                  <a:pt x="35884" y="65434"/>
                  <a:pt x="38967" y="66961"/>
                </a:cubicBezTo>
                <a:cubicBezTo>
                  <a:pt x="34705" y="70574"/>
                  <a:pt x="29294" y="72584"/>
                  <a:pt x="23656" y="72584"/>
                </a:cubicBezTo>
                <a:cubicBezTo>
                  <a:pt x="10596" y="72584"/>
                  <a:pt x="0" y="62003"/>
                  <a:pt x="0" y="48928"/>
                </a:cubicBezTo>
                <a:cubicBezTo>
                  <a:pt x="0" y="42656"/>
                  <a:pt x="2494" y="36640"/>
                  <a:pt x="6923" y="32211"/>
                </a:cubicBezTo>
                <a:lnTo>
                  <a:pt x="17670" y="21464"/>
                </a:lnTo>
                <a:cubicBezTo>
                  <a:pt x="22099" y="17035"/>
                  <a:pt x="28115" y="14541"/>
                  <a:pt x="34387" y="14541"/>
                </a:cubicBezTo>
                <a:cubicBezTo>
                  <a:pt x="47477" y="14541"/>
                  <a:pt x="58043" y="25212"/>
                  <a:pt x="58043" y="38257"/>
                </a:cubicBezTo>
                <a:cubicBezTo>
                  <a:pt x="58043" y="38453"/>
                  <a:pt x="58043" y="38650"/>
                  <a:pt x="58043" y="38846"/>
                </a:cubicBezTo>
                <a:cubicBezTo>
                  <a:pt x="57983" y="41522"/>
                  <a:pt x="55761" y="43623"/>
                  <a:pt x="53085" y="43562"/>
                </a:cubicBezTo>
                <a:cubicBezTo>
                  <a:pt x="50410" y="43502"/>
                  <a:pt x="48309" y="41280"/>
                  <a:pt x="48369" y="38605"/>
                </a:cubicBezTo>
                <a:cubicBezTo>
                  <a:pt x="48369" y="38484"/>
                  <a:pt x="48369" y="38378"/>
                  <a:pt x="48369" y="38257"/>
                </a:cubicBezTo>
                <a:cubicBezTo>
                  <a:pt x="48369" y="33163"/>
                  <a:pt x="45648" y="28689"/>
                  <a:pt x="41597" y="262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0" name="Text 118"/>
          <p:cNvSpPr/>
          <p:nvPr/>
        </p:nvSpPr>
        <p:spPr>
          <a:xfrm>
            <a:off x="8368209" y="1561703"/>
            <a:ext cx="688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visit_id (FK)</a:t>
            </a:r>
            <a:endParaRPr lang="en-US" sz="1600" dirty="0"/>
          </a:p>
        </p:txBody>
      </p:sp>
      <p:sp>
        <p:nvSpPr>
          <p:cNvPr id="121" name="Shape 119"/>
          <p:cNvSpPr/>
          <p:nvPr/>
        </p:nvSpPr>
        <p:spPr>
          <a:xfrm>
            <a:off x="8194080" y="174228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5A8A9F">
              <a:alpha val="10196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8223970" y="1794867"/>
            <a:ext cx="87064" cy="77391"/>
          </a:xfrm>
          <a:custGeom>
            <a:avLst/>
            <a:gdLst/>
            <a:ahLst/>
            <a:cxnLst/>
            <a:rect l="l" t="t" r="r" b="b"/>
            <a:pathLst>
              <a:path w="87064" h="77391">
                <a:moveTo>
                  <a:pt x="63409" y="14511"/>
                </a:moveTo>
                <a:cubicBezTo>
                  <a:pt x="60900" y="14511"/>
                  <a:pt x="58466" y="15191"/>
                  <a:pt x="56335" y="16430"/>
                </a:cubicBezTo>
                <a:cubicBezTo>
                  <a:pt x="53947" y="14012"/>
                  <a:pt x="51165" y="11986"/>
                  <a:pt x="48097" y="10460"/>
                </a:cubicBezTo>
                <a:cubicBezTo>
                  <a:pt x="52360" y="6832"/>
                  <a:pt x="57786" y="4837"/>
                  <a:pt x="63409" y="4837"/>
                </a:cubicBezTo>
                <a:cubicBezTo>
                  <a:pt x="76469" y="4837"/>
                  <a:pt x="87064" y="15418"/>
                  <a:pt x="87064" y="28492"/>
                </a:cubicBezTo>
                <a:cubicBezTo>
                  <a:pt x="87064" y="34765"/>
                  <a:pt x="84570" y="40781"/>
                  <a:pt x="80142" y="45210"/>
                </a:cubicBezTo>
                <a:lnTo>
                  <a:pt x="69395" y="55957"/>
                </a:lnTo>
                <a:cubicBezTo>
                  <a:pt x="64966" y="60386"/>
                  <a:pt x="58950" y="62880"/>
                  <a:pt x="52677" y="62880"/>
                </a:cubicBezTo>
                <a:cubicBezTo>
                  <a:pt x="39617" y="62880"/>
                  <a:pt x="29021" y="52299"/>
                  <a:pt x="29021" y="39224"/>
                </a:cubicBezTo>
                <a:cubicBezTo>
                  <a:pt x="29021" y="38998"/>
                  <a:pt x="29021" y="38771"/>
                  <a:pt x="29037" y="38544"/>
                </a:cubicBezTo>
                <a:cubicBezTo>
                  <a:pt x="29112" y="35869"/>
                  <a:pt x="31334" y="33768"/>
                  <a:pt x="34010" y="33843"/>
                </a:cubicBezTo>
                <a:cubicBezTo>
                  <a:pt x="36685" y="33919"/>
                  <a:pt x="38786" y="36141"/>
                  <a:pt x="38710" y="38816"/>
                </a:cubicBezTo>
                <a:cubicBezTo>
                  <a:pt x="38710" y="38952"/>
                  <a:pt x="38710" y="39088"/>
                  <a:pt x="38710" y="39209"/>
                </a:cubicBezTo>
                <a:cubicBezTo>
                  <a:pt x="38710" y="46933"/>
                  <a:pt x="44968" y="53191"/>
                  <a:pt x="52692" y="53191"/>
                </a:cubicBezTo>
                <a:cubicBezTo>
                  <a:pt x="56395" y="53191"/>
                  <a:pt x="59948" y="51725"/>
                  <a:pt x="62578" y="49095"/>
                </a:cubicBezTo>
                <a:lnTo>
                  <a:pt x="73325" y="38348"/>
                </a:lnTo>
                <a:cubicBezTo>
                  <a:pt x="75940" y="35733"/>
                  <a:pt x="77421" y="32165"/>
                  <a:pt x="77421" y="28462"/>
                </a:cubicBezTo>
                <a:cubicBezTo>
                  <a:pt x="77421" y="20738"/>
                  <a:pt x="71163" y="14481"/>
                  <a:pt x="63439" y="14481"/>
                </a:cubicBezTo>
                <a:close/>
                <a:moveTo>
                  <a:pt x="41597" y="26195"/>
                </a:moveTo>
                <a:cubicBezTo>
                  <a:pt x="41310" y="26074"/>
                  <a:pt x="41023" y="25908"/>
                  <a:pt x="40766" y="25726"/>
                </a:cubicBezTo>
                <a:cubicBezTo>
                  <a:pt x="38862" y="24744"/>
                  <a:pt x="36685" y="24185"/>
                  <a:pt x="34403" y="24185"/>
                </a:cubicBezTo>
                <a:cubicBezTo>
                  <a:pt x="30699" y="24185"/>
                  <a:pt x="27147" y="25651"/>
                  <a:pt x="24517" y="28281"/>
                </a:cubicBezTo>
                <a:lnTo>
                  <a:pt x="13770" y="39028"/>
                </a:lnTo>
                <a:cubicBezTo>
                  <a:pt x="11155" y="41643"/>
                  <a:pt x="9674" y="45210"/>
                  <a:pt x="9674" y="48913"/>
                </a:cubicBezTo>
                <a:cubicBezTo>
                  <a:pt x="9674" y="56637"/>
                  <a:pt x="15932" y="62895"/>
                  <a:pt x="23656" y="62895"/>
                </a:cubicBezTo>
                <a:cubicBezTo>
                  <a:pt x="26150" y="62895"/>
                  <a:pt x="28583" y="62230"/>
                  <a:pt x="30714" y="60990"/>
                </a:cubicBezTo>
                <a:cubicBezTo>
                  <a:pt x="33103" y="63409"/>
                  <a:pt x="35884" y="65434"/>
                  <a:pt x="38967" y="66961"/>
                </a:cubicBezTo>
                <a:cubicBezTo>
                  <a:pt x="34705" y="70574"/>
                  <a:pt x="29294" y="72584"/>
                  <a:pt x="23656" y="72584"/>
                </a:cubicBezTo>
                <a:cubicBezTo>
                  <a:pt x="10596" y="72584"/>
                  <a:pt x="0" y="62003"/>
                  <a:pt x="0" y="48928"/>
                </a:cubicBezTo>
                <a:cubicBezTo>
                  <a:pt x="0" y="42656"/>
                  <a:pt x="2494" y="36640"/>
                  <a:pt x="6923" y="32211"/>
                </a:cubicBezTo>
                <a:lnTo>
                  <a:pt x="17670" y="21464"/>
                </a:lnTo>
                <a:cubicBezTo>
                  <a:pt x="22099" y="17035"/>
                  <a:pt x="28115" y="14541"/>
                  <a:pt x="34387" y="14541"/>
                </a:cubicBezTo>
                <a:cubicBezTo>
                  <a:pt x="47477" y="14541"/>
                  <a:pt x="58043" y="25212"/>
                  <a:pt x="58043" y="38257"/>
                </a:cubicBezTo>
                <a:cubicBezTo>
                  <a:pt x="58043" y="38453"/>
                  <a:pt x="58043" y="38650"/>
                  <a:pt x="58043" y="38846"/>
                </a:cubicBezTo>
                <a:cubicBezTo>
                  <a:pt x="57983" y="41522"/>
                  <a:pt x="55761" y="43623"/>
                  <a:pt x="53085" y="43562"/>
                </a:cubicBezTo>
                <a:cubicBezTo>
                  <a:pt x="50410" y="43502"/>
                  <a:pt x="48309" y="41280"/>
                  <a:pt x="48369" y="38605"/>
                </a:cubicBezTo>
                <a:cubicBezTo>
                  <a:pt x="48369" y="38484"/>
                  <a:pt x="48369" y="38378"/>
                  <a:pt x="48369" y="38257"/>
                </a:cubicBezTo>
                <a:cubicBezTo>
                  <a:pt x="48369" y="33163"/>
                  <a:pt x="45648" y="28689"/>
                  <a:pt x="41597" y="262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3" name="Text 121"/>
          <p:cNvSpPr/>
          <p:nvPr/>
        </p:nvSpPr>
        <p:spPr>
          <a:xfrm>
            <a:off x="8368209" y="1768078"/>
            <a:ext cx="942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medication_id (FK)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8227815" y="20151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25" name="Text 123"/>
          <p:cNvSpPr/>
          <p:nvPr/>
        </p:nvSpPr>
        <p:spPr>
          <a:xfrm>
            <a:off x="8331002" y="1974453"/>
            <a:ext cx="3467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dosage</a:t>
            </a:r>
            <a:endParaRPr lang="en-US" sz="1600" dirty="0"/>
          </a:p>
        </p:txBody>
      </p:sp>
      <p:sp>
        <p:nvSpPr>
          <p:cNvPr id="126" name="Shape 124"/>
          <p:cNvSpPr/>
          <p:nvPr/>
        </p:nvSpPr>
        <p:spPr>
          <a:xfrm>
            <a:off x="8227815" y="22215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27" name="Text 125"/>
          <p:cNvSpPr/>
          <p:nvPr/>
        </p:nvSpPr>
        <p:spPr>
          <a:xfrm>
            <a:off x="8331002" y="2180828"/>
            <a:ext cx="48964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128" name="Shape 126"/>
          <p:cNvSpPr/>
          <p:nvPr/>
        </p:nvSpPr>
        <p:spPr>
          <a:xfrm>
            <a:off x="8227815" y="24278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29" name="Text 127"/>
          <p:cNvSpPr/>
          <p:nvPr/>
        </p:nvSpPr>
        <p:spPr>
          <a:xfrm>
            <a:off x="8331002" y="2387203"/>
            <a:ext cx="688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duration_days</a:t>
            </a:r>
            <a:endParaRPr lang="en-US" sz="1600" dirty="0"/>
          </a:p>
        </p:txBody>
      </p:sp>
      <p:sp>
        <p:nvSpPr>
          <p:cNvPr id="130" name="Shape 128"/>
          <p:cNvSpPr/>
          <p:nvPr/>
        </p:nvSpPr>
        <p:spPr>
          <a:xfrm>
            <a:off x="8227815" y="26342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31" name="Text 129"/>
          <p:cNvSpPr/>
          <p:nvPr/>
        </p:nvSpPr>
        <p:spPr>
          <a:xfrm>
            <a:off x="8331002" y="2593578"/>
            <a:ext cx="64045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132" name="Shape 130"/>
          <p:cNvSpPr/>
          <p:nvPr/>
        </p:nvSpPr>
        <p:spPr>
          <a:xfrm>
            <a:off x="8227815" y="28406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33" name="Text 131"/>
          <p:cNvSpPr/>
          <p:nvPr/>
        </p:nvSpPr>
        <p:spPr>
          <a:xfrm>
            <a:off x="8331002" y="2799953"/>
            <a:ext cx="7912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prescribed_date</a:t>
            </a:r>
            <a:endParaRPr lang="en-US" sz="1600" dirty="0"/>
          </a:p>
        </p:txBody>
      </p:sp>
      <p:sp>
        <p:nvSpPr>
          <p:cNvPr id="134" name="Shape 132"/>
          <p:cNvSpPr/>
          <p:nvPr/>
        </p:nvSpPr>
        <p:spPr>
          <a:xfrm>
            <a:off x="8227815" y="30470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35" name="Text 133"/>
          <p:cNvSpPr/>
          <p:nvPr/>
        </p:nvSpPr>
        <p:spPr>
          <a:xfrm>
            <a:off x="8331002" y="3006328"/>
            <a:ext cx="3467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status</a:t>
            </a:r>
            <a:endParaRPr lang="en-US" sz="1600" dirty="0"/>
          </a:p>
        </p:txBody>
      </p:sp>
      <p:sp>
        <p:nvSpPr>
          <p:cNvPr id="136" name="Shape 134"/>
          <p:cNvSpPr/>
          <p:nvPr/>
        </p:nvSpPr>
        <p:spPr>
          <a:xfrm>
            <a:off x="8090892" y="3383359"/>
            <a:ext cx="3786188" cy="1976438"/>
          </a:xfrm>
          <a:custGeom>
            <a:avLst/>
            <a:gdLst/>
            <a:ahLst/>
            <a:cxnLst/>
            <a:rect l="l" t="t" r="r" b="b"/>
            <a:pathLst>
              <a:path w="3786188" h="1976438">
                <a:moveTo>
                  <a:pt x="31750" y="0"/>
                </a:moveTo>
                <a:lnTo>
                  <a:pt x="3754438" y="0"/>
                </a:lnTo>
                <a:cubicBezTo>
                  <a:pt x="3771973" y="0"/>
                  <a:pt x="3786188" y="14215"/>
                  <a:pt x="3786188" y="31750"/>
                </a:cubicBezTo>
                <a:lnTo>
                  <a:pt x="3786188" y="1924852"/>
                </a:lnTo>
                <a:cubicBezTo>
                  <a:pt x="3786188" y="1953342"/>
                  <a:pt x="3763092" y="1976438"/>
                  <a:pt x="3734602" y="1976438"/>
                </a:cubicBezTo>
                <a:lnTo>
                  <a:pt x="51585" y="1976438"/>
                </a:lnTo>
                <a:cubicBezTo>
                  <a:pt x="23095" y="1976438"/>
                  <a:pt x="0" y="1953342"/>
                  <a:pt x="0" y="192485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8090892" y="3383359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8194080" y="3502422"/>
            <a:ext cx="261937" cy="261937"/>
          </a:xfrm>
          <a:custGeom>
            <a:avLst/>
            <a:gdLst/>
            <a:ahLst/>
            <a:cxnLst/>
            <a:rect l="l" t="t" r="r" b="b"/>
            <a:pathLst>
              <a:path w="261937" h="261937">
                <a:moveTo>
                  <a:pt x="51594" y="0"/>
                </a:moveTo>
                <a:lnTo>
                  <a:pt x="210344" y="0"/>
                </a:lnTo>
                <a:cubicBezTo>
                  <a:pt x="238838" y="0"/>
                  <a:pt x="261937" y="23099"/>
                  <a:pt x="261937" y="51594"/>
                </a:cubicBezTo>
                <a:lnTo>
                  <a:pt x="261937" y="210344"/>
                </a:lnTo>
                <a:cubicBezTo>
                  <a:pt x="261937" y="238838"/>
                  <a:pt x="238838" y="261937"/>
                  <a:pt x="210344" y="261937"/>
                </a:cubicBezTo>
                <a:lnTo>
                  <a:pt x="51594" y="261937"/>
                </a:lnTo>
                <a:cubicBezTo>
                  <a:pt x="23099" y="261937"/>
                  <a:pt x="0" y="238838"/>
                  <a:pt x="0" y="210344"/>
                </a:cubicBezTo>
                <a:lnTo>
                  <a:pt x="0" y="51594"/>
                </a:lnTo>
                <a:cubicBezTo>
                  <a:pt x="0" y="23118"/>
                  <a:pt x="23118" y="0"/>
                  <a:pt x="5159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9" name="Text 137"/>
          <p:cNvSpPr/>
          <p:nvPr/>
        </p:nvSpPr>
        <p:spPr>
          <a:xfrm>
            <a:off x="8168283" y="3502422"/>
            <a:ext cx="31353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140" name="Text 138"/>
          <p:cNvSpPr/>
          <p:nvPr/>
        </p:nvSpPr>
        <p:spPr>
          <a:xfrm>
            <a:off x="8529440" y="3541117"/>
            <a:ext cx="70743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Medication</a:t>
            </a:r>
            <a:endParaRPr lang="en-US" sz="1600" dirty="0"/>
          </a:p>
        </p:txBody>
      </p:sp>
      <p:sp>
        <p:nvSpPr>
          <p:cNvPr id="141" name="Shape 139"/>
          <p:cNvSpPr/>
          <p:nvPr/>
        </p:nvSpPr>
        <p:spPr>
          <a:xfrm>
            <a:off x="8194080" y="383778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8228807" y="3890367"/>
            <a:ext cx="77391" cy="77391"/>
          </a:xfrm>
          <a:custGeom>
            <a:avLst/>
            <a:gdLst/>
            <a:ahLst/>
            <a:cxnLst/>
            <a:rect l="l" t="t" r="r" b="b"/>
            <a:pathLst>
              <a:path w="77391" h="77391">
                <a:moveTo>
                  <a:pt x="50788" y="53206"/>
                </a:moveTo>
                <a:cubicBezTo>
                  <a:pt x="65480" y="53206"/>
                  <a:pt x="77391" y="41295"/>
                  <a:pt x="77391" y="26603"/>
                </a:cubicBezTo>
                <a:cubicBezTo>
                  <a:pt x="77391" y="11911"/>
                  <a:pt x="65480" y="0"/>
                  <a:pt x="50788" y="0"/>
                </a:cubicBezTo>
                <a:cubicBezTo>
                  <a:pt x="36095" y="0"/>
                  <a:pt x="24185" y="11911"/>
                  <a:pt x="24185" y="26603"/>
                </a:cubicBezTo>
                <a:cubicBezTo>
                  <a:pt x="24185" y="29430"/>
                  <a:pt x="24623" y="32165"/>
                  <a:pt x="25439" y="34720"/>
                </a:cubicBezTo>
                <a:lnTo>
                  <a:pt x="1058" y="59101"/>
                </a:lnTo>
                <a:cubicBezTo>
                  <a:pt x="378" y="59781"/>
                  <a:pt x="0" y="60703"/>
                  <a:pt x="0" y="61671"/>
                </a:cubicBezTo>
                <a:lnTo>
                  <a:pt x="0" y="73763"/>
                </a:lnTo>
                <a:cubicBezTo>
                  <a:pt x="0" y="75773"/>
                  <a:pt x="1617" y="77391"/>
                  <a:pt x="3628" y="77391"/>
                </a:cubicBezTo>
                <a:lnTo>
                  <a:pt x="15720" y="77391"/>
                </a:lnTo>
                <a:cubicBezTo>
                  <a:pt x="17730" y="77391"/>
                  <a:pt x="19348" y="75773"/>
                  <a:pt x="19348" y="73763"/>
                </a:cubicBezTo>
                <a:lnTo>
                  <a:pt x="19348" y="67717"/>
                </a:lnTo>
                <a:lnTo>
                  <a:pt x="25394" y="67717"/>
                </a:lnTo>
                <a:cubicBezTo>
                  <a:pt x="27404" y="67717"/>
                  <a:pt x="29021" y="66099"/>
                  <a:pt x="29021" y="64089"/>
                </a:cubicBezTo>
                <a:lnTo>
                  <a:pt x="29021" y="58043"/>
                </a:lnTo>
                <a:lnTo>
                  <a:pt x="35068" y="58043"/>
                </a:lnTo>
                <a:cubicBezTo>
                  <a:pt x="36035" y="58043"/>
                  <a:pt x="36957" y="57665"/>
                  <a:pt x="37637" y="56985"/>
                </a:cubicBezTo>
                <a:lnTo>
                  <a:pt x="42671" y="51951"/>
                </a:lnTo>
                <a:cubicBezTo>
                  <a:pt x="45225" y="52768"/>
                  <a:pt x="47961" y="53206"/>
                  <a:pt x="50788" y="53206"/>
                </a:cubicBezTo>
                <a:close/>
                <a:moveTo>
                  <a:pt x="56834" y="14511"/>
                </a:moveTo>
                <a:cubicBezTo>
                  <a:pt x="60171" y="14511"/>
                  <a:pt x="62880" y="17220"/>
                  <a:pt x="62880" y="20557"/>
                </a:cubicBezTo>
                <a:cubicBezTo>
                  <a:pt x="62880" y="23894"/>
                  <a:pt x="60171" y="26603"/>
                  <a:pt x="56834" y="26603"/>
                </a:cubicBezTo>
                <a:cubicBezTo>
                  <a:pt x="53497" y="26603"/>
                  <a:pt x="50788" y="23894"/>
                  <a:pt x="50788" y="20557"/>
                </a:cubicBezTo>
                <a:cubicBezTo>
                  <a:pt x="50788" y="17220"/>
                  <a:pt x="53497" y="14511"/>
                  <a:pt x="56834" y="1451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3" name="Text 141"/>
          <p:cNvSpPr/>
          <p:nvPr/>
        </p:nvSpPr>
        <p:spPr>
          <a:xfrm>
            <a:off x="8368209" y="3863578"/>
            <a:ext cx="942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medication_id (PK)</a:t>
            </a:r>
            <a:endParaRPr lang="en-US" sz="1600" dirty="0"/>
          </a:p>
        </p:txBody>
      </p:sp>
      <p:sp>
        <p:nvSpPr>
          <p:cNvPr id="144" name="Shape 142"/>
          <p:cNvSpPr/>
          <p:nvPr/>
        </p:nvSpPr>
        <p:spPr>
          <a:xfrm>
            <a:off x="8227815" y="41106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45" name="Text 143"/>
          <p:cNvSpPr/>
          <p:nvPr/>
        </p:nvSpPr>
        <p:spPr>
          <a:xfrm>
            <a:off x="8331002" y="4069953"/>
            <a:ext cx="7912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medication_name</a:t>
            </a:r>
            <a:endParaRPr lang="en-US" sz="1600" dirty="0"/>
          </a:p>
        </p:txBody>
      </p:sp>
      <p:sp>
        <p:nvSpPr>
          <p:cNvPr id="146" name="Shape 144"/>
          <p:cNvSpPr/>
          <p:nvPr/>
        </p:nvSpPr>
        <p:spPr>
          <a:xfrm>
            <a:off x="8227815" y="43170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47" name="Text 145"/>
          <p:cNvSpPr/>
          <p:nvPr/>
        </p:nvSpPr>
        <p:spPr>
          <a:xfrm>
            <a:off x="8331002" y="4276328"/>
            <a:ext cx="64045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generic_name</a:t>
            </a:r>
            <a:endParaRPr lang="en-US" sz="1600" dirty="0"/>
          </a:p>
        </p:txBody>
      </p:sp>
      <p:sp>
        <p:nvSpPr>
          <p:cNvPr id="148" name="Shape 146"/>
          <p:cNvSpPr/>
          <p:nvPr/>
        </p:nvSpPr>
        <p:spPr>
          <a:xfrm>
            <a:off x="8227815" y="45233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49" name="Text 147"/>
          <p:cNvSpPr/>
          <p:nvPr/>
        </p:nvSpPr>
        <p:spPr>
          <a:xfrm>
            <a:off x="8331002" y="4482703"/>
            <a:ext cx="7912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medication_type</a:t>
            </a:r>
            <a:endParaRPr lang="en-US" sz="1600" dirty="0"/>
          </a:p>
        </p:txBody>
      </p:sp>
      <p:sp>
        <p:nvSpPr>
          <p:cNvPr id="150" name="Shape 148"/>
          <p:cNvSpPr/>
          <p:nvPr/>
        </p:nvSpPr>
        <p:spPr>
          <a:xfrm>
            <a:off x="8227815" y="47297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51" name="Text 149"/>
          <p:cNvSpPr/>
          <p:nvPr/>
        </p:nvSpPr>
        <p:spPr>
          <a:xfrm>
            <a:off x="8331002" y="4689078"/>
            <a:ext cx="64045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manufacturer</a:t>
            </a:r>
            <a:endParaRPr lang="en-US" sz="1600" dirty="0"/>
          </a:p>
        </p:txBody>
      </p:sp>
      <p:sp>
        <p:nvSpPr>
          <p:cNvPr id="152" name="Shape 150"/>
          <p:cNvSpPr/>
          <p:nvPr/>
        </p:nvSpPr>
        <p:spPr>
          <a:xfrm>
            <a:off x="8227815" y="49361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53" name="Text 151"/>
          <p:cNvSpPr/>
          <p:nvPr/>
        </p:nvSpPr>
        <p:spPr>
          <a:xfrm>
            <a:off x="8331002" y="4895453"/>
            <a:ext cx="4420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ndc_code</a:t>
            </a:r>
            <a:endParaRPr lang="en-US" sz="1600" dirty="0"/>
          </a:p>
        </p:txBody>
      </p:sp>
      <p:sp>
        <p:nvSpPr>
          <p:cNvPr id="154" name="Shape 152"/>
          <p:cNvSpPr/>
          <p:nvPr/>
        </p:nvSpPr>
        <p:spPr>
          <a:xfrm>
            <a:off x="8227815" y="51425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55" name="Text 153"/>
          <p:cNvSpPr/>
          <p:nvPr/>
        </p:nvSpPr>
        <p:spPr>
          <a:xfrm>
            <a:off x="8331002" y="5101828"/>
            <a:ext cx="88652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contraindications</a:t>
            </a:r>
            <a:endParaRPr lang="en-US" sz="1600" dirty="0"/>
          </a:p>
        </p:txBody>
      </p:sp>
      <p:sp>
        <p:nvSpPr>
          <p:cNvPr id="156" name="Shape 154"/>
          <p:cNvSpPr/>
          <p:nvPr/>
        </p:nvSpPr>
        <p:spPr>
          <a:xfrm>
            <a:off x="8090892" y="5478859"/>
            <a:ext cx="3786188" cy="1976438"/>
          </a:xfrm>
          <a:custGeom>
            <a:avLst/>
            <a:gdLst/>
            <a:ahLst/>
            <a:cxnLst/>
            <a:rect l="l" t="t" r="r" b="b"/>
            <a:pathLst>
              <a:path w="3786188" h="1976438">
                <a:moveTo>
                  <a:pt x="31750" y="0"/>
                </a:moveTo>
                <a:lnTo>
                  <a:pt x="3754438" y="0"/>
                </a:lnTo>
                <a:cubicBezTo>
                  <a:pt x="3771973" y="0"/>
                  <a:pt x="3786188" y="14215"/>
                  <a:pt x="3786188" y="31750"/>
                </a:cubicBezTo>
                <a:lnTo>
                  <a:pt x="3786188" y="1924852"/>
                </a:lnTo>
                <a:cubicBezTo>
                  <a:pt x="3786188" y="1953342"/>
                  <a:pt x="3763092" y="1976438"/>
                  <a:pt x="3734602" y="1976438"/>
                </a:cubicBezTo>
                <a:lnTo>
                  <a:pt x="51585" y="1976438"/>
                </a:lnTo>
                <a:cubicBezTo>
                  <a:pt x="23095" y="1976438"/>
                  <a:pt x="0" y="1953342"/>
                  <a:pt x="0" y="192485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57" name="Shape 155"/>
          <p:cNvSpPr/>
          <p:nvPr/>
        </p:nvSpPr>
        <p:spPr>
          <a:xfrm>
            <a:off x="8090892" y="5478859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8194080" y="5597922"/>
            <a:ext cx="261937" cy="261937"/>
          </a:xfrm>
          <a:custGeom>
            <a:avLst/>
            <a:gdLst/>
            <a:ahLst/>
            <a:cxnLst/>
            <a:rect l="l" t="t" r="r" b="b"/>
            <a:pathLst>
              <a:path w="261937" h="261937">
                <a:moveTo>
                  <a:pt x="51594" y="0"/>
                </a:moveTo>
                <a:lnTo>
                  <a:pt x="210344" y="0"/>
                </a:lnTo>
                <a:cubicBezTo>
                  <a:pt x="238838" y="0"/>
                  <a:pt x="261937" y="23099"/>
                  <a:pt x="261937" y="51594"/>
                </a:cubicBezTo>
                <a:lnTo>
                  <a:pt x="261937" y="210344"/>
                </a:lnTo>
                <a:cubicBezTo>
                  <a:pt x="261937" y="238838"/>
                  <a:pt x="238838" y="261937"/>
                  <a:pt x="210344" y="261937"/>
                </a:cubicBezTo>
                <a:lnTo>
                  <a:pt x="51594" y="261937"/>
                </a:lnTo>
                <a:cubicBezTo>
                  <a:pt x="23099" y="261937"/>
                  <a:pt x="0" y="238838"/>
                  <a:pt x="0" y="210344"/>
                </a:cubicBezTo>
                <a:lnTo>
                  <a:pt x="0" y="51594"/>
                </a:lnTo>
                <a:cubicBezTo>
                  <a:pt x="0" y="23118"/>
                  <a:pt x="23118" y="0"/>
                  <a:pt x="51594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159" name="Text 157"/>
          <p:cNvSpPr/>
          <p:nvPr/>
        </p:nvSpPr>
        <p:spPr>
          <a:xfrm>
            <a:off x="8168283" y="5597922"/>
            <a:ext cx="31353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endParaRPr lang="en-US" sz="1600" dirty="0"/>
          </a:p>
        </p:txBody>
      </p:sp>
      <p:sp>
        <p:nvSpPr>
          <p:cNvPr id="160" name="Text 158"/>
          <p:cNvSpPr/>
          <p:nvPr/>
        </p:nvSpPr>
        <p:spPr>
          <a:xfrm>
            <a:off x="8529440" y="5636617"/>
            <a:ext cx="604242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FollowUp</a:t>
            </a:r>
            <a:endParaRPr lang="en-US" sz="1600" dirty="0"/>
          </a:p>
        </p:txBody>
      </p:sp>
      <p:sp>
        <p:nvSpPr>
          <p:cNvPr id="161" name="Shape 159"/>
          <p:cNvSpPr/>
          <p:nvPr/>
        </p:nvSpPr>
        <p:spPr>
          <a:xfrm>
            <a:off x="8194080" y="593328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8228807" y="5985867"/>
            <a:ext cx="77391" cy="77391"/>
          </a:xfrm>
          <a:custGeom>
            <a:avLst/>
            <a:gdLst/>
            <a:ahLst/>
            <a:cxnLst/>
            <a:rect l="l" t="t" r="r" b="b"/>
            <a:pathLst>
              <a:path w="77391" h="77391">
                <a:moveTo>
                  <a:pt x="50788" y="53206"/>
                </a:moveTo>
                <a:cubicBezTo>
                  <a:pt x="65480" y="53206"/>
                  <a:pt x="77391" y="41295"/>
                  <a:pt x="77391" y="26603"/>
                </a:cubicBezTo>
                <a:cubicBezTo>
                  <a:pt x="77391" y="11911"/>
                  <a:pt x="65480" y="0"/>
                  <a:pt x="50788" y="0"/>
                </a:cubicBezTo>
                <a:cubicBezTo>
                  <a:pt x="36095" y="0"/>
                  <a:pt x="24185" y="11911"/>
                  <a:pt x="24185" y="26603"/>
                </a:cubicBezTo>
                <a:cubicBezTo>
                  <a:pt x="24185" y="29430"/>
                  <a:pt x="24623" y="32165"/>
                  <a:pt x="25439" y="34720"/>
                </a:cubicBezTo>
                <a:lnTo>
                  <a:pt x="1058" y="59101"/>
                </a:lnTo>
                <a:cubicBezTo>
                  <a:pt x="378" y="59781"/>
                  <a:pt x="0" y="60703"/>
                  <a:pt x="0" y="61671"/>
                </a:cubicBezTo>
                <a:lnTo>
                  <a:pt x="0" y="73763"/>
                </a:lnTo>
                <a:cubicBezTo>
                  <a:pt x="0" y="75773"/>
                  <a:pt x="1617" y="77391"/>
                  <a:pt x="3628" y="77391"/>
                </a:cubicBezTo>
                <a:lnTo>
                  <a:pt x="15720" y="77391"/>
                </a:lnTo>
                <a:cubicBezTo>
                  <a:pt x="17730" y="77391"/>
                  <a:pt x="19348" y="75773"/>
                  <a:pt x="19348" y="73763"/>
                </a:cubicBezTo>
                <a:lnTo>
                  <a:pt x="19348" y="67717"/>
                </a:lnTo>
                <a:lnTo>
                  <a:pt x="25394" y="67717"/>
                </a:lnTo>
                <a:cubicBezTo>
                  <a:pt x="27404" y="67717"/>
                  <a:pt x="29021" y="66099"/>
                  <a:pt x="29021" y="64089"/>
                </a:cubicBezTo>
                <a:lnTo>
                  <a:pt x="29021" y="58043"/>
                </a:lnTo>
                <a:lnTo>
                  <a:pt x="35068" y="58043"/>
                </a:lnTo>
                <a:cubicBezTo>
                  <a:pt x="36035" y="58043"/>
                  <a:pt x="36957" y="57665"/>
                  <a:pt x="37637" y="56985"/>
                </a:cubicBezTo>
                <a:lnTo>
                  <a:pt x="42671" y="51951"/>
                </a:lnTo>
                <a:cubicBezTo>
                  <a:pt x="45225" y="52768"/>
                  <a:pt x="47961" y="53206"/>
                  <a:pt x="50788" y="53206"/>
                </a:cubicBezTo>
                <a:close/>
                <a:moveTo>
                  <a:pt x="56834" y="14511"/>
                </a:moveTo>
                <a:cubicBezTo>
                  <a:pt x="60171" y="14511"/>
                  <a:pt x="62880" y="17220"/>
                  <a:pt x="62880" y="20557"/>
                </a:cubicBezTo>
                <a:cubicBezTo>
                  <a:pt x="62880" y="23894"/>
                  <a:pt x="60171" y="26603"/>
                  <a:pt x="56834" y="26603"/>
                </a:cubicBezTo>
                <a:cubicBezTo>
                  <a:pt x="53497" y="26603"/>
                  <a:pt x="50788" y="23894"/>
                  <a:pt x="50788" y="20557"/>
                </a:cubicBezTo>
                <a:cubicBezTo>
                  <a:pt x="50788" y="17220"/>
                  <a:pt x="53497" y="14511"/>
                  <a:pt x="56834" y="1451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3" name="Text 161"/>
          <p:cNvSpPr/>
          <p:nvPr/>
        </p:nvSpPr>
        <p:spPr>
          <a:xfrm>
            <a:off x="8368209" y="5959078"/>
            <a:ext cx="83889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followup_id (PK)</a:t>
            </a:r>
            <a:endParaRPr lang="en-US" sz="1600" dirty="0"/>
          </a:p>
        </p:txBody>
      </p:sp>
      <p:sp>
        <p:nvSpPr>
          <p:cNvPr id="164" name="Shape 162"/>
          <p:cNvSpPr/>
          <p:nvPr/>
        </p:nvSpPr>
        <p:spPr>
          <a:xfrm>
            <a:off x="8194080" y="6139656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2C5F7C">
              <a:alpha val="10196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8223970" y="6192242"/>
            <a:ext cx="87064" cy="77391"/>
          </a:xfrm>
          <a:custGeom>
            <a:avLst/>
            <a:gdLst/>
            <a:ahLst/>
            <a:cxnLst/>
            <a:rect l="l" t="t" r="r" b="b"/>
            <a:pathLst>
              <a:path w="87064" h="77391">
                <a:moveTo>
                  <a:pt x="63409" y="14511"/>
                </a:moveTo>
                <a:cubicBezTo>
                  <a:pt x="60900" y="14511"/>
                  <a:pt x="58466" y="15191"/>
                  <a:pt x="56335" y="16430"/>
                </a:cubicBezTo>
                <a:cubicBezTo>
                  <a:pt x="53947" y="14012"/>
                  <a:pt x="51165" y="11986"/>
                  <a:pt x="48097" y="10460"/>
                </a:cubicBezTo>
                <a:cubicBezTo>
                  <a:pt x="52360" y="6832"/>
                  <a:pt x="57786" y="4837"/>
                  <a:pt x="63409" y="4837"/>
                </a:cubicBezTo>
                <a:cubicBezTo>
                  <a:pt x="76469" y="4837"/>
                  <a:pt x="87064" y="15418"/>
                  <a:pt x="87064" y="28492"/>
                </a:cubicBezTo>
                <a:cubicBezTo>
                  <a:pt x="87064" y="34765"/>
                  <a:pt x="84570" y="40781"/>
                  <a:pt x="80142" y="45210"/>
                </a:cubicBezTo>
                <a:lnTo>
                  <a:pt x="69395" y="55957"/>
                </a:lnTo>
                <a:cubicBezTo>
                  <a:pt x="64966" y="60386"/>
                  <a:pt x="58950" y="62880"/>
                  <a:pt x="52677" y="62880"/>
                </a:cubicBezTo>
                <a:cubicBezTo>
                  <a:pt x="39617" y="62880"/>
                  <a:pt x="29021" y="52299"/>
                  <a:pt x="29021" y="39224"/>
                </a:cubicBezTo>
                <a:cubicBezTo>
                  <a:pt x="29021" y="38998"/>
                  <a:pt x="29021" y="38771"/>
                  <a:pt x="29037" y="38544"/>
                </a:cubicBezTo>
                <a:cubicBezTo>
                  <a:pt x="29112" y="35869"/>
                  <a:pt x="31334" y="33768"/>
                  <a:pt x="34010" y="33843"/>
                </a:cubicBezTo>
                <a:cubicBezTo>
                  <a:pt x="36685" y="33919"/>
                  <a:pt x="38786" y="36141"/>
                  <a:pt x="38710" y="38816"/>
                </a:cubicBezTo>
                <a:cubicBezTo>
                  <a:pt x="38710" y="38952"/>
                  <a:pt x="38710" y="39088"/>
                  <a:pt x="38710" y="39209"/>
                </a:cubicBezTo>
                <a:cubicBezTo>
                  <a:pt x="38710" y="46933"/>
                  <a:pt x="44968" y="53191"/>
                  <a:pt x="52692" y="53191"/>
                </a:cubicBezTo>
                <a:cubicBezTo>
                  <a:pt x="56395" y="53191"/>
                  <a:pt x="59948" y="51725"/>
                  <a:pt x="62578" y="49095"/>
                </a:cubicBezTo>
                <a:lnTo>
                  <a:pt x="73325" y="38348"/>
                </a:lnTo>
                <a:cubicBezTo>
                  <a:pt x="75940" y="35733"/>
                  <a:pt x="77421" y="32165"/>
                  <a:pt x="77421" y="28462"/>
                </a:cubicBezTo>
                <a:cubicBezTo>
                  <a:pt x="77421" y="20738"/>
                  <a:pt x="71163" y="14481"/>
                  <a:pt x="63439" y="14481"/>
                </a:cubicBezTo>
                <a:close/>
                <a:moveTo>
                  <a:pt x="41597" y="26195"/>
                </a:moveTo>
                <a:cubicBezTo>
                  <a:pt x="41310" y="26074"/>
                  <a:pt x="41023" y="25908"/>
                  <a:pt x="40766" y="25726"/>
                </a:cubicBezTo>
                <a:cubicBezTo>
                  <a:pt x="38862" y="24744"/>
                  <a:pt x="36685" y="24185"/>
                  <a:pt x="34403" y="24185"/>
                </a:cubicBezTo>
                <a:cubicBezTo>
                  <a:pt x="30699" y="24185"/>
                  <a:pt x="27147" y="25651"/>
                  <a:pt x="24517" y="28281"/>
                </a:cubicBezTo>
                <a:lnTo>
                  <a:pt x="13770" y="39028"/>
                </a:lnTo>
                <a:cubicBezTo>
                  <a:pt x="11155" y="41643"/>
                  <a:pt x="9674" y="45210"/>
                  <a:pt x="9674" y="48913"/>
                </a:cubicBezTo>
                <a:cubicBezTo>
                  <a:pt x="9674" y="56637"/>
                  <a:pt x="15932" y="62895"/>
                  <a:pt x="23656" y="62895"/>
                </a:cubicBezTo>
                <a:cubicBezTo>
                  <a:pt x="26150" y="62895"/>
                  <a:pt x="28583" y="62230"/>
                  <a:pt x="30714" y="60990"/>
                </a:cubicBezTo>
                <a:cubicBezTo>
                  <a:pt x="33103" y="63409"/>
                  <a:pt x="35884" y="65434"/>
                  <a:pt x="38967" y="66961"/>
                </a:cubicBezTo>
                <a:cubicBezTo>
                  <a:pt x="34705" y="70574"/>
                  <a:pt x="29294" y="72584"/>
                  <a:pt x="23656" y="72584"/>
                </a:cubicBezTo>
                <a:cubicBezTo>
                  <a:pt x="10596" y="72584"/>
                  <a:pt x="0" y="62003"/>
                  <a:pt x="0" y="48928"/>
                </a:cubicBezTo>
                <a:cubicBezTo>
                  <a:pt x="0" y="42656"/>
                  <a:pt x="2494" y="36640"/>
                  <a:pt x="6923" y="32211"/>
                </a:cubicBezTo>
                <a:lnTo>
                  <a:pt x="17670" y="21464"/>
                </a:lnTo>
                <a:cubicBezTo>
                  <a:pt x="22099" y="17035"/>
                  <a:pt x="28115" y="14541"/>
                  <a:pt x="34387" y="14541"/>
                </a:cubicBezTo>
                <a:cubicBezTo>
                  <a:pt x="47477" y="14541"/>
                  <a:pt x="58043" y="25212"/>
                  <a:pt x="58043" y="38257"/>
                </a:cubicBezTo>
                <a:cubicBezTo>
                  <a:pt x="58043" y="38453"/>
                  <a:pt x="58043" y="38650"/>
                  <a:pt x="58043" y="38846"/>
                </a:cubicBezTo>
                <a:cubicBezTo>
                  <a:pt x="57983" y="41522"/>
                  <a:pt x="55761" y="43623"/>
                  <a:pt x="53085" y="43562"/>
                </a:cubicBezTo>
                <a:cubicBezTo>
                  <a:pt x="50410" y="43502"/>
                  <a:pt x="48309" y="41280"/>
                  <a:pt x="48369" y="38605"/>
                </a:cubicBezTo>
                <a:cubicBezTo>
                  <a:pt x="48369" y="38484"/>
                  <a:pt x="48369" y="38378"/>
                  <a:pt x="48369" y="38257"/>
                </a:cubicBezTo>
                <a:cubicBezTo>
                  <a:pt x="48369" y="33163"/>
                  <a:pt x="45648" y="28689"/>
                  <a:pt x="41597" y="26225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66" name="Text 164"/>
          <p:cNvSpPr/>
          <p:nvPr/>
        </p:nvSpPr>
        <p:spPr>
          <a:xfrm>
            <a:off x="8368209" y="6165453"/>
            <a:ext cx="688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visit_id (FK)</a:t>
            </a:r>
            <a:endParaRPr lang="en-US" sz="1600" dirty="0"/>
          </a:p>
        </p:txBody>
      </p:sp>
      <p:sp>
        <p:nvSpPr>
          <p:cNvPr id="167" name="Shape 165"/>
          <p:cNvSpPr/>
          <p:nvPr/>
        </p:nvSpPr>
        <p:spPr>
          <a:xfrm>
            <a:off x="8194080" y="6346031"/>
            <a:ext cx="3579813" cy="182563"/>
          </a:xfrm>
          <a:custGeom>
            <a:avLst/>
            <a:gdLst/>
            <a:ahLst/>
            <a:cxnLst/>
            <a:rect l="l" t="t" r="r" b="b"/>
            <a:pathLst>
              <a:path w="3579813" h="182563">
                <a:moveTo>
                  <a:pt x="25796" y="0"/>
                </a:moveTo>
                <a:lnTo>
                  <a:pt x="3554016" y="0"/>
                </a:lnTo>
                <a:cubicBezTo>
                  <a:pt x="3568263" y="0"/>
                  <a:pt x="3579813" y="11549"/>
                  <a:pt x="3579813" y="25796"/>
                </a:cubicBezTo>
                <a:lnTo>
                  <a:pt x="3579813" y="156766"/>
                </a:lnTo>
                <a:cubicBezTo>
                  <a:pt x="3579812" y="171013"/>
                  <a:pt x="3568263" y="182563"/>
                  <a:pt x="3554016" y="182563"/>
                </a:cubicBezTo>
                <a:lnTo>
                  <a:pt x="25796" y="182563"/>
                </a:lnTo>
                <a:cubicBezTo>
                  <a:pt x="11549" y="182563"/>
                  <a:pt x="0" y="171013"/>
                  <a:pt x="0" y="156766"/>
                </a:cubicBezTo>
                <a:lnTo>
                  <a:pt x="0" y="25796"/>
                </a:lnTo>
                <a:cubicBezTo>
                  <a:pt x="0" y="11559"/>
                  <a:pt x="11559" y="0"/>
                  <a:pt x="25796" y="0"/>
                </a:cubicBezTo>
                <a:close/>
              </a:path>
            </a:pathLst>
          </a:custGeom>
          <a:solidFill>
            <a:srgbClr val="2C5F7C">
              <a:alpha val="10196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8223970" y="6398617"/>
            <a:ext cx="87064" cy="77391"/>
          </a:xfrm>
          <a:custGeom>
            <a:avLst/>
            <a:gdLst/>
            <a:ahLst/>
            <a:cxnLst/>
            <a:rect l="l" t="t" r="r" b="b"/>
            <a:pathLst>
              <a:path w="87064" h="77391">
                <a:moveTo>
                  <a:pt x="63409" y="14511"/>
                </a:moveTo>
                <a:cubicBezTo>
                  <a:pt x="60900" y="14511"/>
                  <a:pt x="58466" y="15191"/>
                  <a:pt x="56335" y="16430"/>
                </a:cubicBezTo>
                <a:cubicBezTo>
                  <a:pt x="53947" y="14012"/>
                  <a:pt x="51165" y="11986"/>
                  <a:pt x="48097" y="10460"/>
                </a:cubicBezTo>
                <a:cubicBezTo>
                  <a:pt x="52360" y="6832"/>
                  <a:pt x="57786" y="4837"/>
                  <a:pt x="63409" y="4837"/>
                </a:cubicBezTo>
                <a:cubicBezTo>
                  <a:pt x="76469" y="4837"/>
                  <a:pt x="87064" y="15418"/>
                  <a:pt x="87064" y="28492"/>
                </a:cubicBezTo>
                <a:cubicBezTo>
                  <a:pt x="87064" y="34765"/>
                  <a:pt x="84570" y="40781"/>
                  <a:pt x="80142" y="45210"/>
                </a:cubicBezTo>
                <a:lnTo>
                  <a:pt x="69395" y="55957"/>
                </a:lnTo>
                <a:cubicBezTo>
                  <a:pt x="64966" y="60386"/>
                  <a:pt x="58950" y="62880"/>
                  <a:pt x="52677" y="62880"/>
                </a:cubicBezTo>
                <a:cubicBezTo>
                  <a:pt x="39617" y="62880"/>
                  <a:pt x="29021" y="52299"/>
                  <a:pt x="29021" y="39224"/>
                </a:cubicBezTo>
                <a:cubicBezTo>
                  <a:pt x="29021" y="38998"/>
                  <a:pt x="29021" y="38771"/>
                  <a:pt x="29037" y="38544"/>
                </a:cubicBezTo>
                <a:cubicBezTo>
                  <a:pt x="29112" y="35869"/>
                  <a:pt x="31334" y="33768"/>
                  <a:pt x="34010" y="33843"/>
                </a:cubicBezTo>
                <a:cubicBezTo>
                  <a:pt x="36685" y="33919"/>
                  <a:pt x="38786" y="36141"/>
                  <a:pt x="38710" y="38816"/>
                </a:cubicBezTo>
                <a:cubicBezTo>
                  <a:pt x="38710" y="38952"/>
                  <a:pt x="38710" y="39088"/>
                  <a:pt x="38710" y="39209"/>
                </a:cubicBezTo>
                <a:cubicBezTo>
                  <a:pt x="38710" y="46933"/>
                  <a:pt x="44968" y="53191"/>
                  <a:pt x="52692" y="53191"/>
                </a:cubicBezTo>
                <a:cubicBezTo>
                  <a:pt x="56395" y="53191"/>
                  <a:pt x="59948" y="51725"/>
                  <a:pt x="62578" y="49095"/>
                </a:cubicBezTo>
                <a:lnTo>
                  <a:pt x="73325" y="38348"/>
                </a:lnTo>
                <a:cubicBezTo>
                  <a:pt x="75940" y="35733"/>
                  <a:pt x="77421" y="32165"/>
                  <a:pt x="77421" y="28462"/>
                </a:cubicBezTo>
                <a:cubicBezTo>
                  <a:pt x="77421" y="20738"/>
                  <a:pt x="71163" y="14481"/>
                  <a:pt x="63439" y="14481"/>
                </a:cubicBezTo>
                <a:close/>
                <a:moveTo>
                  <a:pt x="41597" y="26195"/>
                </a:moveTo>
                <a:cubicBezTo>
                  <a:pt x="41310" y="26074"/>
                  <a:pt x="41023" y="25908"/>
                  <a:pt x="40766" y="25726"/>
                </a:cubicBezTo>
                <a:cubicBezTo>
                  <a:pt x="38862" y="24744"/>
                  <a:pt x="36685" y="24185"/>
                  <a:pt x="34403" y="24185"/>
                </a:cubicBezTo>
                <a:cubicBezTo>
                  <a:pt x="30699" y="24185"/>
                  <a:pt x="27147" y="25651"/>
                  <a:pt x="24517" y="28281"/>
                </a:cubicBezTo>
                <a:lnTo>
                  <a:pt x="13770" y="39028"/>
                </a:lnTo>
                <a:cubicBezTo>
                  <a:pt x="11155" y="41643"/>
                  <a:pt x="9674" y="45210"/>
                  <a:pt x="9674" y="48913"/>
                </a:cubicBezTo>
                <a:cubicBezTo>
                  <a:pt x="9674" y="56637"/>
                  <a:pt x="15932" y="62895"/>
                  <a:pt x="23656" y="62895"/>
                </a:cubicBezTo>
                <a:cubicBezTo>
                  <a:pt x="26150" y="62895"/>
                  <a:pt x="28583" y="62230"/>
                  <a:pt x="30714" y="60990"/>
                </a:cubicBezTo>
                <a:cubicBezTo>
                  <a:pt x="33103" y="63409"/>
                  <a:pt x="35884" y="65434"/>
                  <a:pt x="38967" y="66961"/>
                </a:cubicBezTo>
                <a:cubicBezTo>
                  <a:pt x="34705" y="70574"/>
                  <a:pt x="29294" y="72584"/>
                  <a:pt x="23656" y="72584"/>
                </a:cubicBezTo>
                <a:cubicBezTo>
                  <a:pt x="10596" y="72584"/>
                  <a:pt x="0" y="62003"/>
                  <a:pt x="0" y="48928"/>
                </a:cubicBezTo>
                <a:cubicBezTo>
                  <a:pt x="0" y="42656"/>
                  <a:pt x="2494" y="36640"/>
                  <a:pt x="6923" y="32211"/>
                </a:cubicBezTo>
                <a:lnTo>
                  <a:pt x="17670" y="21464"/>
                </a:lnTo>
                <a:cubicBezTo>
                  <a:pt x="22099" y="17035"/>
                  <a:pt x="28115" y="14541"/>
                  <a:pt x="34387" y="14541"/>
                </a:cubicBezTo>
                <a:cubicBezTo>
                  <a:pt x="47477" y="14541"/>
                  <a:pt x="58043" y="25212"/>
                  <a:pt x="58043" y="38257"/>
                </a:cubicBezTo>
                <a:cubicBezTo>
                  <a:pt x="58043" y="38453"/>
                  <a:pt x="58043" y="38650"/>
                  <a:pt x="58043" y="38846"/>
                </a:cubicBezTo>
                <a:cubicBezTo>
                  <a:pt x="57983" y="41522"/>
                  <a:pt x="55761" y="43623"/>
                  <a:pt x="53085" y="43562"/>
                </a:cubicBezTo>
                <a:cubicBezTo>
                  <a:pt x="50410" y="43502"/>
                  <a:pt x="48309" y="41280"/>
                  <a:pt x="48369" y="38605"/>
                </a:cubicBezTo>
                <a:cubicBezTo>
                  <a:pt x="48369" y="38484"/>
                  <a:pt x="48369" y="38378"/>
                  <a:pt x="48369" y="38257"/>
                </a:cubicBezTo>
                <a:cubicBezTo>
                  <a:pt x="48369" y="33163"/>
                  <a:pt x="45648" y="28689"/>
                  <a:pt x="41597" y="26225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69" name="Text 167"/>
          <p:cNvSpPr/>
          <p:nvPr/>
        </p:nvSpPr>
        <p:spPr>
          <a:xfrm>
            <a:off x="8368209" y="6371828"/>
            <a:ext cx="7912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patient_id (FK)</a:t>
            </a:r>
            <a:endParaRPr lang="en-US" sz="1600" dirty="0"/>
          </a:p>
        </p:txBody>
      </p:sp>
      <p:sp>
        <p:nvSpPr>
          <p:cNvPr id="170" name="Shape 168"/>
          <p:cNvSpPr/>
          <p:nvPr/>
        </p:nvSpPr>
        <p:spPr>
          <a:xfrm>
            <a:off x="8227815" y="66188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71" name="Text 169"/>
          <p:cNvSpPr/>
          <p:nvPr/>
        </p:nvSpPr>
        <p:spPr>
          <a:xfrm>
            <a:off x="8331002" y="6578203"/>
            <a:ext cx="74364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scheduled_date</a:t>
            </a:r>
            <a:endParaRPr lang="en-US" sz="1600" dirty="0"/>
          </a:p>
        </p:txBody>
      </p:sp>
      <p:sp>
        <p:nvSpPr>
          <p:cNvPr id="172" name="Shape 170"/>
          <p:cNvSpPr/>
          <p:nvPr/>
        </p:nvSpPr>
        <p:spPr>
          <a:xfrm>
            <a:off x="8227815" y="68252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73" name="Text 171"/>
          <p:cNvSpPr/>
          <p:nvPr/>
        </p:nvSpPr>
        <p:spPr>
          <a:xfrm>
            <a:off x="8331002" y="6784578"/>
            <a:ext cx="68808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followup_type</a:t>
            </a:r>
            <a:endParaRPr lang="en-US" sz="1600" dirty="0"/>
          </a:p>
        </p:txBody>
      </p:sp>
      <p:sp>
        <p:nvSpPr>
          <p:cNvPr id="174" name="Shape 172"/>
          <p:cNvSpPr/>
          <p:nvPr/>
        </p:nvSpPr>
        <p:spPr>
          <a:xfrm>
            <a:off x="8227815" y="70316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75" name="Text 173"/>
          <p:cNvSpPr/>
          <p:nvPr/>
        </p:nvSpPr>
        <p:spPr>
          <a:xfrm>
            <a:off x="8331002" y="6990953"/>
            <a:ext cx="3467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status</a:t>
            </a:r>
            <a:endParaRPr lang="en-US" sz="1600" dirty="0"/>
          </a:p>
        </p:txBody>
      </p:sp>
      <p:sp>
        <p:nvSpPr>
          <p:cNvPr id="176" name="Shape 174"/>
          <p:cNvSpPr/>
          <p:nvPr/>
        </p:nvSpPr>
        <p:spPr>
          <a:xfrm>
            <a:off x="8227815" y="72380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10670"/>
                  <a:pt x="10670" y="0"/>
                  <a:pt x="23812" y="0"/>
                </a:cubicBezTo>
                <a:cubicBezTo>
                  <a:pt x="36955" y="0"/>
                  <a:pt x="47625" y="10670"/>
                  <a:pt x="47625" y="23812"/>
                </a:cubicBezTo>
                <a:cubicBezTo>
                  <a:pt x="47625" y="36955"/>
                  <a:pt x="36955" y="47625"/>
                  <a:pt x="23812" y="47625"/>
                </a:cubicBezTo>
                <a:cubicBezTo>
                  <a:pt x="10670" y="47625"/>
                  <a:pt x="0" y="36955"/>
                  <a:pt x="0" y="23812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77" name="Text 175"/>
          <p:cNvSpPr/>
          <p:nvPr/>
        </p:nvSpPr>
        <p:spPr>
          <a:xfrm>
            <a:off x="8331002" y="7197328"/>
            <a:ext cx="2912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notes</a:t>
            </a:r>
            <a:endParaRPr lang="en-US" sz="1600" dirty="0"/>
          </a:p>
        </p:txBody>
      </p:sp>
      <p:sp>
        <p:nvSpPr>
          <p:cNvPr id="178" name="Shape 176"/>
          <p:cNvSpPr/>
          <p:nvPr/>
        </p:nvSpPr>
        <p:spPr>
          <a:xfrm>
            <a:off x="317500" y="7532687"/>
            <a:ext cx="11557000" cy="309563"/>
          </a:xfrm>
          <a:custGeom>
            <a:avLst/>
            <a:gdLst/>
            <a:ahLst/>
            <a:cxnLst/>
            <a:rect l="l" t="t" r="r" b="b"/>
            <a:pathLst>
              <a:path w="11557000" h="309563">
                <a:moveTo>
                  <a:pt x="51595" y="0"/>
                </a:moveTo>
                <a:lnTo>
                  <a:pt x="11505405" y="0"/>
                </a:lnTo>
                <a:cubicBezTo>
                  <a:pt x="11533900" y="0"/>
                  <a:pt x="11557000" y="23100"/>
                  <a:pt x="11557000" y="51595"/>
                </a:cubicBezTo>
                <a:lnTo>
                  <a:pt x="11557000" y="257968"/>
                </a:lnTo>
                <a:cubicBezTo>
                  <a:pt x="11557000" y="286463"/>
                  <a:pt x="11533900" y="309562"/>
                  <a:pt x="11505405" y="309563"/>
                </a:cubicBezTo>
                <a:lnTo>
                  <a:pt x="51595" y="309563"/>
                </a:lnTo>
                <a:cubicBezTo>
                  <a:pt x="23100" y="309563"/>
                  <a:pt x="0" y="286463"/>
                  <a:pt x="0" y="257968"/>
                </a:cubicBezTo>
                <a:lnTo>
                  <a:pt x="0" y="51595"/>
                </a:lnTo>
                <a:cubicBezTo>
                  <a:pt x="0" y="23119"/>
                  <a:pt x="23119" y="0"/>
                  <a:pt x="51595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409773" y="7621984"/>
            <a:ext cx="128984" cy="128984"/>
          </a:xfrm>
          <a:custGeom>
            <a:avLst/>
            <a:gdLst/>
            <a:ahLst/>
            <a:cxnLst/>
            <a:rect l="l" t="t" r="r" b="b"/>
            <a:pathLst>
              <a:path w="128984" h="128984">
                <a:moveTo>
                  <a:pt x="64492" y="128984"/>
                </a:moveTo>
                <a:cubicBezTo>
                  <a:pt x="100086" y="128984"/>
                  <a:pt x="128984" y="100086"/>
                  <a:pt x="128984" y="64492"/>
                </a:cubicBezTo>
                <a:cubicBezTo>
                  <a:pt x="128984" y="28898"/>
                  <a:pt x="100086" y="0"/>
                  <a:pt x="64492" y="0"/>
                </a:cubicBezTo>
                <a:cubicBezTo>
                  <a:pt x="28898" y="0"/>
                  <a:pt x="0" y="28898"/>
                  <a:pt x="0" y="64492"/>
                </a:cubicBezTo>
                <a:cubicBezTo>
                  <a:pt x="0" y="100086"/>
                  <a:pt x="28898" y="128984"/>
                  <a:pt x="64492" y="128984"/>
                </a:cubicBezTo>
                <a:close/>
                <a:moveTo>
                  <a:pt x="56431" y="40308"/>
                </a:moveTo>
                <a:cubicBezTo>
                  <a:pt x="56431" y="35858"/>
                  <a:pt x="60043" y="32246"/>
                  <a:pt x="64492" y="32246"/>
                </a:cubicBezTo>
                <a:cubicBezTo>
                  <a:pt x="68941" y="32246"/>
                  <a:pt x="72554" y="35858"/>
                  <a:pt x="72554" y="40308"/>
                </a:cubicBezTo>
                <a:cubicBezTo>
                  <a:pt x="72554" y="44757"/>
                  <a:pt x="68941" y="48369"/>
                  <a:pt x="64492" y="48369"/>
                </a:cubicBezTo>
                <a:cubicBezTo>
                  <a:pt x="60043" y="48369"/>
                  <a:pt x="56431" y="44757"/>
                  <a:pt x="56431" y="40308"/>
                </a:cubicBezTo>
                <a:close/>
                <a:moveTo>
                  <a:pt x="54415" y="56431"/>
                </a:moveTo>
                <a:lnTo>
                  <a:pt x="66508" y="56431"/>
                </a:lnTo>
                <a:cubicBezTo>
                  <a:pt x="69858" y="56431"/>
                  <a:pt x="72554" y="59126"/>
                  <a:pt x="72554" y="62477"/>
                </a:cubicBezTo>
                <a:lnTo>
                  <a:pt x="72554" y="84646"/>
                </a:lnTo>
                <a:lnTo>
                  <a:pt x="74569" y="84646"/>
                </a:lnTo>
                <a:cubicBezTo>
                  <a:pt x="77920" y="84646"/>
                  <a:pt x="80615" y="87342"/>
                  <a:pt x="80615" y="90692"/>
                </a:cubicBezTo>
                <a:cubicBezTo>
                  <a:pt x="80615" y="94043"/>
                  <a:pt x="77920" y="96738"/>
                  <a:pt x="74569" y="96738"/>
                </a:cubicBezTo>
                <a:lnTo>
                  <a:pt x="54415" y="96738"/>
                </a:lnTo>
                <a:cubicBezTo>
                  <a:pt x="51065" y="96738"/>
                  <a:pt x="48369" y="94043"/>
                  <a:pt x="48369" y="90692"/>
                </a:cubicBezTo>
                <a:cubicBezTo>
                  <a:pt x="48369" y="87342"/>
                  <a:pt x="51065" y="84646"/>
                  <a:pt x="54415" y="84646"/>
                </a:cubicBezTo>
                <a:lnTo>
                  <a:pt x="60461" y="84646"/>
                </a:lnTo>
                <a:lnTo>
                  <a:pt x="60461" y="68523"/>
                </a:lnTo>
                <a:lnTo>
                  <a:pt x="54415" y="68523"/>
                </a:lnTo>
                <a:cubicBezTo>
                  <a:pt x="51065" y="68523"/>
                  <a:pt x="48369" y="65827"/>
                  <a:pt x="48369" y="62477"/>
                </a:cubicBezTo>
                <a:cubicBezTo>
                  <a:pt x="48369" y="59126"/>
                  <a:pt x="51065" y="56431"/>
                  <a:pt x="54415" y="564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0" name="Text 178"/>
          <p:cNvSpPr/>
          <p:nvPr/>
        </p:nvSpPr>
        <p:spPr>
          <a:xfrm>
            <a:off x="633512" y="7610078"/>
            <a:ext cx="5210969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</a:t>
            </a:r>
            <a:pPr>
              <a:lnSpc>
                <a:spcPct val="130000"/>
              </a:lnSpc>
            </a:pPr>
            <a:r>
              <a:rPr lang="en-US" sz="8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Primary Key | </a:t>
            </a:r>
            <a:pPr>
              <a:lnSpc>
                <a:spcPct val="130000"/>
              </a:lnSpc>
            </a:pPr>
            <a:r>
              <a:rPr lang="en-US" sz="8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FK</a:t>
            </a:r>
            <a:pPr>
              <a:lnSpc>
                <a:spcPct val="130000"/>
              </a:lnSpc>
            </a:pPr>
            <a:r>
              <a:rPr lang="en-US" sz="8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Foreign Key | All tables include </a:t>
            </a:r>
            <a:pPr>
              <a:lnSpc>
                <a:spcPct val="130000"/>
              </a:lnSpc>
            </a:pPr>
            <a:r>
              <a:rPr lang="en-US" sz="8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created_at</a:t>
            </a:r>
            <a:pPr>
              <a:lnSpc>
                <a:spcPct val="130000"/>
              </a:lnSpc>
            </a:pPr>
            <a:r>
              <a:rPr lang="en-US" sz="8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8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updated_at</a:t>
            </a:r>
            <a:pPr>
              <a:lnSpc>
                <a:spcPct val="130000"/>
              </a:lnSpc>
            </a:pPr>
            <a:r>
              <a:rPr lang="en-US" sz="8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timestamp fields for audit tracking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7694"/>
            <a:ext cx="115693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Architecture &amp; Data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31081"/>
            <a:ext cx="6781800" cy="4733925"/>
          </a:xfrm>
          <a:custGeom>
            <a:avLst/>
            <a:gdLst/>
            <a:ahLst/>
            <a:cxnLst/>
            <a:rect l="l" t="t" r="r" b="b"/>
            <a:pathLst>
              <a:path w="6781800" h="4733925">
                <a:moveTo>
                  <a:pt x="61920" y="0"/>
                </a:moveTo>
                <a:lnTo>
                  <a:pt x="6719880" y="0"/>
                </a:lnTo>
                <a:cubicBezTo>
                  <a:pt x="6754078" y="0"/>
                  <a:pt x="6781800" y="27722"/>
                  <a:pt x="6781800" y="61920"/>
                </a:cubicBezTo>
                <a:lnTo>
                  <a:pt x="6781800" y="4672005"/>
                </a:lnTo>
                <a:cubicBezTo>
                  <a:pt x="6781800" y="4706203"/>
                  <a:pt x="6754078" y="4733925"/>
                  <a:pt x="6719880" y="4733925"/>
                </a:cubicBezTo>
                <a:lnTo>
                  <a:pt x="61920" y="4733925"/>
                </a:lnTo>
                <a:cubicBezTo>
                  <a:pt x="27722" y="4733925"/>
                  <a:pt x="0" y="4706203"/>
                  <a:pt x="0" y="4672005"/>
                </a:cubicBezTo>
                <a:lnTo>
                  <a:pt x="0" y="61920"/>
                </a:lnTo>
                <a:cubicBezTo>
                  <a:pt x="0" y="27745"/>
                  <a:pt x="27745" y="0"/>
                  <a:pt x="619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7086" y="1185863"/>
            <a:ext cx="65543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3401" y="1534001"/>
            <a:ext cx="6463665" cy="1101090"/>
          </a:xfrm>
          <a:custGeom>
            <a:avLst/>
            <a:gdLst/>
            <a:ahLst/>
            <a:cxnLst/>
            <a:rect l="l" t="t" r="r" b="b"/>
            <a:pathLst>
              <a:path w="6463665" h="1101090">
                <a:moveTo>
                  <a:pt x="61914" y="0"/>
                </a:moveTo>
                <a:lnTo>
                  <a:pt x="6401751" y="0"/>
                </a:lnTo>
                <a:cubicBezTo>
                  <a:pt x="6435945" y="0"/>
                  <a:pt x="6463665" y="27720"/>
                  <a:pt x="6463665" y="61914"/>
                </a:cubicBezTo>
                <a:lnTo>
                  <a:pt x="6463665" y="1039176"/>
                </a:lnTo>
                <a:cubicBezTo>
                  <a:pt x="6463665" y="1073370"/>
                  <a:pt x="6435945" y="1101090"/>
                  <a:pt x="6401751" y="1101090"/>
                </a:cubicBezTo>
                <a:lnTo>
                  <a:pt x="61914" y="1101090"/>
                </a:lnTo>
                <a:cubicBezTo>
                  <a:pt x="27720" y="1101090"/>
                  <a:pt x="0" y="1073370"/>
                  <a:pt x="0" y="1039176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 w="20320">
            <a:solidFill>
              <a:srgbClr val="2C5F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4846" y="166544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61913" y="0"/>
                </a:moveTo>
                <a:lnTo>
                  <a:pt x="252412" y="0"/>
                </a:lnTo>
                <a:cubicBezTo>
                  <a:pt x="286583" y="0"/>
                  <a:pt x="314325" y="27742"/>
                  <a:pt x="314325" y="61913"/>
                </a:cubicBezTo>
                <a:lnTo>
                  <a:pt x="314325" y="252412"/>
                </a:lnTo>
                <a:cubicBezTo>
                  <a:pt x="314325" y="286606"/>
                  <a:pt x="286606" y="314325"/>
                  <a:pt x="252412" y="314325"/>
                </a:cubicBezTo>
                <a:lnTo>
                  <a:pt x="61913" y="314325"/>
                </a:lnTo>
                <a:cubicBezTo>
                  <a:pt x="27719" y="314325"/>
                  <a:pt x="0" y="286606"/>
                  <a:pt x="0" y="252412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8" name="Shape 6"/>
          <p:cNvSpPr/>
          <p:nvPr/>
        </p:nvSpPr>
        <p:spPr>
          <a:xfrm>
            <a:off x="750689" y="1741647"/>
            <a:ext cx="154781" cy="154781"/>
          </a:xfrm>
          <a:custGeom>
            <a:avLst/>
            <a:gdLst/>
            <a:ahLst/>
            <a:cxnLst/>
            <a:rect l="l" t="t" r="r" b="b"/>
            <a:pathLst>
              <a:path w="154781" h="154781">
                <a:moveTo>
                  <a:pt x="19348" y="9674"/>
                </a:moveTo>
                <a:cubicBezTo>
                  <a:pt x="8676" y="9674"/>
                  <a:pt x="0" y="18350"/>
                  <a:pt x="0" y="29021"/>
                </a:cubicBezTo>
                <a:lnTo>
                  <a:pt x="0" y="106412"/>
                </a:lnTo>
                <a:cubicBezTo>
                  <a:pt x="0" y="117084"/>
                  <a:pt x="8676" y="125760"/>
                  <a:pt x="19348" y="125760"/>
                </a:cubicBezTo>
                <a:lnTo>
                  <a:pt x="62880" y="125760"/>
                </a:lnTo>
                <a:lnTo>
                  <a:pt x="58043" y="140271"/>
                </a:lnTo>
                <a:lnTo>
                  <a:pt x="36277" y="140271"/>
                </a:lnTo>
                <a:cubicBezTo>
                  <a:pt x="32256" y="140271"/>
                  <a:pt x="29021" y="143505"/>
                  <a:pt x="29021" y="147526"/>
                </a:cubicBezTo>
                <a:cubicBezTo>
                  <a:pt x="29021" y="151547"/>
                  <a:pt x="32256" y="154781"/>
                  <a:pt x="36277" y="154781"/>
                </a:cubicBezTo>
                <a:lnTo>
                  <a:pt x="118504" y="154781"/>
                </a:lnTo>
                <a:cubicBezTo>
                  <a:pt x="122525" y="154781"/>
                  <a:pt x="125760" y="151547"/>
                  <a:pt x="125760" y="147526"/>
                </a:cubicBezTo>
                <a:cubicBezTo>
                  <a:pt x="125760" y="143505"/>
                  <a:pt x="122525" y="140271"/>
                  <a:pt x="118504" y="140271"/>
                </a:cubicBezTo>
                <a:lnTo>
                  <a:pt x="96738" y="140271"/>
                </a:lnTo>
                <a:lnTo>
                  <a:pt x="91901" y="125760"/>
                </a:lnTo>
                <a:lnTo>
                  <a:pt x="135434" y="125760"/>
                </a:lnTo>
                <a:cubicBezTo>
                  <a:pt x="146105" y="125760"/>
                  <a:pt x="154781" y="117084"/>
                  <a:pt x="154781" y="106412"/>
                </a:cubicBezTo>
                <a:lnTo>
                  <a:pt x="154781" y="29021"/>
                </a:lnTo>
                <a:cubicBezTo>
                  <a:pt x="154781" y="18350"/>
                  <a:pt x="146105" y="9674"/>
                  <a:pt x="135434" y="9674"/>
                </a:cubicBezTo>
                <a:lnTo>
                  <a:pt x="19348" y="9674"/>
                </a:lnTo>
                <a:close/>
                <a:moveTo>
                  <a:pt x="29021" y="29021"/>
                </a:moveTo>
                <a:lnTo>
                  <a:pt x="125760" y="29021"/>
                </a:lnTo>
                <a:cubicBezTo>
                  <a:pt x="131111" y="29021"/>
                  <a:pt x="135434" y="33344"/>
                  <a:pt x="135434" y="38695"/>
                </a:cubicBezTo>
                <a:lnTo>
                  <a:pt x="135434" y="87064"/>
                </a:lnTo>
                <a:cubicBezTo>
                  <a:pt x="135434" y="92415"/>
                  <a:pt x="131111" y="96738"/>
                  <a:pt x="125760" y="96738"/>
                </a:cubicBezTo>
                <a:lnTo>
                  <a:pt x="29021" y="96738"/>
                </a:lnTo>
                <a:cubicBezTo>
                  <a:pt x="23671" y="96738"/>
                  <a:pt x="19348" y="92415"/>
                  <a:pt x="19348" y="87064"/>
                </a:cubicBezTo>
                <a:lnTo>
                  <a:pt x="19348" y="38695"/>
                </a:lnTo>
                <a:cubicBezTo>
                  <a:pt x="19348" y="33344"/>
                  <a:pt x="23671" y="29021"/>
                  <a:pt x="29021" y="290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77277" y="1711882"/>
            <a:ext cx="12221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4846" y="2067878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>
                <a:moveTo>
                  <a:pt x="30955" y="0"/>
                </a:moveTo>
                <a:lnTo>
                  <a:pt x="1997870" y="0"/>
                </a:lnTo>
                <a:cubicBezTo>
                  <a:pt x="2014966" y="0"/>
                  <a:pt x="2028825" y="13859"/>
                  <a:pt x="2028825" y="30955"/>
                </a:cubicBezTo>
                <a:lnTo>
                  <a:pt x="2028825" y="407195"/>
                </a:lnTo>
                <a:cubicBezTo>
                  <a:pt x="2028825" y="424291"/>
                  <a:pt x="2014966" y="438150"/>
                  <a:pt x="1997870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638404" y="2143246"/>
            <a:ext cx="94804" cy="108347"/>
          </a:xfrm>
          <a:custGeom>
            <a:avLst/>
            <a:gdLst/>
            <a:ahLst/>
            <a:cxnLst/>
            <a:rect l="l" t="t" r="r" b="b"/>
            <a:pathLst>
              <a:path w="94804" h="108347">
                <a:moveTo>
                  <a:pt x="47402" y="1693"/>
                </a:moveTo>
                <a:cubicBezTo>
                  <a:pt x="33387" y="1693"/>
                  <a:pt x="22008" y="13071"/>
                  <a:pt x="22008" y="27087"/>
                </a:cubicBezTo>
                <a:cubicBezTo>
                  <a:pt x="22008" y="41102"/>
                  <a:pt x="33387" y="52481"/>
                  <a:pt x="47402" y="52481"/>
                </a:cubicBezTo>
                <a:cubicBezTo>
                  <a:pt x="61417" y="52481"/>
                  <a:pt x="72796" y="41102"/>
                  <a:pt x="72796" y="27087"/>
                </a:cubicBezTo>
                <a:cubicBezTo>
                  <a:pt x="72796" y="13071"/>
                  <a:pt x="61417" y="1693"/>
                  <a:pt x="47402" y="1693"/>
                </a:cubicBezTo>
                <a:close/>
                <a:moveTo>
                  <a:pt x="60099" y="67886"/>
                </a:moveTo>
                <a:cubicBezTo>
                  <a:pt x="58956" y="67780"/>
                  <a:pt x="57771" y="67717"/>
                  <a:pt x="56586" y="67717"/>
                </a:cubicBezTo>
                <a:lnTo>
                  <a:pt x="38197" y="67717"/>
                </a:lnTo>
                <a:cubicBezTo>
                  <a:pt x="37011" y="67717"/>
                  <a:pt x="35848" y="67780"/>
                  <a:pt x="34684" y="67886"/>
                </a:cubicBezTo>
                <a:lnTo>
                  <a:pt x="34684" y="82170"/>
                </a:lnTo>
                <a:cubicBezTo>
                  <a:pt x="38175" y="83778"/>
                  <a:pt x="40609" y="87312"/>
                  <a:pt x="40609" y="91397"/>
                </a:cubicBezTo>
                <a:cubicBezTo>
                  <a:pt x="40609" y="97004"/>
                  <a:pt x="36059" y="101554"/>
                  <a:pt x="30451" y="101554"/>
                </a:cubicBezTo>
                <a:cubicBezTo>
                  <a:pt x="24844" y="101554"/>
                  <a:pt x="20294" y="97004"/>
                  <a:pt x="20294" y="91397"/>
                </a:cubicBezTo>
                <a:cubicBezTo>
                  <a:pt x="20294" y="87291"/>
                  <a:pt x="22727" y="83757"/>
                  <a:pt x="26219" y="82170"/>
                </a:cubicBezTo>
                <a:lnTo>
                  <a:pt x="26219" y="69812"/>
                </a:lnTo>
                <a:cubicBezTo>
                  <a:pt x="12909" y="74700"/>
                  <a:pt x="3386" y="87524"/>
                  <a:pt x="3386" y="102549"/>
                </a:cubicBezTo>
                <a:cubicBezTo>
                  <a:pt x="3386" y="105744"/>
                  <a:pt x="5989" y="108347"/>
                  <a:pt x="9184" y="108347"/>
                </a:cubicBezTo>
                <a:lnTo>
                  <a:pt x="85598" y="108347"/>
                </a:lnTo>
                <a:cubicBezTo>
                  <a:pt x="88794" y="108347"/>
                  <a:pt x="91397" y="105744"/>
                  <a:pt x="91397" y="102549"/>
                </a:cubicBezTo>
                <a:cubicBezTo>
                  <a:pt x="91397" y="87524"/>
                  <a:pt x="81874" y="74721"/>
                  <a:pt x="68542" y="69833"/>
                </a:cubicBezTo>
                <a:lnTo>
                  <a:pt x="68542" y="77747"/>
                </a:lnTo>
                <a:cubicBezTo>
                  <a:pt x="73473" y="79483"/>
                  <a:pt x="77007" y="84202"/>
                  <a:pt x="77007" y="89725"/>
                </a:cubicBezTo>
                <a:lnTo>
                  <a:pt x="77007" y="96496"/>
                </a:lnTo>
                <a:cubicBezTo>
                  <a:pt x="77007" y="98824"/>
                  <a:pt x="75102" y="100729"/>
                  <a:pt x="72774" y="100729"/>
                </a:cubicBezTo>
                <a:cubicBezTo>
                  <a:pt x="70447" y="100729"/>
                  <a:pt x="68542" y="98824"/>
                  <a:pt x="68542" y="96496"/>
                </a:cubicBezTo>
                <a:lnTo>
                  <a:pt x="68542" y="89725"/>
                </a:lnTo>
                <a:cubicBezTo>
                  <a:pt x="68542" y="87397"/>
                  <a:pt x="66638" y="85492"/>
                  <a:pt x="64310" y="85492"/>
                </a:cubicBezTo>
                <a:cubicBezTo>
                  <a:pt x="61982" y="85492"/>
                  <a:pt x="60077" y="87397"/>
                  <a:pt x="60077" y="89725"/>
                </a:cubicBezTo>
                <a:lnTo>
                  <a:pt x="60077" y="96496"/>
                </a:lnTo>
                <a:cubicBezTo>
                  <a:pt x="60077" y="98824"/>
                  <a:pt x="58173" y="100729"/>
                  <a:pt x="55845" y="100729"/>
                </a:cubicBezTo>
                <a:cubicBezTo>
                  <a:pt x="53517" y="100729"/>
                  <a:pt x="51613" y="98824"/>
                  <a:pt x="51613" y="96496"/>
                </a:cubicBezTo>
                <a:lnTo>
                  <a:pt x="51613" y="89725"/>
                </a:lnTo>
                <a:cubicBezTo>
                  <a:pt x="51613" y="84202"/>
                  <a:pt x="55147" y="79504"/>
                  <a:pt x="60077" y="77747"/>
                </a:cubicBezTo>
                <a:lnTo>
                  <a:pt x="60077" y="6788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709672" y="2284572"/>
            <a:ext cx="1959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Portal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60821" y="2067878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>
                <a:moveTo>
                  <a:pt x="30955" y="0"/>
                </a:moveTo>
                <a:lnTo>
                  <a:pt x="1997870" y="0"/>
                </a:lnTo>
                <a:cubicBezTo>
                  <a:pt x="2014966" y="0"/>
                  <a:pt x="2028825" y="13859"/>
                  <a:pt x="2028825" y="30955"/>
                </a:cubicBezTo>
                <a:lnTo>
                  <a:pt x="2028825" y="407195"/>
                </a:lnTo>
                <a:cubicBezTo>
                  <a:pt x="2028825" y="424291"/>
                  <a:pt x="2014966" y="438150"/>
                  <a:pt x="1997870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704064" y="2143246"/>
            <a:ext cx="135434" cy="108347"/>
          </a:xfrm>
          <a:custGeom>
            <a:avLst/>
            <a:gdLst/>
            <a:ahLst/>
            <a:cxnLst/>
            <a:rect l="l" t="t" r="r" b="b"/>
            <a:pathLst>
              <a:path w="135434" h="108347">
                <a:moveTo>
                  <a:pt x="54279" y="1693"/>
                </a:moveTo>
                <a:cubicBezTo>
                  <a:pt x="68294" y="1693"/>
                  <a:pt x="79673" y="13071"/>
                  <a:pt x="79673" y="27087"/>
                </a:cubicBezTo>
                <a:cubicBezTo>
                  <a:pt x="79673" y="41102"/>
                  <a:pt x="68294" y="52481"/>
                  <a:pt x="54279" y="52481"/>
                </a:cubicBezTo>
                <a:cubicBezTo>
                  <a:pt x="40264" y="52481"/>
                  <a:pt x="28885" y="41102"/>
                  <a:pt x="28885" y="27087"/>
                </a:cubicBezTo>
                <a:cubicBezTo>
                  <a:pt x="28885" y="13071"/>
                  <a:pt x="40264" y="1693"/>
                  <a:pt x="54279" y="1693"/>
                </a:cubicBezTo>
                <a:close/>
                <a:moveTo>
                  <a:pt x="47973" y="64331"/>
                </a:moveTo>
                <a:lnTo>
                  <a:pt x="60543" y="64331"/>
                </a:lnTo>
                <a:lnTo>
                  <a:pt x="60860" y="64331"/>
                </a:lnTo>
                <a:cubicBezTo>
                  <a:pt x="58131" y="70002"/>
                  <a:pt x="59210" y="76647"/>
                  <a:pt x="63294" y="81154"/>
                </a:cubicBezTo>
                <a:cubicBezTo>
                  <a:pt x="59019" y="85873"/>
                  <a:pt x="58046" y="92962"/>
                  <a:pt x="61305" y="98803"/>
                </a:cubicBezTo>
                <a:lnTo>
                  <a:pt x="66066" y="107352"/>
                </a:lnTo>
                <a:cubicBezTo>
                  <a:pt x="66257" y="107691"/>
                  <a:pt x="66468" y="108029"/>
                  <a:pt x="66680" y="108347"/>
                </a:cubicBezTo>
                <a:lnTo>
                  <a:pt x="16527" y="108347"/>
                </a:lnTo>
                <a:cubicBezTo>
                  <a:pt x="13057" y="108347"/>
                  <a:pt x="10242" y="105532"/>
                  <a:pt x="10242" y="102062"/>
                </a:cubicBezTo>
                <a:cubicBezTo>
                  <a:pt x="10242" y="81218"/>
                  <a:pt x="27129" y="64331"/>
                  <a:pt x="47973" y="64331"/>
                </a:cubicBezTo>
                <a:close/>
                <a:moveTo>
                  <a:pt x="91545" y="52396"/>
                </a:moveTo>
                <a:cubicBezTo>
                  <a:pt x="91545" y="49581"/>
                  <a:pt x="93809" y="47317"/>
                  <a:pt x="96623" y="47317"/>
                </a:cubicBezTo>
                <a:lnTo>
                  <a:pt x="106781" y="47317"/>
                </a:lnTo>
                <a:cubicBezTo>
                  <a:pt x="109595" y="47317"/>
                  <a:pt x="111860" y="49581"/>
                  <a:pt x="111860" y="52396"/>
                </a:cubicBezTo>
                <a:lnTo>
                  <a:pt x="111860" y="53687"/>
                </a:lnTo>
                <a:cubicBezTo>
                  <a:pt x="111860" y="57686"/>
                  <a:pt x="116960" y="60628"/>
                  <a:pt x="120430" y="58639"/>
                </a:cubicBezTo>
                <a:lnTo>
                  <a:pt x="121488" y="58025"/>
                </a:lnTo>
                <a:cubicBezTo>
                  <a:pt x="123943" y="56607"/>
                  <a:pt x="127096" y="57475"/>
                  <a:pt x="128471" y="59951"/>
                </a:cubicBezTo>
                <a:lnTo>
                  <a:pt x="133212" y="68457"/>
                </a:lnTo>
                <a:cubicBezTo>
                  <a:pt x="134524" y="70828"/>
                  <a:pt x="133762" y="73790"/>
                  <a:pt x="131476" y="75229"/>
                </a:cubicBezTo>
                <a:lnTo>
                  <a:pt x="130482" y="75843"/>
                </a:lnTo>
                <a:cubicBezTo>
                  <a:pt x="127054" y="77980"/>
                  <a:pt x="127054" y="84286"/>
                  <a:pt x="130482" y="86445"/>
                </a:cubicBezTo>
                <a:lnTo>
                  <a:pt x="131455" y="87058"/>
                </a:lnTo>
                <a:cubicBezTo>
                  <a:pt x="133741" y="88497"/>
                  <a:pt x="134524" y="91460"/>
                  <a:pt x="133212" y="93830"/>
                </a:cubicBezTo>
                <a:lnTo>
                  <a:pt x="128450" y="102379"/>
                </a:lnTo>
                <a:cubicBezTo>
                  <a:pt x="127075" y="104855"/>
                  <a:pt x="123922" y="105744"/>
                  <a:pt x="121467" y="104305"/>
                </a:cubicBezTo>
                <a:lnTo>
                  <a:pt x="120430" y="103691"/>
                </a:lnTo>
                <a:cubicBezTo>
                  <a:pt x="116960" y="101681"/>
                  <a:pt x="111860" y="104644"/>
                  <a:pt x="111860" y="108643"/>
                </a:cubicBezTo>
                <a:lnTo>
                  <a:pt x="111860" y="109934"/>
                </a:lnTo>
                <a:cubicBezTo>
                  <a:pt x="111860" y="112748"/>
                  <a:pt x="109595" y="115013"/>
                  <a:pt x="106781" y="115013"/>
                </a:cubicBezTo>
                <a:lnTo>
                  <a:pt x="96623" y="115013"/>
                </a:lnTo>
                <a:cubicBezTo>
                  <a:pt x="93809" y="115013"/>
                  <a:pt x="91545" y="112748"/>
                  <a:pt x="91545" y="109934"/>
                </a:cubicBezTo>
                <a:lnTo>
                  <a:pt x="91545" y="108685"/>
                </a:lnTo>
                <a:cubicBezTo>
                  <a:pt x="91545" y="104665"/>
                  <a:pt x="86424" y="101702"/>
                  <a:pt x="82932" y="103713"/>
                </a:cubicBezTo>
                <a:lnTo>
                  <a:pt x="81916" y="104305"/>
                </a:lnTo>
                <a:cubicBezTo>
                  <a:pt x="79461" y="105723"/>
                  <a:pt x="76330" y="104855"/>
                  <a:pt x="74933" y="102379"/>
                </a:cubicBezTo>
                <a:lnTo>
                  <a:pt x="70150" y="93830"/>
                </a:lnTo>
                <a:cubicBezTo>
                  <a:pt x="68838" y="91460"/>
                  <a:pt x="69600" y="88476"/>
                  <a:pt x="71907" y="87037"/>
                </a:cubicBezTo>
                <a:lnTo>
                  <a:pt x="72838" y="86466"/>
                </a:lnTo>
                <a:cubicBezTo>
                  <a:pt x="76287" y="84329"/>
                  <a:pt x="76287" y="77980"/>
                  <a:pt x="72838" y="75843"/>
                </a:cubicBezTo>
                <a:lnTo>
                  <a:pt x="71886" y="75250"/>
                </a:lnTo>
                <a:cubicBezTo>
                  <a:pt x="69579" y="73811"/>
                  <a:pt x="68817" y="70828"/>
                  <a:pt x="70129" y="68457"/>
                </a:cubicBezTo>
                <a:lnTo>
                  <a:pt x="74891" y="59929"/>
                </a:lnTo>
                <a:cubicBezTo>
                  <a:pt x="76266" y="57453"/>
                  <a:pt x="79419" y="56586"/>
                  <a:pt x="81853" y="58004"/>
                </a:cubicBezTo>
                <a:lnTo>
                  <a:pt x="82868" y="58596"/>
                </a:lnTo>
                <a:cubicBezTo>
                  <a:pt x="86360" y="60607"/>
                  <a:pt x="91481" y="57644"/>
                  <a:pt x="91481" y="53623"/>
                </a:cubicBezTo>
                <a:lnTo>
                  <a:pt x="91481" y="52375"/>
                </a:lnTo>
                <a:close/>
                <a:moveTo>
                  <a:pt x="112685" y="81218"/>
                </a:moveTo>
                <a:cubicBezTo>
                  <a:pt x="112685" y="75145"/>
                  <a:pt x="107754" y="70214"/>
                  <a:pt x="101681" y="70214"/>
                </a:cubicBezTo>
                <a:cubicBezTo>
                  <a:pt x="95608" y="70214"/>
                  <a:pt x="90677" y="75145"/>
                  <a:pt x="90677" y="81218"/>
                </a:cubicBezTo>
                <a:cubicBezTo>
                  <a:pt x="90677" y="87291"/>
                  <a:pt x="95608" y="92222"/>
                  <a:pt x="101681" y="92222"/>
                </a:cubicBezTo>
                <a:cubicBezTo>
                  <a:pt x="107754" y="92222"/>
                  <a:pt x="112685" y="87291"/>
                  <a:pt x="112685" y="8121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2795647" y="2284572"/>
            <a:ext cx="1959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796" y="2067878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>
                <a:moveTo>
                  <a:pt x="30955" y="0"/>
                </a:moveTo>
                <a:lnTo>
                  <a:pt x="1997870" y="0"/>
                </a:lnTo>
                <a:cubicBezTo>
                  <a:pt x="2014966" y="0"/>
                  <a:pt x="2028825" y="13859"/>
                  <a:pt x="2028825" y="30955"/>
                </a:cubicBezTo>
                <a:lnTo>
                  <a:pt x="2028825" y="407195"/>
                </a:lnTo>
                <a:cubicBezTo>
                  <a:pt x="2028825" y="424291"/>
                  <a:pt x="2014966" y="438150"/>
                  <a:pt x="1997870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817126" y="2143246"/>
            <a:ext cx="81260" cy="108347"/>
          </a:xfrm>
          <a:custGeom>
            <a:avLst/>
            <a:gdLst/>
            <a:ahLst/>
            <a:cxnLst/>
            <a:rect l="l" t="t" r="r" b="b"/>
            <a:pathLst>
              <a:path w="81260" h="108347">
                <a:moveTo>
                  <a:pt x="3386" y="13543"/>
                </a:moveTo>
                <a:cubicBezTo>
                  <a:pt x="3386" y="6073"/>
                  <a:pt x="9459" y="0"/>
                  <a:pt x="16929" y="0"/>
                </a:cubicBezTo>
                <a:lnTo>
                  <a:pt x="64331" y="0"/>
                </a:lnTo>
                <a:cubicBezTo>
                  <a:pt x="71801" y="0"/>
                  <a:pt x="77874" y="6073"/>
                  <a:pt x="77874" y="13543"/>
                </a:cubicBezTo>
                <a:lnTo>
                  <a:pt x="77874" y="94804"/>
                </a:lnTo>
                <a:cubicBezTo>
                  <a:pt x="77874" y="102274"/>
                  <a:pt x="71801" y="108347"/>
                  <a:pt x="64331" y="108347"/>
                </a:cubicBezTo>
                <a:lnTo>
                  <a:pt x="16929" y="108347"/>
                </a:lnTo>
                <a:cubicBezTo>
                  <a:pt x="9459" y="108347"/>
                  <a:pt x="3386" y="102274"/>
                  <a:pt x="3386" y="94804"/>
                </a:cubicBezTo>
                <a:lnTo>
                  <a:pt x="3386" y="13543"/>
                </a:lnTo>
                <a:close/>
                <a:moveTo>
                  <a:pt x="16929" y="13543"/>
                </a:moveTo>
                <a:lnTo>
                  <a:pt x="16929" y="77874"/>
                </a:lnTo>
                <a:lnTo>
                  <a:pt x="64331" y="77874"/>
                </a:lnTo>
                <a:lnTo>
                  <a:pt x="64331" y="13543"/>
                </a:lnTo>
                <a:lnTo>
                  <a:pt x="16929" y="13543"/>
                </a:lnTo>
                <a:close/>
                <a:moveTo>
                  <a:pt x="40630" y="99882"/>
                </a:moveTo>
                <a:cubicBezTo>
                  <a:pt x="44376" y="99882"/>
                  <a:pt x="47402" y="96856"/>
                  <a:pt x="47402" y="93111"/>
                </a:cubicBezTo>
                <a:cubicBezTo>
                  <a:pt x="47402" y="89365"/>
                  <a:pt x="44376" y="86339"/>
                  <a:pt x="40630" y="86339"/>
                </a:cubicBezTo>
                <a:cubicBezTo>
                  <a:pt x="36884" y="86339"/>
                  <a:pt x="33858" y="89365"/>
                  <a:pt x="33858" y="93111"/>
                </a:cubicBezTo>
                <a:cubicBezTo>
                  <a:pt x="33858" y="96856"/>
                  <a:pt x="36884" y="99882"/>
                  <a:pt x="40630" y="9988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6"/>
          <p:cNvSpPr/>
          <p:nvPr/>
        </p:nvSpPr>
        <p:spPr>
          <a:xfrm>
            <a:off x="4881622" y="2284572"/>
            <a:ext cx="1959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View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1415" y="2735582"/>
            <a:ext cx="139303" cy="185738"/>
          </a:xfrm>
          <a:custGeom>
            <a:avLst/>
            <a:gdLst/>
            <a:ahLst/>
            <a:cxnLst/>
            <a:rect l="l" t="t" r="r" b="b"/>
            <a:pathLst>
              <a:path w="139303" h="185738">
                <a:moveTo>
                  <a:pt x="61453" y="182327"/>
                </a:moveTo>
                <a:cubicBezTo>
                  <a:pt x="65988" y="186862"/>
                  <a:pt x="73352" y="186862"/>
                  <a:pt x="77886" y="182327"/>
                </a:cubicBezTo>
                <a:lnTo>
                  <a:pt x="135929" y="124285"/>
                </a:lnTo>
                <a:cubicBezTo>
                  <a:pt x="140464" y="119750"/>
                  <a:pt x="140464" y="112386"/>
                  <a:pt x="135929" y="107851"/>
                </a:cubicBezTo>
                <a:cubicBezTo>
                  <a:pt x="131395" y="103316"/>
                  <a:pt x="124031" y="103316"/>
                  <a:pt x="119496" y="107851"/>
                </a:cubicBezTo>
                <a:lnTo>
                  <a:pt x="81260" y="146087"/>
                </a:lnTo>
                <a:lnTo>
                  <a:pt x="81260" y="11609"/>
                </a:lnTo>
                <a:cubicBezTo>
                  <a:pt x="81260" y="5188"/>
                  <a:pt x="76073" y="0"/>
                  <a:pt x="69652" y="0"/>
                </a:cubicBezTo>
                <a:cubicBezTo>
                  <a:pt x="63231" y="0"/>
                  <a:pt x="58043" y="5188"/>
                  <a:pt x="58043" y="11609"/>
                </a:cubicBezTo>
                <a:lnTo>
                  <a:pt x="58043" y="146087"/>
                </a:lnTo>
                <a:lnTo>
                  <a:pt x="19807" y="107851"/>
                </a:lnTo>
                <a:cubicBezTo>
                  <a:pt x="15273" y="103316"/>
                  <a:pt x="7908" y="103316"/>
                  <a:pt x="3374" y="107851"/>
                </a:cubicBezTo>
                <a:cubicBezTo>
                  <a:pt x="-1161" y="112386"/>
                  <a:pt x="-1161" y="119750"/>
                  <a:pt x="3374" y="124285"/>
                </a:cubicBezTo>
                <a:lnTo>
                  <a:pt x="61417" y="18232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Shape 18"/>
          <p:cNvSpPr/>
          <p:nvPr/>
        </p:nvSpPr>
        <p:spPr>
          <a:xfrm>
            <a:off x="543401" y="3019427"/>
            <a:ext cx="6463665" cy="1101090"/>
          </a:xfrm>
          <a:custGeom>
            <a:avLst/>
            <a:gdLst/>
            <a:ahLst/>
            <a:cxnLst/>
            <a:rect l="l" t="t" r="r" b="b"/>
            <a:pathLst>
              <a:path w="6463665" h="1101090">
                <a:moveTo>
                  <a:pt x="61914" y="0"/>
                </a:moveTo>
                <a:lnTo>
                  <a:pt x="6401751" y="0"/>
                </a:lnTo>
                <a:cubicBezTo>
                  <a:pt x="6435945" y="0"/>
                  <a:pt x="6463665" y="27720"/>
                  <a:pt x="6463665" y="61914"/>
                </a:cubicBezTo>
                <a:lnTo>
                  <a:pt x="6463665" y="1039176"/>
                </a:lnTo>
                <a:cubicBezTo>
                  <a:pt x="6463665" y="1073370"/>
                  <a:pt x="6435945" y="1101090"/>
                  <a:pt x="6401751" y="1101090"/>
                </a:cubicBezTo>
                <a:lnTo>
                  <a:pt x="61914" y="1101090"/>
                </a:lnTo>
                <a:cubicBezTo>
                  <a:pt x="27720" y="1101090"/>
                  <a:pt x="0" y="1073370"/>
                  <a:pt x="0" y="1039176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 w="20320">
            <a:solidFill>
              <a:srgbClr val="5A8A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4846" y="3150873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61913" y="0"/>
                </a:moveTo>
                <a:lnTo>
                  <a:pt x="252412" y="0"/>
                </a:lnTo>
                <a:cubicBezTo>
                  <a:pt x="286583" y="0"/>
                  <a:pt x="314325" y="27742"/>
                  <a:pt x="314325" y="61913"/>
                </a:cubicBezTo>
                <a:lnTo>
                  <a:pt x="314325" y="252412"/>
                </a:lnTo>
                <a:cubicBezTo>
                  <a:pt x="314325" y="286606"/>
                  <a:pt x="286606" y="314325"/>
                  <a:pt x="252412" y="314325"/>
                </a:cubicBezTo>
                <a:lnTo>
                  <a:pt x="61913" y="314325"/>
                </a:lnTo>
                <a:cubicBezTo>
                  <a:pt x="27719" y="314325"/>
                  <a:pt x="0" y="286606"/>
                  <a:pt x="0" y="252412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341" y="3227073"/>
            <a:ext cx="193477" cy="154781"/>
          </a:xfrm>
          <a:custGeom>
            <a:avLst/>
            <a:gdLst/>
            <a:ahLst/>
            <a:cxnLst/>
            <a:rect l="l" t="t" r="r" b="b"/>
            <a:pathLst>
              <a:path w="193477" h="154781">
                <a:moveTo>
                  <a:pt x="125730" y="63636"/>
                </a:moveTo>
                <a:cubicBezTo>
                  <a:pt x="129418" y="62638"/>
                  <a:pt x="133287" y="64391"/>
                  <a:pt x="134950" y="67807"/>
                </a:cubicBezTo>
                <a:lnTo>
                  <a:pt x="140573" y="79174"/>
                </a:lnTo>
                <a:cubicBezTo>
                  <a:pt x="143687" y="79597"/>
                  <a:pt x="146740" y="80444"/>
                  <a:pt x="149612" y="81623"/>
                </a:cubicBezTo>
                <a:lnTo>
                  <a:pt x="160193" y="74579"/>
                </a:lnTo>
                <a:cubicBezTo>
                  <a:pt x="163367" y="72463"/>
                  <a:pt x="167569" y="72886"/>
                  <a:pt x="170259" y="75577"/>
                </a:cubicBezTo>
                <a:lnTo>
                  <a:pt x="176064" y="81381"/>
                </a:lnTo>
                <a:cubicBezTo>
                  <a:pt x="178754" y="84072"/>
                  <a:pt x="179177" y="88304"/>
                  <a:pt x="177061" y="91448"/>
                </a:cubicBezTo>
                <a:lnTo>
                  <a:pt x="170018" y="101998"/>
                </a:lnTo>
                <a:cubicBezTo>
                  <a:pt x="170592" y="103419"/>
                  <a:pt x="171106" y="104901"/>
                  <a:pt x="171529" y="106442"/>
                </a:cubicBezTo>
                <a:cubicBezTo>
                  <a:pt x="171952" y="107984"/>
                  <a:pt x="172224" y="109496"/>
                  <a:pt x="172436" y="111037"/>
                </a:cubicBezTo>
                <a:lnTo>
                  <a:pt x="183833" y="116660"/>
                </a:lnTo>
                <a:cubicBezTo>
                  <a:pt x="187249" y="118353"/>
                  <a:pt x="189002" y="122223"/>
                  <a:pt x="188005" y="125881"/>
                </a:cubicBezTo>
                <a:lnTo>
                  <a:pt x="185889" y="133801"/>
                </a:lnTo>
                <a:cubicBezTo>
                  <a:pt x="184891" y="137459"/>
                  <a:pt x="181475" y="139938"/>
                  <a:pt x="177666" y="139696"/>
                </a:cubicBezTo>
                <a:lnTo>
                  <a:pt x="164969" y="138880"/>
                </a:lnTo>
                <a:cubicBezTo>
                  <a:pt x="163064" y="141329"/>
                  <a:pt x="160858" y="143596"/>
                  <a:pt x="158348" y="145531"/>
                </a:cubicBezTo>
                <a:lnTo>
                  <a:pt x="159165" y="158197"/>
                </a:lnTo>
                <a:cubicBezTo>
                  <a:pt x="159407" y="162006"/>
                  <a:pt x="156928" y="165453"/>
                  <a:pt x="153270" y="166420"/>
                </a:cubicBezTo>
                <a:lnTo>
                  <a:pt x="145349" y="168536"/>
                </a:lnTo>
                <a:cubicBezTo>
                  <a:pt x="141661" y="169534"/>
                  <a:pt x="137822" y="167780"/>
                  <a:pt x="136129" y="164364"/>
                </a:cubicBezTo>
                <a:lnTo>
                  <a:pt x="130506" y="152998"/>
                </a:lnTo>
                <a:cubicBezTo>
                  <a:pt x="127392" y="152574"/>
                  <a:pt x="124339" y="151728"/>
                  <a:pt x="121467" y="150549"/>
                </a:cubicBezTo>
                <a:lnTo>
                  <a:pt x="110886" y="157593"/>
                </a:lnTo>
                <a:cubicBezTo>
                  <a:pt x="107712" y="159709"/>
                  <a:pt x="103510" y="159286"/>
                  <a:pt x="100819" y="156595"/>
                </a:cubicBezTo>
                <a:lnTo>
                  <a:pt x="95015" y="150791"/>
                </a:lnTo>
                <a:cubicBezTo>
                  <a:pt x="92325" y="148100"/>
                  <a:pt x="91901" y="143898"/>
                  <a:pt x="94018" y="140724"/>
                </a:cubicBezTo>
                <a:lnTo>
                  <a:pt x="101061" y="130143"/>
                </a:lnTo>
                <a:cubicBezTo>
                  <a:pt x="100487" y="128722"/>
                  <a:pt x="99973" y="127241"/>
                  <a:pt x="99550" y="125699"/>
                </a:cubicBezTo>
                <a:cubicBezTo>
                  <a:pt x="99127" y="124158"/>
                  <a:pt x="98854" y="122616"/>
                  <a:pt x="98643" y="121104"/>
                </a:cubicBezTo>
                <a:lnTo>
                  <a:pt x="87246" y="115481"/>
                </a:lnTo>
                <a:cubicBezTo>
                  <a:pt x="83830" y="113788"/>
                  <a:pt x="82107" y="109919"/>
                  <a:pt x="83074" y="106261"/>
                </a:cubicBezTo>
                <a:lnTo>
                  <a:pt x="85190" y="98341"/>
                </a:lnTo>
                <a:cubicBezTo>
                  <a:pt x="86188" y="94683"/>
                  <a:pt x="89604" y="92204"/>
                  <a:pt x="93413" y="92446"/>
                </a:cubicBezTo>
                <a:lnTo>
                  <a:pt x="106080" y="93262"/>
                </a:lnTo>
                <a:cubicBezTo>
                  <a:pt x="107984" y="90813"/>
                  <a:pt x="110191" y="88546"/>
                  <a:pt x="112700" y="86611"/>
                </a:cubicBezTo>
                <a:lnTo>
                  <a:pt x="111884" y="73975"/>
                </a:lnTo>
                <a:cubicBezTo>
                  <a:pt x="111642" y="70165"/>
                  <a:pt x="114121" y="66719"/>
                  <a:pt x="117779" y="65752"/>
                </a:cubicBezTo>
                <a:lnTo>
                  <a:pt x="125699" y="63636"/>
                </a:lnTo>
                <a:close/>
                <a:moveTo>
                  <a:pt x="135555" y="102784"/>
                </a:moveTo>
                <a:cubicBezTo>
                  <a:pt x="128213" y="102793"/>
                  <a:pt x="122260" y="108760"/>
                  <a:pt x="122268" y="116101"/>
                </a:cubicBezTo>
                <a:cubicBezTo>
                  <a:pt x="122276" y="123442"/>
                  <a:pt x="128243" y="129396"/>
                  <a:pt x="135585" y="129387"/>
                </a:cubicBezTo>
                <a:cubicBezTo>
                  <a:pt x="142926" y="129379"/>
                  <a:pt x="148879" y="123412"/>
                  <a:pt x="148871" y="116071"/>
                </a:cubicBezTo>
                <a:cubicBezTo>
                  <a:pt x="148863" y="108730"/>
                  <a:pt x="142896" y="102776"/>
                  <a:pt x="135555" y="102784"/>
                </a:cubicBezTo>
                <a:close/>
                <a:moveTo>
                  <a:pt x="67989" y="-13755"/>
                </a:moveTo>
                <a:lnTo>
                  <a:pt x="75909" y="-11639"/>
                </a:lnTo>
                <a:cubicBezTo>
                  <a:pt x="79567" y="-10641"/>
                  <a:pt x="82046" y="-7195"/>
                  <a:pt x="81804" y="-3416"/>
                </a:cubicBezTo>
                <a:lnTo>
                  <a:pt x="80988" y="9220"/>
                </a:lnTo>
                <a:cubicBezTo>
                  <a:pt x="83497" y="11155"/>
                  <a:pt x="85704" y="13392"/>
                  <a:pt x="87609" y="15871"/>
                </a:cubicBezTo>
                <a:lnTo>
                  <a:pt x="100306" y="15055"/>
                </a:lnTo>
                <a:cubicBezTo>
                  <a:pt x="104084" y="14813"/>
                  <a:pt x="107531" y="17292"/>
                  <a:pt x="108528" y="20950"/>
                </a:cubicBezTo>
                <a:lnTo>
                  <a:pt x="110644" y="28870"/>
                </a:lnTo>
                <a:cubicBezTo>
                  <a:pt x="111612" y="32528"/>
                  <a:pt x="109889" y="36398"/>
                  <a:pt x="106473" y="38091"/>
                </a:cubicBezTo>
                <a:lnTo>
                  <a:pt x="95076" y="43714"/>
                </a:lnTo>
                <a:cubicBezTo>
                  <a:pt x="94864" y="45255"/>
                  <a:pt x="94562" y="46797"/>
                  <a:pt x="94169" y="48309"/>
                </a:cubicBezTo>
                <a:cubicBezTo>
                  <a:pt x="93776" y="49820"/>
                  <a:pt x="93232" y="51332"/>
                  <a:pt x="92657" y="52753"/>
                </a:cubicBezTo>
                <a:lnTo>
                  <a:pt x="99701" y="63333"/>
                </a:lnTo>
                <a:cubicBezTo>
                  <a:pt x="101817" y="66508"/>
                  <a:pt x="101394" y="70710"/>
                  <a:pt x="98703" y="73400"/>
                </a:cubicBezTo>
                <a:lnTo>
                  <a:pt x="92899" y="79204"/>
                </a:lnTo>
                <a:cubicBezTo>
                  <a:pt x="90208" y="81895"/>
                  <a:pt x="86006" y="82318"/>
                  <a:pt x="82832" y="80202"/>
                </a:cubicBezTo>
                <a:lnTo>
                  <a:pt x="72251" y="73158"/>
                </a:lnTo>
                <a:cubicBezTo>
                  <a:pt x="69379" y="74337"/>
                  <a:pt x="66326" y="75184"/>
                  <a:pt x="63212" y="75607"/>
                </a:cubicBezTo>
                <a:lnTo>
                  <a:pt x="57590" y="86974"/>
                </a:lnTo>
                <a:cubicBezTo>
                  <a:pt x="55897" y="90390"/>
                  <a:pt x="52027" y="92113"/>
                  <a:pt x="48369" y="91146"/>
                </a:cubicBezTo>
                <a:lnTo>
                  <a:pt x="40449" y="89029"/>
                </a:lnTo>
                <a:cubicBezTo>
                  <a:pt x="36761" y="88032"/>
                  <a:pt x="34312" y="84586"/>
                  <a:pt x="34554" y="80807"/>
                </a:cubicBezTo>
                <a:lnTo>
                  <a:pt x="35370" y="68140"/>
                </a:lnTo>
                <a:cubicBezTo>
                  <a:pt x="32861" y="66205"/>
                  <a:pt x="30654" y="63968"/>
                  <a:pt x="28749" y="61489"/>
                </a:cubicBezTo>
                <a:lnTo>
                  <a:pt x="16053" y="62305"/>
                </a:lnTo>
                <a:cubicBezTo>
                  <a:pt x="12274" y="62547"/>
                  <a:pt x="8827" y="60068"/>
                  <a:pt x="7830" y="56411"/>
                </a:cubicBezTo>
                <a:lnTo>
                  <a:pt x="5714" y="48490"/>
                </a:lnTo>
                <a:cubicBezTo>
                  <a:pt x="4746" y="44832"/>
                  <a:pt x="6469" y="40963"/>
                  <a:pt x="9885" y="39270"/>
                </a:cubicBezTo>
                <a:lnTo>
                  <a:pt x="21282" y="33647"/>
                </a:lnTo>
                <a:cubicBezTo>
                  <a:pt x="21494" y="32105"/>
                  <a:pt x="21796" y="30593"/>
                  <a:pt x="22189" y="29052"/>
                </a:cubicBezTo>
                <a:cubicBezTo>
                  <a:pt x="22613" y="27510"/>
                  <a:pt x="23096" y="26029"/>
                  <a:pt x="23701" y="24608"/>
                </a:cubicBezTo>
                <a:lnTo>
                  <a:pt x="16657" y="14057"/>
                </a:lnTo>
                <a:cubicBezTo>
                  <a:pt x="14541" y="10883"/>
                  <a:pt x="14964" y="6681"/>
                  <a:pt x="17655" y="3990"/>
                </a:cubicBezTo>
                <a:lnTo>
                  <a:pt x="23459" y="-1814"/>
                </a:lnTo>
                <a:cubicBezTo>
                  <a:pt x="26150" y="-4504"/>
                  <a:pt x="30352" y="-4928"/>
                  <a:pt x="33526" y="-2811"/>
                </a:cubicBezTo>
                <a:lnTo>
                  <a:pt x="44107" y="4232"/>
                </a:lnTo>
                <a:cubicBezTo>
                  <a:pt x="46979" y="3053"/>
                  <a:pt x="50032" y="2207"/>
                  <a:pt x="53146" y="1784"/>
                </a:cubicBezTo>
                <a:lnTo>
                  <a:pt x="58769" y="-9583"/>
                </a:lnTo>
                <a:cubicBezTo>
                  <a:pt x="60461" y="-12999"/>
                  <a:pt x="64301" y="-14722"/>
                  <a:pt x="67989" y="-13755"/>
                </a:cubicBezTo>
                <a:close/>
                <a:moveTo>
                  <a:pt x="58164" y="25394"/>
                </a:moveTo>
                <a:cubicBezTo>
                  <a:pt x="50823" y="25394"/>
                  <a:pt x="44862" y="31354"/>
                  <a:pt x="44862" y="38695"/>
                </a:cubicBezTo>
                <a:cubicBezTo>
                  <a:pt x="44862" y="46037"/>
                  <a:pt x="50823" y="51997"/>
                  <a:pt x="58164" y="51997"/>
                </a:cubicBezTo>
                <a:cubicBezTo>
                  <a:pt x="65505" y="51997"/>
                  <a:pt x="71465" y="46037"/>
                  <a:pt x="71465" y="38695"/>
                </a:cubicBezTo>
                <a:cubicBezTo>
                  <a:pt x="71465" y="31354"/>
                  <a:pt x="65505" y="25394"/>
                  <a:pt x="58164" y="253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77277" y="3197307"/>
            <a:ext cx="11364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4846" y="3553304"/>
            <a:ext cx="1504950" cy="438150"/>
          </a:xfrm>
          <a:custGeom>
            <a:avLst/>
            <a:gdLst/>
            <a:ahLst/>
            <a:cxnLst/>
            <a:rect l="l" t="t" r="r" b="b"/>
            <a:pathLst>
              <a:path w="1504950" h="438150">
                <a:moveTo>
                  <a:pt x="30955" y="0"/>
                </a:moveTo>
                <a:lnTo>
                  <a:pt x="1473995" y="0"/>
                </a:lnTo>
                <a:cubicBezTo>
                  <a:pt x="1491091" y="0"/>
                  <a:pt x="1504950" y="13859"/>
                  <a:pt x="1504950" y="30955"/>
                </a:cubicBezTo>
                <a:lnTo>
                  <a:pt x="1504950" y="407195"/>
                </a:lnTo>
                <a:cubicBezTo>
                  <a:pt x="1504950" y="424291"/>
                  <a:pt x="1491091" y="438150"/>
                  <a:pt x="1473995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0886" y="3628667"/>
            <a:ext cx="108347" cy="108347"/>
          </a:xfrm>
          <a:custGeom>
            <a:avLst/>
            <a:gdLst/>
            <a:ahLst/>
            <a:cxnLst/>
            <a:rect l="l" t="t" r="r" b="b"/>
            <a:pathLst>
              <a:path w="108347" h="108347">
                <a:moveTo>
                  <a:pt x="54173" y="0"/>
                </a:moveTo>
                <a:cubicBezTo>
                  <a:pt x="55147" y="0"/>
                  <a:pt x="56120" y="212"/>
                  <a:pt x="57009" y="614"/>
                </a:cubicBezTo>
                <a:lnTo>
                  <a:pt x="96877" y="17522"/>
                </a:lnTo>
                <a:cubicBezTo>
                  <a:pt x="101533" y="19490"/>
                  <a:pt x="105003" y="24082"/>
                  <a:pt x="104982" y="29626"/>
                </a:cubicBezTo>
                <a:cubicBezTo>
                  <a:pt x="104876" y="50618"/>
                  <a:pt x="96242" y="89026"/>
                  <a:pt x="59781" y="106485"/>
                </a:cubicBezTo>
                <a:cubicBezTo>
                  <a:pt x="56247" y="108178"/>
                  <a:pt x="52142" y="108178"/>
                  <a:pt x="48608" y="106485"/>
                </a:cubicBezTo>
                <a:cubicBezTo>
                  <a:pt x="12126" y="89026"/>
                  <a:pt x="3513" y="50618"/>
                  <a:pt x="3407" y="29626"/>
                </a:cubicBezTo>
                <a:cubicBezTo>
                  <a:pt x="3386" y="24082"/>
                  <a:pt x="6856" y="19490"/>
                  <a:pt x="11512" y="17522"/>
                </a:cubicBezTo>
                <a:lnTo>
                  <a:pt x="51359" y="614"/>
                </a:lnTo>
                <a:cubicBezTo>
                  <a:pt x="52248" y="212"/>
                  <a:pt x="53200" y="0"/>
                  <a:pt x="54173" y="0"/>
                </a:cubicBezTo>
                <a:close/>
                <a:moveTo>
                  <a:pt x="54173" y="14136"/>
                </a:moveTo>
                <a:lnTo>
                  <a:pt x="54173" y="94148"/>
                </a:lnTo>
                <a:cubicBezTo>
                  <a:pt x="83376" y="80012"/>
                  <a:pt x="91227" y="48693"/>
                  <a:pt x="91418" y="29944"/>
                </a:cubicBezTo>
                <a:lnTo>
                  <a:pt x="54173" y="14157"/>
                </a:lnTo>
                <a:lnTo>
                  <a:pt x="54173" y="1415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6" name="Text 24"/>
          <p:cNvSpPr/>
          <p:nvPr/>
        </p:nvSpPr>
        <p:spPr>
          <a:xfrm>
            <a:off x="709672" y="3769998"/>
            <a:ext cx="14352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239328" y="3553304"/>
            <a:ext cx="1504950" cy="438150"/>
          </a:xfrm>
          <a:custGeom>
            <a:avLst/>
            <a:gdLst/>
            <a:ahLst/>
            <a:cxnLst/>
            <a:rect l="l" t="t" r="r" b="b"/>
            <a:pathLst>
              <a:path w="1504950" h="438150">
                <a:moveTo>
                  <a:pt x="30955" y="0"/>
                </a:moveTo>
                <a:lnTo>
                  <a:pt x="1473995" y="0"/>
                </a:lnTo>
                <a:cubicBezTo>
                  <a:pt x="1491091" y="0"/>
                  <a:pt x="1504950" y="13859"/>
                  <a:pt x="1504950" y="30955"/>
                </a:cubicBezTo>
                <a:lnTo>
                  <a:pt x="1504950" y="407195"/>
                </a:lnTo>
                <a:cubicBezTo>
                  <a:pt x="1504950" y="424291"/>
                  <a:pt x="1491091" y="438150"/>
                  <a:pt x="1473995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5367" y="3628667"/>
            <a:ext cx="108347" cy="108347"/>
          </a:xfrm>
          <a:custGeom>
            <a:avLst/>
            <a:gdLst/>
            <a:ahLst/>
            <a:cxnLst/>
            <a:rect l="l" t="t" r="r" b="b"/>
            <a:pathLst>
              <a:path w="108347" h="108347">
                <a:moveTo>
                  <a:pt x="54173" y="108347"/>
                </a:moveTo>
                <a:cubicBezTo>
                  <a:pt x="84073" y="108347"/>
                  <a:pt x="108347" y="84073"/>
                  <a:pt x="108347" y="54173"/>
                </a:cubicBezTo>
                <a:cubicBezTo>
                  <a:pt x="108347" y="24274"/>
                  <a:pt x="84073" y="0"/>
                  <a:pt x="54173" y="0"/>
                </a:cubicBezTo>
                <a:cubicBezTo>
                  <a:pt x="24274" y="0"/>
                  <a:pt x="0" y="24274"/>
                  <a:pt x="0" y="54173"/>
                </a:cubicBezTo>
                <a:cubicBezTo>
                  <a:pt x="0" y="84073"/>
                  <a:pt x="24274" y="108347"/>
                  <a:pt x="54173" y="108347"/>
                </a:cubicBezTo>
                <a:close/>
                <a:moveTo>
                  <a:pt x="72034" y="45011"/>
                </a:moveTo>
                <a:lnTo>
                  <a:pt x="55105" y="72097"/>
                </a:lnTo>
                <a:cubicBezTo>
                  <a:pt x="54216" y="73515"/>
                  <a:pt x="52692" y="74404"/>
                  <a:pt x="51020" y="74488"/>
                </a:cubicBezTo>
                <a:cubicBezTo>
                  <a:pt x="49349" y="74573"/>
                  <a:pt x="47740" y="73811"/>
                  <a:pt x="46746" y="72457"/>
                </a:cubicBezTo>
                <a:lnTo>
                  <a:pt x="36588" y="58914"/>
                </a:lnTo>
                <a:cubicBezTo>
                  <a:pt x="34895" y="56670"/>
                  <a:pt x="35361" y="53496"/>
                  <a:pt x="37604" y="51803"/>
                </a:cubicBezTo>
                <a:cubicBezTo>
                  <a:pt x="39847" y="50110"/>
                  <a:pt x="43021" y="50576"/>
                  <a:pt x="44714" y="52819"/>
                </a:cubicBezTo>
                <a:lnTo>
                  <a:pt x="50428" y="60437"/>
                </a:lnTo>
                <a:lnTo>
                  <a:pt x="63421" y="39635"/>
                </a:lnTo>
                <a:cubicBezTo>
                  <a:pt x="64902" y="37265"/>
                  <a:pt x="68034" y="36525"/>
                  <a:pt x="70425" y="38027"/>
                </a:cubicBezTo>
                <a:cubicBezTo>
                  <a:pt x="72817" y="39530"/>
                  <a:pt x="73536" y="42640"/>
                  <a:pt x="72034" y="4503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2274153" y="3769998"/>
            <a:ext cx="14352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03809" y="3553304"/>
            <a:ext cx="1504950" cy="438150"/>
          </a:xfrm>
          <a:custGeom>
            <a:avLst/>
            <a:gdLst/>
            <a:ahLst/>
            <a:cxnLst/>
            <a:rect l="l" t="t" r="r" b="b"/>
            <a:pathLst>
              <a:path w="1504950" h="438150">
                <a:moveTo>
                  <a:pt x="30955" y="0"/>
                </a:moveTo>
                <a:lnTo>
                  <a:pt x="1473995" y="0"/>
                </a:lnTo>
                <a:cubicBezTo>
                  <a:pt x="1491091" y="0"/>
                  <a:pt x="1504950" y="13859"/>
                  <a:pt x="1504950" y="30955"/>
                </a:cubicBezTo>
                <a:lnTo>
                  <a:pt x="1504950" y="407195"/>
                </a:lnTo>
                <a:cubicBezTo>
                  <a:pt x="1504950" y="424291"/>
                  <a:pt x="1491091" y="438150"/>
                  <a:pt x="1473995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499848" y="3628667"/>
            <a:ext cx="108347" cy="108347"/>
          </a:xfrm>
          <a:custGeom>
            <a:avLst/>
            <a:gdLst/>
            <a:ahLst/>
            <a:cxnLst/>
            <a:rect l="l" t="t" r="r" b="b"/>
            <a:pathLst>
              <a:path w="108347" h="108347">
                <a:moveTo>
                  <a:pt x="42323" y="10158"/>
                </a:moveTo>
                <a:lnTo>
                  <a:pt x="66024" y="10158"/>
                </a:lnTo>
                <a:cubicBezTo>
                  <a:pt x="66955" y="10158"/>
                  <a:pt x="67717" y="10919"/>
                  <a:pt x="67717" y="11850"/>
                </a:cubicBezTo>
                <a:lnTo>
                  <a:pt x="67717" y="20315"/>
                </a:lnTo>
                <a:lnTo>
                  <a:pt x="40630" y="20315"/>
                </a:lnTo>
                <a:lnTo>
                  <a:pt x="40630" y="11850"/>
                </a:lnTo>
                <a:cubicBezTo>
                  <a:pt x="40630" y="10919"/>
                  <a:pt x="41392" y="10158"/>
                  <a:pt x="42323" y="10158"/>
                </a:cubicBezTo>
                <a:close/>
                <a:moveTo>
                  <a:pt x="30473" y="11850"/>
                </a:moveTo>
                <a:lnTo>
                  <a:pt x="30473" y="20315"/>
                </a:lnTo>
                <a:lnTo>
                  <a:pt x="13543" y="20315"/>
                </a:lnTo>
                <a:cubicBezTo>
                  <a:pt x="6073" y="20315"/>
                  <a:pt x="0" y="26388"/>
                  <a:pt x="0" y="33858"/>
                </a:cubicBezTo>
                <a:lnTo>
                  <a:pt x="0" y="54173"/>
                </a:lnTo>
                <a:lnTo>
                  <a:pt x="108347" y="54173"/>
                </a:lnTo>
                <a:lnTo>
                  <a:pt x="108347" y="33858"/>
                </a:lnTo>
                <a:cubicBezTo>
                  <a:pt x="108347" y="26388"/>
                  <a:pt x="102274" y="20315"/>
                  <a:pt x="94804" y="20315"/>
                </a:cubicBezTo>
                <a:lnTo>
                  <a:pt x="77874" y="20315"/>
                </a:lnTo>
                <a:lnTo>
                  <a:pt x="77874" y="11850"/>
                </a:lnTo>
                <a:cubicBezTo>
                  <a:pt x="77874" y="5312"/>
                  <a:pt x="72563" y="0"/>
                  <a:pt x="66024" y="0"/>
                </a:cubicBezTo>
                <a:lnTo>
                  <a:pt x="42323" y="0"/>
                </a:lnTo>
                <a:cubicBezTo>
                  <a:pt x="35784" y="0"/>
                  <a:pt x="30473" y="5312"/>
                  <a:pt x="30473" y="11850"/>
                </a:cubicBezTo>
                <a:close/>
                <a:moveTo>
                  <a:pt x="108347" y="64331"/>
                </a:moveTo>
                <a:lnTo>
                  <a:pt x="67717" y="64331"/>
                </a:lnTo>
                <a:lnTo>
                  <a:pt x="67717" y="67717"/>
                </a:lnTo>
                <a:cubicBezTo>
                  <a:pt x="67717" y="71462"/>
                  <a:pt x="64691" y="74488"/>
                  <a:pt x="60945" y="74488"/>
                </a:cubicBezTo>
                <a:lnTo>
                  <a:pt x="47402" y="74488"/>
                </a:lnTo>
                <a:cubicBezTo>
                  <a:pt x="43656" y="74488"/>
                  <a:pt x="40630" y="71462"/>
                  <a:pt x="40630" y="67717"/>
                </a:cubicBezTo>
                <a:lnTo>
                  <a:pt x="40630" y="64331"/>
                </a:lnTo>
                <a:lnTo>
                  <a:pt x="0" y="64331"/>
                </a:lnTo>
                <a:lnTo>
                  <a:pt x="0" y="88032"/>
                </a:lnTo>
                <a:cubicBezTo>
                  <a:pt x="0" y="95502"/>
                  <a:pt x="6073" y="101575"/>
                  <a:pt x="13543" y="101575"/>
                </a:cubicBezTo>
                <a:lnTo>
                  <a:pt x="94804" y="101575"/>
                </a:lnTo>
                <a:cubicBezTo>
                  <a:pt x="102274" y="101575"/>
                  <a:pt x="108347" y="95502"/>
                  <a:pt x="108347" y="88032"/>
                </a:cubicBezTo>
                <a:lnTo>
                  <a:pt x="108347" y="643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3838635" y="3769998"/>
            <a:ext cx="14352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68290" y="3553304"/>
            <a:ext cx="1504950" cy="438150"/>
          </a:xfrm>
          <a:custGeom>
            <a:avLst/>
            <a:gdLst/>
            <a:ahLst/>
            <a:cxnLst/>
            <a:rect l="l" t="t" r="r" b="b"/>
            <a:pathLst>
              <a:path w="1504950" h="438150">
                <a:moveTo>
                  <a:pt x="30955" y="0"/>
                </a:moveTo>
                <a:lnTo>
                  <a:pt x="1473995" y="0"/>
                </a:lnTo>
                <a:cubicBezTo>
                  <a:pt x="1491091" y="0"/>
                  <a:pt x="1504950" y="13859"/>
                  <a:pt x="1504950" y="30955"/>
                </a:cubicBezTo>
                <a:lnTo>
                  <a:pt x="1504950" y="407195"/>
                </a:lnTo>
                <a:cubicBezTo>
                  <a:pt x="1504950" y="424291"/>
                  <a:pt x="1491091" y="438150"/>
                  <a:pt x="1473995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071101" y="3628667"/>
            <a:ext cx="94804" cy="108347"/>
          </a:xfrm>
          <a:custGeom>
            <a:avLst/>
            <a:gdLst/>
            <a:ahLst/>
            <a:cxnLst/>
            <a:rect l="l" t="t" r="r" b="b"/>
            <a:pathLst>
              <a:path w="94804" h="108347">
                <a:moveTo>
                  <a:pt x="27087" y="-6772"/>
                </a:moveTo>
                <a:cubicBezTo>
                  <a:pt x="30832" y="-6772"/>
                  <a:pt x="33858" y="-3746"/>
                  <a:pt x="33858" y="0"/>
                </a:cubicBezTo>
                <a:lnTo>
                  <a:pt x="33858" y="20315"/>
                </a:lnTo>
                <a:lnTo>
                  <a:pt x="60945" y="20315"/>
                </a:lnTo>
                <a:lnTo>
                  <a:pt x="60945" y="0"/>
                </a:lnTo>
                <a:cubicBezTo>
                  <a:pt x="60945" y="-3746"/>
                  <a:pt x="63971" y="-6772"/>
                  <a:pt x="67717" y="-6772"/>
                </a:cubicBezTo>
                <a:cubicBezTo>
                  <a:pt x="71462" y="-6772"/>
                  <a:pt x="74488" y="-3746"/>
                  <a:pt x="74488" y="0"/>
                </a:cubicBezTo>
                <a:lnTo>
                  <a:pt x="74488" y="20315"/>
                </a:lnTo>
                <a:lnTo>
                  <a:pt x="88032" y="20315"/>
                </a:lnTo>
                <a:cubicBezTo>
                  <a:pt x="91777" y="20315"/>
                  <a:pt x="94804" y="23341"/>
                  <a:pt x="94804" y="27087"/>
                </a:cubicBezTo>
                <a:cubicBezTo>
                  <a:pt x="94804" y="30832"/>
                  <a:pt x="91777" y="33858"/>
                  <a:pt x="88032" y="33858"/>
                </a:cubicBezTo>
                <a:lnTo>
                  <a:pt x="88032" y="47402"/>
                </a:lnTo>
                <a:cubicBezTo>
                  <a:pt x="88032" y="67526"/>
                  <a:pt x="73388" y="84244"/>
                  <a:pt x="54173" y="87460"/>
                </a:cubicBezTo>
                <a:lnTo>
                  <a:pt x="54173" y="101575"/>
                </a:lnTo>
                <a:cubicBezTo>
                  <a:pt x="54173" y="105321"/>
                  <a:pt x="51147" y="108347"/>
                  <a:pt x="47402" y="108347"/>
                </a:cubicBezTo>
                <a:cubicBezTo>
                  <a:pt x="43656" y="108347"/>
                  <a:pt x="40630" y="105321"/>
                  <a:pt x="40630" y="101575"/>
                </a:cubicBezTo>
                <a:lnTo>
                  <a:pt x="40630" y="87460"/>
                </a:lnTo>
                <a:cubicBezTo>
                  <a:pt x="21415" y="84244"/>
                  <a:pt x="6772" y="67526"/>
                  <a:pt x="6772" y="47402"/>
                </a:cubicBezTo>
                <a:lnTo>
                  <a:pt x="6772" y="33858"/>
                </a:lnTo>
                <a:cubicBezTo>
                  <a:pt x="3026" y="33858"/>
                  <a:pt x="0" y="30832"/>
                  <a:pt x="0" y="27087"/>
                </a:cubicBezTo>
                <a:cubicBezTo>
                  <a:pt x="0" y="23341"/>
                  <a:pt x="3026" y="20315"/>
                  <a:pt x="6772" y="20315"/>
                </a:cubicBezTo>
                <a:lnTo>
                  <a:pt x="20315" y="20315"/>
                </a:lnTo>
                <a:lnTo>
                  <a:pt x="20315" y="0"/>
                </a:lnTo>
                <a:cubicBezTo>
                  <a:pt x="20315" y="-3746"/>
                  <a:pt x="23341" y="-6772"/>
                  <a:pt x="27087" y="-677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5403116" y="3769998"/>
            <a:ext cx="14352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01415" y="4221003"/>
            <a:ext cx="139303" cy="185738"/>
          </a:xfrm>
          <a:custGeom>
            <a:avLst/>
            <a:gdLst/>
            <a:ahLst/>
            <a:cxnLst/>
            <a:rect l="l" t="t" r="r" b="b"/>
            <a:pathLst>
              <a:path w="139303" h="185738">
                <a:moveTo>
                  <a:pt x="61453" y="182327"/>
                </a:moveTo>
                <a:cubicBezTo>
                  <a:pt x="65988" y="186862"/>
                  <a:pt x="73352" y="186862"/>
                  <a:pt x="77886" y="182327"/>
                </a:cubicBezTo>
                <a:lnTo>
                  <a:pt x="135929" y="124285"/>
                </a:lnTo>
                <a:cubicBezTo>
                  <a:pt x="140464" y="119750"/>
                  <a:pt x="140464" y="112386"/>
                  <a:pt x="135929" y="107851"/>
                </a:cubicBezTo>
                <a:cubicBezTo>
                  <a:pt x="131395" y="103316"/>
                  <a:pt x="124031" y="103316"/>
                  <a:pt x="119496" y="107851"/>
                </a:cubicBezTo>
                <a:lnTo>
                  <a:pt x="81260" y="146087"/>
                </a:lnTo>
                <a:lnTo>
                  <a:pt x="81260" y="11609"/>
                </a:lnTo>
                <a:cubicBezTo>
                  <a:pt x="81260" y="5188"/>
                  <a:pt x="76073" y="0"/>
                  <a:pt x="69652" y="0"/>
                </a:cubicBezTo>
                <a:cubicBezTo>
                  <a:pt x="63231" y="0"/>
                  <a:pt x="58043" y="5188"/>
                  <a:pt x="58043" y="11609"/>
                </a:cubicBezTo>
                <a:lnTo>
                  <a:pt x="58043" y="146087"/>
                </a:lnTo>
                <a:lnTo>
                  <a:pt x="19807" y="107851"/>
                </a:lnTo>
                <a:cubicBezTo>
                  <a:pt x="15273" y="103316"/>
                  <a:pt x="7908" y="103316"/>
                  <a:pt x="3374" y="107851"/>
                </a:cubicBezTo>
                <a:cubicBezTo>
                  <a:pt x="-1161" y="112386"/>
                  <a:pt x="-1161" y="119750"/>
                  <a:pt x="3374" y="124285"/>
                </a:cubicBezTo>
                <a:lnTo>
                  <a:pt x="61417" y="18232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Shape 35"/>
          <p:cNvSpPr/>
          <p:nvPr/>
        </p:nvSpPr>
        <p:spPr>
          <a:xfrm>
            <a:off x="543401" y="4504848"/>
            <a:ext cx="6463665" cy="1101090"/>
          </a:xfrm>
          <a:custGeom>
            <a:avLst/>
            <a:gdLst/>
            <a:ahLst/>
            <a:cxnLst/>
            <a:rect l="l" t="t" r="r" b="b"/>
            <a:pathLst>
              <a:path w="6463665" h="1101090">
                <a:moveTo>
                  <a:pt x="61914" y="0"/>
                </a:moveTo>
                <a:lnTo>
                  <a:pt x="6401751" y="0"/>
                </a:lnTo>
                <a:cubicBezTo>
                  <a:pt x="6435945" y="0"/>
                  <a:pt x="6463665" y="27720"/>
                  <a:pt x="6463665" y="61914"/>
                </a:cubicBezTo>
                <a:lnTo>
                  <a:pt x="6463665" y="1039176"/>
                </a:lnTo>
                <a:cubicBezTo>
                  <a:pt x="6463665" y="1073370"/>
                  <a:pt x="6435945" y="1101090"/>
                  <a:pt x="6401751" y="1101090"/>
                </a:cubicBezTo>
                <a:lnTo>
                  <a:pt x="61914" y="1101090"/>
                </a:lnTo>
                <a:cubicBezTo>
                  <a:pt x="27720" y="1101090"/>
                  <a:pt x="0" y="1073370"/>
                  <a:pt x="0" y="1039176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4846" y="4636294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61913" y="0"/>
                </a:moveTo>
                <a:lnTo>
                  <a:pt x="252412" y="0"/>
                </a:lnTo>
                <a:cubicBezTo>
                  <a:pt x="286583" y="0"/>
                  <a:pt x="314325" y="27742"/>
                  <a:pt x="314325" y="61913"/>
                </a:cubicBezTo>
                <a:lnTo>
                  <a:pt x="314325" y="252412"/>
                </a:lnTo>
                <a:cubicBezTo>
                  <a:pt x="314325" y="286606"/>
                  <a:pt x="286606" y="314325"/>
                  <a:pt x="252412" y="314325"/>
                </a:cubicBezTo>
                <a:lnTo>
                  <a:pt x="61913" y="314325"/>
                </a:lnTo>
                <a:cubicBezTo>
                  <a:pt x="27719" y="314325"/>
                  <a:pt x="0" y="286606"/>
                  <a:pt x="0" y="252412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Shape 37"/>
          <p:cNvSpPr/>
          <p:nvPr/>
        </p:nvSpPr>
        <p:spPr>
          <a:xfrm>
            <a:off x="760363" y="4712494"/>
            <a:ext cx="135434" cy="154781"/>
          </a:xfrm>
          <a:custGeom>
            <a:avLst/>
            <a:gdLst/>
            <a:ahLst/>
            <a:cxnLst/>
            <a:rect l="l" t="t" r="r" b="b"/>
            <a:pathLst>
              <a:path w="135434" h="154781">
                <a:moveTo>
                  <a:pt x="135434" y="62215"/>
                </a:moveTo>
                <a:cubicBezTo>
                  <a:pt x="130959" y="65177"/>
                  <a:pt x="125820" y="67566"/>
                  <a:pt x="120469" y="69470"/>
                </a:cubicBezTo>
                <a:cubicBezTo>
                  <a:pt x="106261" y="74549"/>
                  <a:pt x="87609" y="77391"/>
                  <a:pt x="67717" y="77391"/>
                </a:cubicBezTo>
                <a:cubicBezTo>
                  <a:pt x="47825" y="77391"/>
                  <a:pt x="29142" y="74519"/>
                  <a:pt x="14964" y="69470"/>
                </a:cubicBezTo>
                <a:cubicBezTo>
                  <a:pt x="9644" y="67566"/>
                  <a:pt x="4474" y="65177"/>
                  <a:pt x="0" y="62215"/>
                </a:cubicBezTo>
                <a:lnTo>
                  <a:pt x="0" y="87064"/>
                </a:lnTo>
                <a:cubicBezTo>
                  <a:pt x="0" y="100426"/>
                  <a:pt x="30321" y="111249"/>
                  <a:pt x="67717" y="111249"/>
                </a:cubicBezTo>
                <a:cubicBezTo>
                  <a:pt x="105112" y="111249"/>
                  <a:pt x="135434" y="100426"/>
                  <a:pt x="135434" y="87064"/>
                </a:cubicBezTo>
                <a:lnTo>
                  <a:pt x="135434" y="62215"/>
                </a:lnTo>
                <a:close/>
                <a:moveTo>
                  <a:pt x="135434" y="38695"/>
                </a:moveTo>
                <a:lnTo>
                  <a:pt x="135434" y="24185"/>
                </a:lnTo>
                <a:cubicBezTo>
                  <a:pt x="135434" y="10823"/>
                  <a:pt x="105112" y="0"/>
                  <a:pt x="67717" y="0"/>
                </a:cubicBezTo>
                <a:cubicBezTo>
                  <a:pt x="30321" y="0"/>
                  <a:pt x="0" y="10823"/>
                  <a:pt x="0" y="24185"/>
                </a:cubicBezTo>
                <a:lnTo>
                  <a:pt x="0" y="38695"/>
                </a:lnTo>
                <a:cubicBezTo>
                  <a:pt x="0" y="52057"/>
                  <a:pt x="30321" y="62880"/>
                  <a:pt x="67717" y="62880"/>
                </a:cubicBezTo>
                <a:cubicBezTo>
                  <a:pt x="105112" y="62880"/>
                  <a:pt x="135434" y="52057"/>
                  <a:pt x="135434" y="38695"/>
                </a:cubicBezTo>
                <a:close/>
                <a:moveTo>
                  <a:pt x="120469" y="117839"/>
                </a:moveTo>
                <a:cubicBezTo>
                  <a:pt x="106291" y="122888"/>
                  <a:pt x="87639" y="125760"/>
                  <a:pt x="67717" y="125760"/>
                </a:cubicBezTo>
                <a:cubicBezTo>
                  <a:pt x="47795" y="125760"/>
                  <a:pt x="29142" y="122888"/>
                  <a:pt x="14964" y="117839"/>
                </a:cubicBezTo>
                <a:cubicBezTo>
                  <a:pt x="9644" y="115935"/>
                  <a:pt x="4474" y="113547"/>
                  <a:pt x="0" y="110584"/>
                </a:cubicBezTo>
                <a:lnTo>
                  <a:pt x="0" y="130597"/>
                </a:lnTo>
                <a:cubicBezTo>
                  <a:pt x="0" y="143959"/>
                  <a:pt x="30321" y="154781"/>
                  <a:pt x="67717" y="154781"/>
                </a:cubicBezTo>
                <a:cubicBezTo>
                  <a:pt x="105112" y="154781"/>
                  <a:pt x="135434" y="143959"/>
                  <a:pt x="135434" y="130597"/>
                </a:cubicBezTo>
                <a:lnTo>
                  <a:pt x="135434" y="110584"/>
                </a:lnTo>
                <a:cubicBezTo>
                  <a:pt x="130959" y="113547"/>
                  <a:pt x="125820" y="115935"/>
                  <a:pt x="120469" y="1178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077277" y="4682728"/>
            <a:ext cx="7268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4846" y="5038725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>
                <a:moveTo>
                  <a:pt x="30955" y="0"/>
                </a:moveTo>
                <a:lnTo>
                  <a:pt x="1997870" y="0"/>
                </a:lnTo>
                <a:cubicBezTo>
                  <a:pt x="2014966" y="0"/>
                  <a:pt x="2028825" y="13859"/>
                  <a:pt x="2028825" y="30955"/>
                </a:cubicBezTo>
                <a:lnTo>
                  <a:pt x="2028825" y="407195"/>
                </a:lnTo>
                <a:cubicBezTo>
                  <a:pt x="2028825" y="424291"/>
                  <a:pt x="2014966" y="438150"/>
                  <a:pt x="1997870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638404" y="5114092"/>
            <a:ext cx="94804" cy="108347"/>
          </a:xfrm>
          <a:custGeom>
            <a:avLst/>
            <a:gdLst/>
            <a:ahLst/>
            <a:cxnLst/>
            <a:rect l="l" t="t" r="r" b="b"/>
            <a:pathLst>
              <a:path w="94804" h="108347">
                <a:moveTo>
                  <a:pt x="13543" y="6772"/>
                </a:moveTo>
                <a:cubicBezTo>
                  <a:pt x="6073" y="6772"/>
                  <a:pt x="0" y="12845"/>
                  <a:pt x="0" y="20315"/>
                </a:cubicBezTo>
                <a:lnTo>
                  <a:pt x="0" y="33858"/>
                </a:lnTo>
                <a:cubicBezTo>
                  <a:pt x="0" y="41328"/>
                  <a:pt x="6073" y="47402"/>
                  <a:pt x="13543" y="47402"/>
                </a:cubicBezTo>
                <a:lnTo>
                  <a:pt x="81260" y="47402"/>
                </a:lnTo>
                <a:cubicBezTo>
                  <a:pt x="88730" y="47402"/>
                  <a:pt x="94804" y="41328"/>
                  <a:pt x="94804" y="33858"/>
                </a:cubicBezTo>
                <a:lnTo>
                  <a:pt x="94804" y="20315"/>
                </a:lnTo>
                <a:cubicBezTo>
                  <a:pt x="94804" y="12845"/>
                  <a:pt x="88730" y="6772"/>
                  <a:pt x="81260" y="6772"/>
                </a:cubicBezTo>
                <a:lnTo>
                  <a:pt x="13543" y="6772"/>
                </a:lnTo>
                <a:close/>
                <a:moveTo>
                  <a:pt x="59252" y="22008"/>
                </a:moveTo>
                <a:cubicBezTo>
                  <a:pt x="62055" y="22008"/>
                  <a:pt x="64331" y="24284"/>
                  <a:pt x="64331" y="27087"/>
                </a:cubicBezTo>
                <a:cubicBezTo>
                  <a:pt x="64331" y="29890"/>
                  <a:pt x="62055" y="32165"/>
                  <a:pt x="59252" y="32165"/>
                </a:cubicBezTo>
                <a:cubicBezTo>
                  <a:pt x="56449" y="32165"/>
                  <a:pt x="54173" y="29890"/>
                  <a:pt x="54173" y="27087"/>
                </a:cubicBezTo>
                <a:cubicBezTo>
                  <a:pt x="54173" y="24284"/>
                  <a:pt x="56449" y="22008"/>
                  <a:pt x="59252" y="22008"/>
                </a:cubicBezTo>
                <a:close/>
                <a:moveTo>
                  <a:pt x="71103" y="27087"/>
                </a:moveTo>
                <a:cubicBezTo>
                  <a:pt x="71103" y="24284"/>
                  <a:pt x="73378" y="22008"/>
                  <a:pt x="76181" y="22008"/>
                </a:cubicBezTo>
                <a:cubicBezTo>
                  <a:pt x="78984" y="22008"/>
                  <a:pt x="81260" y="24284"/>
                  <a:pt x="81260" y="27087"/>
                </a:cubicBezTo>
                <a:cubicBezTo>
                  <a:pt x="81260" y="29890"/>
                  <a:pt x="78984" y="32165"/>
                  <a:pt x="76181" y="32165"/>
                </a:cubicBezTo>
                <a:cubicBezTo>
                  <a:pt x="73378" y="32165"/>
                  <a:pt x="71103" y="29890"/>
                  <a:pt x="71103" y="27087"/>
                </a:cubicBezTo>
                <a:close/>
                <a:moveTo>
                  <a:pt x="13543" y="60945"/>
                </a:moveTo>
                <a:cubicBezTo>
                  <a:pt x="6073" y="60945"/>
                  <a:pt x="0" y="67018"/>
                  <a:pt x="0" y="74488"/>
                </a:cubicBezTo>
                <a:lnTo>
                  <a:pt x="0" y="88032"/>
                </a:lnTo>
                <a:cubicBezTo>
                  <a:pt x="0" y="95502"/>
                  <a:pt x="6073" y="101575"/>
                  <a:pt x="13543" y="101575"/>
                </a:cubicBezTo>
                <a:lnTo>
                  <a:pt x="81260" y="101575"/>
                </a:lnTo>
                <a:cubicBezTo>
                  <a:pt x="88730" y="101575"/>
                  <a:pt x="94804" y="95502"/>
                  <a:pt x="94804" y="88032"/>
                </a:cubicBezTo>
                <a:lnTo>
                  <a:pt x="94804" y="74488"/>
                </a:lnTo>
                <a:cubicBezTo>
                  <a:pt x="94804" y="67018"/>
                  <a:pt x="88730" y="60945"/>
                  <a:pt x="81260" y="60945"/>
                </a:cubicBezTo>
                <a:lnTo>
                  <a:pt x="13543" y="60945"/>
                </a:lnTo>
                <a:close/>
                <a:moveTo>
                  <a:pt x="59252" y="76181"/>
                </a:moveTo>
                <a:cubicBezTo>
                  <a:pt x="62055" y="76181"/>
                  <a:pt x="64331" y="78457"/>
                  <a:pt x="64331" y="81260"/>
                </a:cubicBezTo>
                <a:cubicBezTo>
                  <a:pt x="64331" y="84063"/>
                  <a:pt x="62055" y="86339"/>
                  <a:pt x="59252" y="86339"/>
                </a:cubicBezTo>
                <a:cubicBezTo>
                  <a:pt x="56449" y="86339"/>
                  <a:pt x="54173" y="84063"/>
                  <a:pt x="54173" y="81260"/>
                </a:cubicBezTo>
                <a:cubicBezTo>
                  <a:pt x="54173" y="78457"/>
                  <a:pt x="56449" y="76181"/>
                  <a:pt x="59252" y="76181"/>
                </a:cubicBezTo>
                <a:close/>
                <a:moveTo>
                  <a:pt x="71103" y="81260"/>
                </a:moveTo>
                <a:cubicBezTo>
                  <a:pt x="71103" y="78457"/>
                  <a:pt x="73378" y="76181"/>
                  <a:pt x="76181" y="76181"/>
                </a:cubicBezTo>
                <a:cubicBezTo>
                  <a:pt x="78984" y="76181"/>
                  <a:pt x="81260" y="78457"/>
                  <a:pt x="81260" y="81260"/>
                </a:cubicBezTo>
                <a:cubicBezTo>
                  <a:pt x="81260" y="84063"/>
                  <a:pt x="78984" y="86339"/>
                  <a:pt x="76181" y="86339"/>
                </a:cubicBezTo>
                <a:cubicBezTo>
                  <a:pt x="73378" y="86339"/>
                  <a:pt x="71103" y="84063"/>
                  <a:pt x="71103" y="8126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709672" y="5255419"/>
            <a:ext cx="1959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DB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760821" y="5038725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>
                <a:moveTo>
                  <a:pt x="30955" y="0"/>
                </a:moveTo>
                <a:lnTo>
                  <a:pt x="1997870" y="0"/>
                </a:lnTo>
                <a:cubicBezTo>
                  <a:pt x="2014966" y="0"/>
                  <a:pt x="2028825" y="13859"/>
                  <a:pt x="2028825" y="30955"/>
                </a:cubicBezTo>
                <a:lnTo>
                  <a:pt x="2028825" y="407195"/>
                </a:lnTo>
                <a:cubicBezTo>
                  <a:pt x="2028825" y="424291"/>
                  <a:pt x="2014966" y="438150"/>
                  <a:pt x="1997870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724379" y="5114092"/>
            <a:ext cx="94804" cy="108347"/>
          </a:xfrm>
          <a:custGeom>
            <a:avLst/>
            <a:gdLst/>
            <a:ahLst/>
            <a:cxnLst/>
            <a:rect l="l" t="t" r="r" b="b"/>
            <a:pathLst>
              <a:path w="94804" h="108347">
                <a:moveTo>
                  <a:pt x="40630" y="0"/>
                </a:moveTo>
                <a:cubicBezTo>
                  <a:pt x="33160" y="0"/>
                  <a:pt x="27087" y="6073"/>
                  <a:pt x="27087" y="13543"/>
                </a:cubicBezTo>
                <a:lnTo>
                  <a:pt x="27087" y="67717"/>
                </a:lnTo>
                <a:cubicBezTo>
                  <a:pt x="27087" y="75187"/>
                  <a:pt x="33160" y="81260"/>
                  <a:pt x="40630" y="81260"/>
                </a:cubicBezTo>
                <a:lnTo>
                  <a:pt x="81260" y="81260"/>
                </a:lnTo>
                <a:cubicBezTo>
                  <a:pt x="88730" y="81260"/>
                  <a:pt x="94804" y="75187"/>
                  <a:pt x="94804" y="67717"/>
                </a:cubicBezTo>
                <a:lnTo>
                  <a:pt x="94804" y="25267"/>
                </a:lnTo>
                <a:cubicBezTo>
                  <a:pt x="94804" y="21585"/>
                  <a:pt x="93301" y="18051"/>
                  <a:pt x="90635" y="15490"/>
                </a:cubicBezTo>
                <a:lnTo>
                  <a:pt x="78425" y="3767"/>
                </a:lnTo>
                <a:cubicBezTo>
                  <a:pt x="75906" y="1354"/>
                  <a:pt x="72542" y="0"/>
                  <a:pt x="69050" y="0"/>
                </a:cubicBezTo>
                <a:lnTo>
                  <a:pt x="40630" y="0"/>
                </a:lnTo>
                <a:close/>
                <a:moveTo>
                  <a:pt x="13543" y="27087"/>
                </a:moveTo>
                <a:cubicBezTo>
                  <a:pt x="6073" y="27087"/>
                  <a:pt x="0" y="33160"/>
                  <a:pt x="0" y="40630"/>
                </a:cubicBezTo>
                <a:lnTo>
                  <a:pt x="0" y="94804"/>
                </a:lnTo>
                <a:cubicBezTo>
                  <a:pt x="0" y="102274"/>
                  <a:pt x="6073" y="108347"/>
                  <a:pt x="13543" y="108347"/>
                </a:cubicBezTo>
                <a:lnTo>
                  <a:pt x="54173" y="108347"/>
                </a:lnTo>
                <a:cubicBezTo>
                  <a:pt x="61643" y="108347"/>
                  <a:pt x="67717" y="102274"/>
                  <a:pt x="67717" y="94804"/>
                </a:cubicBezTo>
                <a:lnTo>
                  <a:pt x="67717" y="91418"/>
                </a:lnTo>
                <a:lnTo>
                  <a:pt x="54173" y="91418"/>
                </a:lnTo>
                <a:lnTo>
                  <a:pt x="54173" y="94804"/>
                </a:lnTo>
                <a:lnTo>
                  <a:pt x="13543" y="94804"/>
                </a:lnTo>
                <a:lnTo>
                  <a:pt x="13543" y="40630"/>
                </a:lnTo>
                <a:lnTo>
                  <a:pt x="16929" y="40630"/>
                </a:lnTo>
                <a:lnTo>
                  <a:pt x="16929" y="27087"/>
                </a:lnTo>
                <a:lnTo>
                  <a:pt x="13543" y="2708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4"/>
          <p:cNvSpPr/>
          <p:nvPr/>
        </p:nvSpPr>
        <p:spPr>
          <a:xfrm>
            <a:off x="2795647" y="5255419"/>
            <a:ext cx="1959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Replica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46796" y="5038725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>
                <a:moveTo>
                  <a:pt x="30955" y="0"/>
                </a:moveTo>
                <a:lnTo>
                  <a:pt x="1997870" y="0"/>
                </a:lnTo>
                <a:cubicBezTo>
                  <a:pt x="2014966" y="0"/>
                  <a:pt x="2028825" y="13859"/>
                  <a:pt x="2028825" y="30955"/>
                </a:cubicBezTo>
                <a:lnTo>
                  <a:pt x="2028825" y="407195"/>
                </a:lnTo>
                <a:cubicBezTo>
                  <a:pt x="2028825" y="424291"/>
                  <a:pt x="2014966" y="438150"/>
                  <a:pt x="1997870" y="438150"/>
                </a:cubicBezTo>
                <a:lnTo>
                  <a:pt x="30955" y="438150"/>
                </a:lnTo>
                <a:cubicBezTo>
                  <a:pt x="13859" y="438150"/>
                  <a:pt x="0" y="424291"/>
                  <a:pt x="0" y="407195"/>
                </a:cubicBezTo>
                <a:lnTo>
                  <a:pt x="0" y="30955"/>
                </a:lnTo>
                <a:cubicBezTo>
                  <a:pt x="0" y="13859"/>
                  <a:pt x="13859" y="0"/>
                  <a:pt x="3095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803582" y="5114092"/>
            <a:ext cx="108347" cy="108347"/>
          </a:xfrm>
          <a:custGeom>
            <a:avLst/>
            <a:gdLst/>
            <a:ahLst/>
            <a:cxnLst/>
            <a:rect l="l" t="t" r="r" b="b"/>
            <a:pathLst>
              <a:path w="108347" h="108347">
                <a:moveTo>
                  <a:pt x="0" y="13543"/>
                </a:moveTo>
                <a:cubicBezTo>
                  <a:pt x="0" y="9798"/>
                  <a:pt x="3026" y="6772"/>
                  <a:pt x="6772" y="6772"/>
                </a:cubicBezTo>
                <a:lnTo>
                  <a:pt x="101575" y="6772"/>
                </a:lnTo>
                <a:cubicBezTo>
                  <a:pt x="105321" y="6772"/>
                  <a:pt x="108347" y="9798"/>
                  <a:pt x="108347" y="13543"/>
                </a:cubicBezTo>
                <a:lnTo>
                  <a:pt x="108347" y="20315"/>
                </a:lnTo>
                <a:cubicBezTo>
                  <a:pt x="108347" y="24061"/>
                  <a:pt x="105321" y="27087"/>
                  <a:pt x="101575" y="27087"/>
                </a:cubicBezTo>
                <a:lnTo>
                  <a:pt x="6772" y="27087"/>
                </a:lnTo>
                <a:cubicBezTo>
                  <a:pt x="3026" y="27087"/>
                  <a:pt x="0" y="24061"/>
                  <a:pt x="0" y="20315"/>
                </a:cubicBezTo>
                <a:lnTo>
                  <a:pt x="0" y="13543"/>
                </a:lnTo>
                <a:close/>
                <a:moveTo>
                  <a:pt x="6772" y="37244"/>
                </a:moveTo>
                <a:lnTo>
                  <a:pt x="101575" y="37244"/>
                </a:lnTo>
                <a:lnTo>
                  <a:pt x="101575" y="88032"/>
                </a:lnTo>
                <a:cubicBezTo>
                  <a:pt x="101575" y="95502"/>
                  <a:pt x="95502" y="101575"/>
                  <a:pt x="88032" y="101575"/>
                </a:cubicBezTo>
                <a:lnTo>
                  <a:pt x="20315" y="101575"/>
                </a:lnTo>
                <a:cubicBezTo>
                  <a:pt x="12845" y="101575"/>
                  <a:pt x="6772" y="95502"/>
                  <a:pt x="6772" y="88032"/>
                </a:cubicBezTo>
                <a:lnTo>
                  <a:pt x="6772" y="37244"/>
                </a:lnTo>
                <a:close/>
                <a:moveTo>
                  <a:pt x="38937" y="50788"/>
                </a:moveTo>
                <a:cubicBezTo>
                  <a:pt x="36123" y="50788"/>
                  <a:pt x="33858" y="53052"/>
                  <a:pt x="33858" y="55866"/>
                </a:cubicBezTo>
                <a:cubicBezTo>
                  <a:pt x="33858" y="58681"/>
                  <a:pt x="36123" y="60945"/>
                  <a:pt x="38937" y="60945"/>
                </a:cubicBezTo>
                <a:lnTo>
                  <a:pt x="69410" y="60945"/>
                </a:lnTo>
                <a:cubicBezTo>
                  <a:pt x="72224" y="60945"/>
                  <a:pt x="74488" y="58681"/>
                  <a:pt x="74488" y="55866"/>
                </a:cubicBezTo>
                <a:cubicBezTo>
                  <a:pt x="74488" y="53052"/>
                  <a:pt x="72224" y="50788"/>
                  <a:pt x="69410" y="50788"/>
                </a:cubicBezTo>
                <a:lnTo>
                  <a:pt x="38937" y="5078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Text 47"/>
          <p:cNvSpPr/>
          <p:nvPr/>
        </p:nvSpPr>
        <p:spPr>
          <a:xfrm>
            <a:off x="4881622" y="5255419"/>
            <a:ext cx="1959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Backup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288530" y="1050131"/>
            <a:ext cx="4524375" cy="3724275"/>
          </a:xfrm>
          <a:custGeom>
            <a:avLst/>
            <a:gdLst/>
            <a:ahLst/>
            <a:cxnLst/>
            <a:rect l="l" t="t" r="r" b="b"/>
            <a:pathLst>
              <a:path w="4524375" h="3724275">
                <a:moveTo>
                  <a:pt x="38100" y="0"/>
                </a:moveTo>
                <a:lnTo>
                  <a:pt x="4486275" y="0"/>
                </a:lnTo>
                <a:cubicBezTo>
                  <a:pt x="4507303" y="0"/>
                  <a:pt x="4524375" y="17072"/>
                  <a:pt x="4524375" y="38100"/>
                </a:cubicBezTo>
                <a:lnTo>
                  <a:pt x="4524375" y="3662378"/>
                </a:lnTo>
                <a:cubicBezTo>
                  <a:pt x="4524375" y="3696563"/>
                  <a:pt x="4496663" y="3724275"/>
                  <a:pt x="4462478" y="3724275"/>
                </a:cubicBezTo>
                <a:lnTo>
                  <a:pt x="61897" y="3724275"/>
                </a:lnTo>
                <a:cubicBezTo>
                  <a:pt x="27712" y="3724275"/>
                  <a:pt x="0" y="3696563"/>
                  <a:pt x="0" y="366237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288530" y="1050131"/>
            <a:ext cx="4524375" cy="38100"/>
          </a:xfrm>
          <a:custGeom>
            <a:avLst/>
            <a:gdLst/>
            <a:ahLst/>
            <a:cxnLst/>
            <a:rect l="l" t="t" r="r" b="b"/>
            <a:pathLst>
              <a:path w="4524375" h="38100">
                <a:moveTo>
                  <a:pt x="38100" y="0"/>
                </a:moveTo>
                <a:lnTo>
                  <a:pt x="4486275" y="0"/>
                </a:lnTo>
                <a:cubicBezTo>
                  <a:pt x="4507303" y="0"/>
                  <a:pt x="4524375" y="17072"/>
                  <a:pt x="4524375" y="38100"/>
                </a:cubicBezTo>
                <a:lnTo>
                  <a:pt x="45243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52" name="Text 50"/>
          <p:cNvSpPr/>
          <p:nvPr/>
        </p:nvSpPr>
        <p:spPr>
          <a:xfrm>
            <a:off x="7443311" y="1223963"/>
            <a:ext cx="42797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Process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43311" y="1564481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lnTo>
                  <a:pt x="123825" y="0"/>
                </a:lnTo>
                <a:cubicBezTo>
                  <a:pt x="192166" y="0"/>
                  <a:pt x="247650" y="55484"/>
                  <a:pt x="247650" y="123825"/>
                </a:cubicBezTo>
                <a:lnTo>
                  <a:pt x="247650" y="123825"/>
                </a:lnTo>
                <a:cubicBezTo>
                  <a:pt x="247650" y="192166"/>
                  <a:pt x="192166" y="247650"/>
                  <a:pt x="123825" y="247650"/>
                </a:cubicBezTo>
                <a:lnTo>
                  <a:pt x="123825" y="247650"/>
                </a:lnTo>
                <a:cubicBezTo>
                  <a:pt x="55484" y="247650"/>
                  <a:pt x="0" y="192166"/>
                  <a:pt x="0" y="123825"/>
                </a:cubicBezTo>
                <a:lnTo>
                  <a:pt x="0" y="123825"/>
                </a:lnTo>
                <a:cubicBezTo>
                  <a:pt x="0" y="55484"/>
                  <a:pt x="55484" y="0"/>
                  <a:pt x="123825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54" name="Text 52"/>
          <p:cNvSpPr/>
          <p:nvPr/>
        </p:nvSpPr>
        <p:spPr>
          <a:xfrm>
            <a:off x="7416225" y="1564481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83830" y="1564481"/>
            <a:ext cx="29479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Registration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783830" y="1750219"/>
            <a:ext cx="29402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patient profile created with demographics and insurance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43311" y="1997869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lnTo>
                  <a:pt x="123825" y="0"/>
                </a:lnTo>
                <a:cubicBezTo>
                  <a:pt x="192166" y="0"/>
                  <a:pt x="247650" y="55484"/>
                  <a:pt x="247650" y="123825"/>
                </a:cubicBezTo>
                <a:lnTo>
                  <a:pt x="247650" y="123825"/>
                </a:lnTo>
                <a:cubicBezTo>
                  <a:pt x="247650" y="192166"/>
                  <a:pt x="192166" y="247650"/>
                  <a:pt x="123825" y="247650"/>
                </a:cubicBezTo>
                <a:lnTo>
                  <a:pt x="123825" y="247650"/>
                </a:lnTo>
                <a:cubicBezTo>
                  <a:pt x="55484" y="247650"/>
                  <a:pt x="0" y="192166"/>
                  <a:pt x="0" y="123825"/>
                </a:cubicBezTo>
                <a:lnTo>
                  <a:pt x="0" y="123825"/>
                </a:lnTo>
                <a:cubicBezTo>
                  <a:pt x="0" y="55484"/>
                  <a:pt x="55484" y="0"/>
                  <a:pt x="123825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58" name="Text 56"/>
          <p:cNvSpPr/>
          <p:nvPr/>
        </p:nvSpPr>
        <p:spPr>
          <a:xfrm>
            <a:off x="7416225" y="1997869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783830" y="1997869"/>
            <a:ext cx="31861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 Recording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783830" y="2183606"/>
            <a:ext cx="3178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Encounter documented with symptoms, vitals, and chief complaint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443311" y="2431256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lnTo>
                  <a:pt x="123825" y="0"/>
                </a:lnTo>
                <a:cubicBezTo>
                  <a:pt x="192166" y="0"/>
                  <a:pt x="247650" y="55484"/>
                  <a:pt x="247650" y="123825"/>
                </a:cubicBezTo>
                <a:lnTo>
                  <a:pt x="247650" y="123825"/>
                </a:lnTo>
                <a:cubicBezTo>
                  <a:pt x="247650" y="192166"/>
                  <a:pt x="192166" y="247650"/>
                  <a:pt x="123825" y="247650"/>
                </a:cubicBezTo>
                <a:lnTo>
                  <a:pt x="123825" y="247650"/>
                </a:lnTo>
                <a:cubicBezTo>
                  <a:pt x="55484" y="247650"/>
                  <a:pt x="0" y="192166"/>
                  <a:pt x="0" y="123825"/>
                </a:cubicBezTo>
                <a:lnTo>
                  <a:pt x="0" y="123825"/>
                </a:lnTo>
                <a:cubicBezTo>
                  <a:pt x="0" y="55484"/>
                  <a:pt x="55484" y="0"/>
                  <a:pt x="12382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2" name="Text 60"/>
          <p:cNvSpPr/>
          <p:nvPr/>
        </p:nvSpPr>
        <p:spPr>
          <a:xfrm>
            <a:off x="7416225" y="2431256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783830" y="2431256"/>
            <a:ext cx="2538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Diagnosis Entry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83830" y="2616994"/>
            <a:ext cx="2530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ICD-coded diagnoses with severity and clinical notes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443311" y="2864644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lnTo>
                  <a:pt x="123825" y="0"/>
                </a:lnTo>
                <a:cubicBezTo>
                  <a:pt x="192166" y="0"/>
                  <a:pt x="247650" y="55484"/>
                  <a:pt x="247650" y="123825"/>
                </a:cubicBezTo>
                <a:lnTo>
                  <a:pt x="247650" y="123825"/>
                </a:lnTo>
                <a:cubicBezTo>
                  <a:pt x="247650" y="192166"/>
                  <a:pt x="192166" y="247650"/>
                  <a:pt x="123825" y="247650"/>
                </a:cubicBezTo>
                <a:lnTo>
                  <a:pt x="123825" y="247650"/>
                </a:lnTo>
                <a:cubicBezTo>
                  <a:pt x="55484" y="247650"/>
                  <a:pt x="0" y="192166"/>
                  <a:pt x="0" y="123825"/>
                </a:cubicBezTo>
                <a:lnTo>
                  <a:pt x="0" y="123825"/>
                </a:lnTo>
                <a:cubicBezTo>
                  <a:pt x="0" y="55484"/>
                  <a:pt x="55484" y="0"/>
                  <a:pt x="123825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6" name="Text 64"/>
          <p:cNvSpPr/>
          <p:nvPr/>
        </p:nvSpPr>
        <p:spPr>
          <a:xfrm>
            <a:off x="7416225" y="2864644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783830" y="2864644"/>
            <a:ext cx="25288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Prescription Generation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783830" y="3050381"/>
            <a:ext cx="2521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Medications prescribed with dosage and instructions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443311" y="3298031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lnTo>
                  <a:pt x="123825" y="0"/>
                </a:lnTo>
                <a:cubicBezTo>
                  <a:pt x="192166" y="0"/>
                  <a:pt x="247650" y="55484"/>
                  <a:pt x="247650" y="123825"/>
                </a:cubicBezTo>
                <a:lnTo>
                  <a:pt x="247650" y="123825"/>
                </a:lnTo>
                <a:cubicBezTo>
                  <a:pt x="247650" y="192166"/>
                  <a:pt x="192166" y="247650"/>
                  <a:pt x="123825" y="247650"/>
                </a:cubicBezTo>
                <a:lnTo>
                  <a:pt x="123825" y="247650"/>
                </a:lnTo>
                <a:cubicBezTo>
                  <a:pt x="55484" y="247650"/>
                  <a:pt x="0" y="192166"/>
                  <a:pt x="0" y="123825"/>
                </a:cubicBezTo>
                <a:lnTo>
                  <a:pt x="0" y="123825"/>
                </a:lnTo>
                <a:cubicBezTo>
                  <a:pt x="0" y="55484"/>
                  <a:pt x="55484" y="0"/>
                  <a:pt x="123825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70" name="Text 68"/>
          <p:cNvSpPr/>
          <p:nvPr/>
        </p:nvSpPr>
        <p:spPr>
          <a:xfrm>
            <a:off x="7416225" y="3298031"/>
            <a:ext cx="301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783830" y="3298031"/>
            <a:ext cx="28146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Follow-up Scheduling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783830" y="3483769"/>
            <a:ext cx="28068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appointments scheduled with automated reminders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288530" y="4898231"/>
            <a:ext cx="4524375" cy="1581150"/>
          </a:xfrm>
          <a:custGeom>
            <a:avLst/>
            <a:gdLst/>
            <a:ahLst/>
            <a:cxnLst/>
            <a:rect l="l" t="t" r="r" b="b"/>
            <a:pathLst>
              <a:path w="4524375" h="1581150">
                <a:moveTo>
                  <a:pt x="61918" y="0"/>
                </a:moveTo>
                <a:lnTo>
                  <a:pt x="4462457" y="0"/>
                </a:lnTo>
                <a:cubicBezTo>
                  <a:pt x="4496653" y="0"/>
                  <a:pt x="4524375" y="27722"/>
                  <a:pt x="4524375" y="61918"/>
                </a:cubicBezTo>
                <a:lnTo>
                  <a:pt x="4524375" y="1519232"/>
                </a:lnTo>
                <a:cubicBezTo>
                  <a:pt x="4524375" y="1553428"/>
                  <a:pt x="4496653" y="1581150"/>
                  <a:pt x="4462457" y="1581150"/>
                </a:cubicBezTo>
                <a:lnTo>
                  <a:pt x="61918" y="1581150"/>
                </a:lnTo>
                <a:cubicBezTo>
                  <a:pt x="27722" y="1581150"/>
                  <a:pt x="0" y="1553428"/>
                  <a:pt x="0" y="1519232"/>
                </a:cubicBezTo>
                <a:lnTo>
                  <a:pt x="0" y="61918"/>
                </a:lnTo>
                <a:cubicBezTo>
                  <a:pt x="0" y="27722"/>
                  <a:pt x="27722" y="0"/>
                  <a:pt x="61918" y="0"/>
                </a:cubicBezTo>
                <a:close/>
              </a:path>
            </a:pathLst>
          </a:custGeom>
          <a:gradFill rotWithShape="1" flip="none">
            <a:gsLst>
              <a:gs pos="0">
                <a:srgbClr val="2C5F7C"/>
              </a:gs>
              <a:gs pos="100000">
                <a:srgbClr val="5A8A9F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459385" y="5093494"/>
            <a:ext cx="139303" cy="139303"/>
          </a:xfrm>
          <a:custGeom>
            <a:avLst/>
            <a:gdLst/>
            <a:ahLst/>
            <a:cxnLst/>
            <a:rect l="l" t="t" r="r" b="b"/>
            <a:pathLst>
              <a:path w="139303" h="139303">
                <a:moveTo>
                  <a:pt x="136746" y="40975"/>
                </a:moveTo>
                <a:lnTo>
                  <a:pt x="110626" y="67094"/>
                </a:lnTo>
                <a:cubicBezTo>
                  <a:pt x="108123" y="69597"/>
                  <a:pt x="104396" y="70332"/>
                  <a:pt x="101131" y="68971"/>
                </a:cubicBezTo>
                <a:cubicBezTo>
                  <a:pt x="97866" y="67611"/>
                  <a:pt x="95771" y="64455"/>
                  <a:pt x="95771" y="60945"/>
                </a:cubicBezTo>
                <a:lnTo>
                  <a:pt x="95771" y="43532"/>
                </a:lnTo>
                <a:lnTo>
                  <a:pt x="8706" y="43532"/>
                </a:lnTo>
                <a:cubicBezTo>
                  <a:pt x="3891" y="43532"/>
                  <a:pt x="0" y="39642"/>
                  <a:pt x="0" y="34826"/>
                </a:cubicBezTo>
                <a:cubicBezTo>
                  <a:pt x="0" y="30010"/>
                  <a:pt x="3891" y="26119"/>
                  <a:pt x="8706" y="26119"/>
                </a:cubicBezTo>
                <a:lnTo>
                  <a:pt x="95771" y="26119"/>
                </a:lnTo>
                <a:lnTo>
                  <a:pt x="95771" y="8706"/>
                </a:lnTo>
                <a:cubicBezTo>
                  <a:pt x="95771" y="5197"/>
                  <a:pt x="97893" y="2013"/>
                  <a:pt x="101158" y="653"/>
                </a:cubicBezTo>
                <a:cubicBezTo>
                  <a:pt x="104423" y="-707"/>
                  <a:pt x="108150" y="54"/>
                  <a:pt x="110653" y="2530"/>
                </a:cubicBezTo>
                <a:lnTo>
                  <a:pt x="136773" y="28650"/>
                </a:lnTo>
                <a:cubicBezTo>
                  <a:pt x="140174" y="32051"/>
                  <a:pt x="140174" y="37574"/>
                  <a:pt x="136773" y="40975"/>
                </a:cubicBezTo>
                <a:close/>
                <a:moveTo>
                  <a:pt x="28650" y="136746"/>
                </a:moveTo>
                <a:lnTo>
                  <a:pt x="2530" y="110626"/>
                </a:lnTo>
                <a:cubicBezTo>
                  <a:pt x="-871" y="107225"/>
                  <a:pt x="-871" y="101702"/>
                  <a:pt x="2530" y="98301"/>
                </a:cubicBezTo>
                <a:lnTo>
                  <a:pt x="28650" y="72182"/>
                </a:lnTo>
                <a:cubicBezTo>
                  <a:pt x="31153" y="69679"/>
                  <a:pt x="34880" y="68944"/>
                  <a:pt x="38145" y="70305"/>
                </a:cubicBezTo>
                <a:cubicBezTo>
                  <a:pt x="41410" y="71665"/>
                  <a:pt x="43532" y="74848"/>
                  <a:pt x="43532" y="78358"/>
                </a:cubicBezTo>
                <a:lnTo>
                  <a:pt x="43532" y="95771"/>
                </a:lnTo>
                <a:lnTo>
                  <a:pt x="130597" y="95771"/>
                </a:lnTo>
                <a:cubicBezTo>
                  <a:pt x="135412" y="95771"/>
                  <a:pt x="139303" y="99662"/>
                  <a:pt x="139303" y="104477"/>
                </a:cubicBezTo>
                <a:cubicBezTo>
                  <a:pt x="139303" y="109293"/>
                  <a:pt x="135412" y="113184"/>
                  <a:pt x="130597" y="113184"/>
                </a:cubicBezTo>
                <a:lnTo>
                  <a:pt x="43532" y="113184"/>
                </a:lnTo>
                <a:lnTo>
                  <a:pt x="43532" y="130597"/>
                </a:lnTo>
                <a:cubicBezTo>
                  <a:pt x="43532" y="134106"/>
                  <a:pt x="41410" y="137290"/>
                  <a:pt x="38145" y="138650"/>
                </a:cubicBezTo>
                <a:cubicBezTo>
                  <a:pt x="34880" y="140011"/>
                  <a:pt x="31153" y="139249"/>
                  <a:pt x="28650" y="1367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5" name="Text 73"/>
          <p:cNvSpPr/>
          <p:nvPr/>
        </p:nvSpPr>
        <p:spPr>
          <a:xfrm>
            <a:off x="7614761" y="5053013"/>
            <a:ext cx="41082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Interoperability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443311" y="5362575"/>
            <a:ext cx="42719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supports </a:t>
            </a:r>
            <a:pPr>
              <a:lnSpc>
                <a:spcPct val="140000"/>
              </a:lnSpc>
            </a:pPr>
            <a:r>
              <a:rPr lang="en-US" sz="9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HL7 FHIR</a:t>
            </a:r>
            <a:pPr>
              <a:lnSpc>
                <a:spcPct val="14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standards for seamless data exchange with external healthcare systems and national health information exchanges.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455813" y="5879306"/>
            <a:ext cx="108347" cy="108347"/>
          </a:xfrm>
          <a:custGeom>
            <a:avLst/>
            <a:gdLst/>
            <a:ahLst/>
            <a:cxnLst/>
            <a:rect l="l" t="t" r="r" b="b"/>
            <a:pathLst>
              <a:path w="108347" h="108347">
                <a:moveTo>
                  <a:pt x="54173" y="108347"/>
                </a:moveTo>
                <a:cubicBezTo>
                  <a:pt x="84073" y="108347"/>
                  <a:pt x="108347" y="84073"/>
                  <a:pt x="108347" y="54173"/>
                </a:cubicBezTo>
                <a:cubicBezTo>
                  <a:pt x="108347" y="24274"/>
                  <a:pt x="84073" y="0"/>
                  <a:pt x="54173" y="0"/>
                </a:cubicBezTo>
                <a:cubicBezTo>
                  <a:pt x="24274" y="0"/>
                  <a:pt x="0" y="24274"/>
                  <a:pt x="0" y="54173"/>
                </a:cubicBezTo>
                <a:cubicBezTo>
                  <a:pt x="0" y="84073"/>
                  <a:pt x="24274" y="108347"/>
                  <a:pt x="54173" y="108347"/>
                </a:cubicBezTo>
                <a:close/>
                <a:moveTo>
                  <a:pt x="72034" y="45011"/>
                </a:moveTo>
                <a:lnTo>
                  <a:pt x="55105" y="72097"/>
                </a:lnTo>
                <a:cubicBezTo>
                  <a:pt x="54216" y="73515"/>
                  <a:pt x="52692" y="74404"/>
                  <a:pt x="51020" y="74488"/>
                </a:cubicBezTo>
                <a:cubicBezTo>
                  <a:pt x="49349" y="74573"/>
                  <a:pt x="47740" y="73811"/>
                  <a:pt x="46746" y="72457"/>
                </a:cubicBezTo>
                <a:lnTo>
                  <a:pt x="36588" y="58914"/>
                </a:lnTo>
                <a:cubicBezTo>
                  <a:pt x="34895" y="56670"/>
                  <a:pt x="35361" y="53496"/>
                  <a:pt x="37604" y="51803"/>
                </a:cubicBezTo>
                <a:cubicBezTo>
                  <a:pt x="39847" y="50110"/>
                  <a:pt x="43021" y="50576"/>
                  <a:pt x="44714" y="52819"/>
                </a:cubicBezTo>
                <a:lnTo>
                  <a:pt x="50428" y="60437"/>
                </a:lnTo>
                <a:lnTo>
                  <a:pt x="63421" y="39635"/>
                </a:lnTo>
                <a:cubicBezTo>
                  <a:pt x="64902" y="37265"/>
                  <a:pt x="68034" y="36525"/>
                  <a:pt x="70425" y="38027"/>
                </a:cubicBezTo>
                <a:cubicBezTo>
                  <a:pt x="72817" y="39530"/>
                  <a:pt x="73536" y="42640"/>
                  <a:pt x="72034" y="4503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8" name="Text 76"/>
          <p:cNvSpPr/>
          <p:nvPr/>
        </p:nvSpPr>
        <p:spPr>
          <a:xfrm>
            <a:off x="7640598" y="5857875"/>
            <a:ext cx="1244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APIs (JSON/XML)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455813" y="6034088"/>
            <a:ext cx="108347" cy="108347"/>
          </a:xfrm>
          <a:custGeom>
            <a:avLst/>
            <a:gdLst/>
            <a:ahLst/>
            <a:cxnLst/>
            <a:rect l="l" t="t" r="r" b="b"/>
            <a:pathLst>
              <a:path w="108347" h="108347">
                <a:moveTo>
                  <a:pt x="54173" y="108347"/>
                </a:moveTo>
                <a:cubicBezTo>
                  <a:pt x="84073" y="108347"/>
                  <a:pt x="108347" y="84073"/>
                  <a:pt x="108347" y="54173"/>
                </a:cubicBezTo>
                <a:cubicBezTo>
                  <a:pt x="108347" y="24274"/>
                  <a:pt x="84073" y="0"/>
                  <a:pt x="54173" y="0"/>
                </a:cubicBezTo>
                <a:cubicBezTo>
                  <a:pt x="24274" y="0"/>
                  <a:pt x="0" y="24274"/>
                  <a:pt x="0" y="54173"/>
                </a:cubicBezTo>
                <a:cubicBezTo>
                  <a:pt x="0" y="84073"/>
                  <a:pt x="24274" y="108347"/>
                  <a:pt x="54173" y="108347"/>
                </a:cubicBezTo>
                <a:close/>
                <a:moveTo>
                  <a:pt x="72034" y="45011"/>
                </a:moveTo>
                <a:lnTo>
                  <a:pt x="55105" y="72097"/>
                </a:lnTo>
                <a:cubicBezTo>
                  <a:pt x="54216" y="73515"/>
                  <a:pt x="52692" y="74404"/>
                  <a:pt x="51020" y="74488"/>
                </a:cubicBezTo>
                <a:cubicBezTo>
                  <a:pt x="49349" y="74573"/>
                  <a:pt x="47740" y="73811"/>
                  <a:pt x="46746" y="72457"/>
                </a:cubicBezTo>
                <a:lnTo>
                  <a:pt x="36588" y="58914"/>
                </a:lnTo>
                <a:cubicBezTo>
                  <a:pt x="34895" y="56670"/>
                  <a:pt x="35361" y="53496"/>
                  <a:pt x="37604" y="51803"/>
                </a:cubicBezTo>
                <a:cubicBezTo>
                  <a:pt x="39847" y="50110"/>
                  <a:pt x="43021" y="50576"/>
                  <a:pt x="44714" y="52819"/>
                </a:cubicBezTo>
                <a:lnTo>
                  <a:pt x="50428" y="60437"/>
                </a:lnTo>
                <a:lnTo>
                  <a:pt x="63421" y="39635"/>
                </a:lnTo>
                <a:cubicBezTo>
                  <a:pt x="64902" y="37265"/>
                  <a:pt x="68034" y="36525"/>
                  <a:pt x="70425" y="38027"/>
                </a:cubicBezTo>
                <a:cubicBezTo>
                  <a:pt x="72817" y="39530"/>
                  <a:pt x="73536" y="42640"/>
                  <a:pt x="72034" y="4503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0" name="Text 78"/>
          <p:cNvSpPr/>
          <p:nvPr/>
        </p:nvSpPr>
        <p:spPr>
          <a:xfrm>
            <a:off x="7640598" y="6012656"/>
            <a:ext cx="14829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on FHIR authentication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455813" y="6188869"/>
            <a:ext cx="108347" cy="108347"/>
          </a:xfrm>
          <a:custGeom>
            <a:avLst/>
            <a:gdLst/>
            <a:ahLst/>
            <a:cxnLst/>
            <a:rect l="l" t="t" r="r" b="b"/>
            <a:pathLst>
              <a:path w="108347" h="108347">
                <a:moveTo>
                  <a:pt x="54173" y="108347"/>
                </a:moveTo>
                <a:cubicBezTo>
                  <a:pt x="84073" y="108347"/>
                  <a:pt x="108347" y="84073"/>
                  <a:pt x="108347" y="54173"/>
                </a:cubicBezTo>
                <a:cubicBezTo>
                  <a:pt x="108347" y="24274"/>
                  <a:pt x="84073" y="0"/>
                  <a:pt x="54173" y="0"/>
                </a:cubicBezTo>
                <a:cubicBezTo>
                  <a:pt x="24274" y="0"/>
                  <a:pt x="0" y="24274"/>
                  <a:pt x="0" y="54173"/>
                </a:cubicBezTo>
                <a:cubicBezTo>
                  <a:pt x="0" y="84073"/>
                  <a:pt x="24274" y="108347"/>
                  <a:pt x="54173" y="108347"/>
                </a:cubicBezTo>
                <a:close/>
                <a:moveTo>
                  <a:pt x="72034" y="45011"/>
                </a:moveTo>
                <a:lnTo>
                  <a:pt x="55105" y="72097"/>
                </a:lnTo>
                <a:cubicBezTo>
                  <a:pt x="54216" y="73515"/>
                  <a:pt x="52692" y="74404"/>
                  <a:pt x="51020" y="74488"/>
                </a:cubicBezTo>
                <a:cubicBezTo>
                  <a:pt x="49349" y="74573"/>
                  <a:pt x="47740" y="73811"/>
                  <a:pt x="46746" y="72457"/>
                </a:cubicBezTo>
                <a:lnTo>
                  <a:pt x="36588" y="58914"/>
                </a:lnTo>
                <a:cubicBezTo>
                  <a:pt x="34895" y="56670"/>
                  <a:pt x="35361" y="53496"/>
                  <a:pt x="37604" y="51803"/>
                </a:cubicBezTo>
                <a:cubicBezTo>
                  <a:pt x="39847" y="50110"/>
                  <a:pt x="43021" y="50576"/>
                  <a:pt x="44714" y="52819"/>
                </a:cubicBezTo>
                <a:lnTo>
                  <a:pt x="50428" y="60437"/>
                </a:lnTo>
                <a:lnTo>
                  <a:pt x="63421" y="39635"/>
                </a:lnTo>
                <a:cubicBezTo>
                  <a:pt x="64902" y="37265"/>
                  <a:pt x="68034" y="36525"/>
                  <a:pt x="70425" y="38027"/>
                </a:cubicBezTo>
                <a:cubicBezTo>
                  <a:pt x="72817" y="39530"/>
                  <a:pt x="73536" y="42640"/>
                  <a:pt x="72034" y="4503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2" name="Text 80"/>
          <p:cNvSpPr/>
          <p:nvPr/>
        </p:nvSpPr>
        <p:spPr>
          <a:xfrm>
            <a:off x="7640598" y="6167438"/>
            <a:ext cx="14352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USCDI data elements 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7694"/>
            <a:ext cx="115693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Technology Stack &amp;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50131"/>
            <a:ext cx="5657850" cy="2371725"/>
          </a:xfrm>
          <a:custGeom>
            <a:avLst/>
            <a:gdLst/>
            <a:ahLst/>
            <a:cxnLst/>
            <a:rect l="l" t="t" r="r" b="b"/>
            <a:pathLst>
              <a:path w="5657850" h="2371725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309823"/>
                </a:lnTo>
                <a:cubicBezTo>
                  <a:pt x="5657850" y="2344011"/>
                  <a:pt x="5630136" y="2371725"/>
                  <a:pt x="5595948" y="2371725"/>
                </a:cubicBezTo>
                <a:lnTo>
                  <a:pt x="61902" y="2371725"/>
                </a:lnTo>
                <a:cubicBezTo>
                  <a:pt x="27714" y="2371725"/>
                  <a:pt x="0" y="2344011"/>
                  <a:pt x="0" y="230982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050131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" name="Shape 4"/>
          <p:cNvSpPr/>
          <p:nvPr/>
        </p:nvSpPr>
        <p:spPr>
          <a:xfrm>
            <a:off x="535781" y="122396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61914" y="0"/>
                </a:moveTo>
                <a:lnTo>
                  <a:pt x="309561" y="0"/>
                </a:lnTo>
                <a:cubicBezTo>
                  <a:pt x="343755" y="0"/>
                  <a:pt x="371475" y="27720"/>
                  <a:pt x="371475" y="61914"/>
                </a:cubicBezTo>
                <a:lnTo>
                  <a:pt x="371475" y="309561"/>
                </a:lnTo>
                <a:cubicBezTo>
                  <a:pt x="371475" y="343755"/>
                  <a:pt x="343755" y="371475"/>
                  <a:pt x="309561" y="371475"/>
                </a:cubicBezTo>
                <a:lnTo>
                  <a:pt x="61914" y="371475"/>
                </a:lnTo>
                <a:cubicBezTo>
                  <a:pt x="27720" y="371475"/>
                  <a:pt x="0" y="343755"/>
                  <a:pt x="0" y="309561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7" name="Shape 5"/>
          <p:cNvSpPr/>
          <p:nvPr/>
        </p:nvSpPr>
        <p:spPr>
          <a:xfrm>
            <a:off x="638473" y="1319213"/>
            <a:ext cx="162520" cy="185738"/>
          </a:xfrm>
          <a:custGeom>
            <a:avLst/>
            <a:gdLst/>
            <a:ahLst/>
            <a:cxnLst/>
            <a:rect l="l" t="t" r="r" b="b"/>
            <a:pathLst>
              <a:path w="162520" h="185738">
                <a:moveTo>
                  <a:pt x="162520" y="74658"/>
                </a:moveTo>
                <a:cubicBezTo>
                  <a:pt x="157151" y="78213"/>
                  <a:pt x="150984" y="81079"/>
                  <a:pt x="144563" y="83364"/>
                </a:cubicBezTo>
                <a:cubicBezTo>
                  <a:pt x="127513" y="89459"/>
                  <a:pt x="105130" y="92869"/>
                  <a:pt x="81260" y="92869"/>
                </a:cubicBezTo>
                <a:cubicBezTo>
                  <a:pt x="57390" y="92869"/>
                  <a:pt x="34971" y="89422"/>
                  <a:pt x="17957" y="83364"/>
                </a:cubicBezTo>
                <a:cubicBezTo>
                  <a:pt x="11572" y="81079"/>
                  <a:pt x="5369" y="78213"/>
                  <a:pt x="0" y="74658"/>
                </a:cubicBezTo>
                <a:lnTo>
                  <a:pt x="0" y="104477"/>
                </a:lnTo>
                <a:cubicBezTo>
                  <a:pt x="0" y="120512"/>
                  <a:pt x="36386" y="133499"/>
                  <a:pt x="81260" y="133499"/>
                </a:cubicBezTo>
                <a:cubicBezTo>
                  <a:pt x="126135" y="133499"/>
                  <a:pt x="162520" y="120512"/>
                  <a:pt x="162520" y="104477"/>
                </a:cubicBezTo>
                <a:lnTo>
                  <a:pt x="162520" y="74658"/>
                </a:lnTo>
                <a:close/>
                <a:moveTo>
                  <a:pt x="162520" y="46434"/>
                </a:moveTo>
                <a:lnTo>
                  <a:pt x="162520" y="29021"/>
                </a:lnTo>
                <a:cubicBezTo>
                  <a:pt x="162520" y="12987"/>
                  <a:pt x="126135" y="0"/>
                  <a:pt x="81260" y="0"/>
                </a:cubicBezTo>
                <a:cubicBezTo>
                  <a:pt x="36386" y="0"/>
                  <a:pt x="0" y="12987"/>
                  <a:pt x="0" y="29021"/>
                </a:cubicBezTo>
                <a:lnTo>
                  <a:pt x="0" y="46434"/>
                </a:lnTo>
                <a:cubicBezTo>
                  <a:pt x="0" y="62469"/>
                  <a:pt x="36386" y="75456"/>
                  <a:pt x="81260" y="75456"/>
                </a:cubicBezTo>
                <a:cubicBezTo>
                  <a:pt x="126135" y="75456"/>
                  <a:pt x="162520" y="62469"/>
                  <a:pt x="162520" y="46434"/>
                </a:cubicBezTo>
                <a:close/>
                <a:moveTo>
                  <a:pt x="144563" y="141407"/>
                </a:moveTo>
                <a:cubicBezTo>
                  <a:pt x="127549" y="147465"/>
                  <a:pt x="105167" y="150912"/>
                  <a:pt x="81260" y="150912"/>
                </a:cubicBezTo>
                <a:cubicBezTo>
                  <a:pt x="57354" y="150912"/>
                  <a:pt x="34971" y="147465"/>
                  <a:pt x="17957" y="141407"/>
                </a:cubicBezTo>
                <a:cubicBezTo>
                  <a:pt x="11572" y="139122"/>
                  <a:pt x="5369" y="136256"/>
                  <a:pt x="0" y="132701"/>
                </a:cubicBezTo>
                <a:lnTo>
                  <a:pt x="0" y="156716"/>
                </a:lnTo>
                <a:cubicBezTo>
                  <a:pt x="0" y="172750"/>
                  <a:pt x="36386" y="185738"/>
                  <a:pt x="81260" y="185738"/>
                </a:cubicBezTo>
                <a:cubicBezTo>
                  <a:pt x="126135" y="185738"/>
                  <a:pt x="162520" y="172750"/>
                  <a:pt x="162520" y="156716"/>
                </a:cubicBezTo>
                <a:lnTo>
                  <a:pt x="162520" y="132701"/>
                </a:lnTo>
                <a:cubicBezTo>
                  <a:pt x="157151" y="136256"/>
                  <a:pt x="150984" y="139122"/>
                  <a:pt x="144563" y="1414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0125" y="1223963"/>
            <a:ext cx="7917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0125" y="1440656"/>
            <a:ext cx="768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15+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0069" y="1750219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752475" y="1719263"/>
            <a:ext cx="1719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ACID Compliance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2475" y="1905000"/>
            <a:ext cx="17115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data integrity and reliability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0069" y="215265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2"/>
          <p:cNvSpPr/>
          <p:nvPr/>
        </p:nvSpPr>
        <p:spPr>
          <a:xfrm>
            <a:off x="752475" y="2121694"/>
            <a:ext cx="24907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JSONB Support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2475" y="2307431"/>
            <a:ext cx="24830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storage for vital signs and unstructured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0069" y="2555081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752475" y="2524125"/>
            <a:ext cx="2319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Indexing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475" y="2709863"/>
            <a:ext cx="2311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B-tree, GIN, and partial indexes for performance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069" y="2957513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752475" y="2926556"/>
            <a:ext cx="19573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Replication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2475" y="3112294"/>
            <a:ext cx="1949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replication for high availability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3564731"/>
            <a:ext cx="5657850" cy="2371725"/>
          </a:xfrm>
          <a:custGeom>
            <a:avLst/>
            <a:gdLst/>
            <a:ahLst/>
            <a:cxnLst/>
            <a:rect l="l" t="t" r="r" b="b"/>
            <a:pathLst>
              <a:path w="5657850" h="2371725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309823"/>
                </a:lnTo>
                <a:cubicBezTo>
                  <a:pt x="5657850" y="2344011"/>
                  <a:pt x="5630136" y="2371725"/>
                  <a:pt x="5595948" y="2371725"/>
                </a:cubicBezTo>
                <a:lnTo>
                  <a:pt x="61902" y="2371725"/>
                </a:lnTo>
                <a:cubicBezTo>
                  <a:pt x="27714" y="2371725"/>
                  <a:pt x="0" y="2344011"/>
                  <a:pt x="0" y="230982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1000" y="3564731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4" name="Shape 22"/>
          <p:cNvSpPr/>
          <p:nvPr/>
        </p:nvSpPr>
        <p:spPr>
          <a:xfrm>
            <a:off x="535781" y="373856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61914" y="0"/>
                </a:moveTo>
                <a:lnTo>
                  <a:pt x="309561" y="0"/>
                </a:lnTo>
                <a:cubicBezTo>
                  <a:pt x="343755" y="0"/>
                  <a:pt x="371475" y="27720"/>
                  <a:pt x="371475" y="61914"/>
                </a:cubicBezTo>
                <a:lnTo>
                  <a:pt x="371475" y="309561"/>
                </a:lnTo>
                <a:cubicBezTo>
                  <a:pt x="371475" y="343755"/>
                  <a:pt x="343755" y="371475"/>
                  <a:pt x="309561" y="371475"/>
                </a:cubicBezTo>
                <a:lnTo>
                  <a:pt x="61914" y="371475"/>
                </a:lnTo>
                <a:cubicBezTo>
                  <a:pt x="27720" y="371475"/>
                  <a:pt x="0" y="343755"/>
                  <a:pt x="0" y="309561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473" y="3833812"/>
            <a:ext cx="162520" cy="185738"/>
          </a:xfrm>
          <a:custGeom>
            <a:avLst/>
            <a:gdLst/>
            <a:ahLst/>
            <a:cxnLst/>
            <a:rect l="l" t="t" r="r" b="b"/>
            <a:pathLst>
              <a:path w="162520" h="185738">
                <a:moveTo>
                  <a:pt x="23217" y="11609"/>
                </a:moveTo>
                <a:cubicBezTo>
                  <a:pt x="10411" y="11609"/>
                  <a:pt x="0" y="22020"/>
                  <a:pt x="0" y="34826"/>
                </a:cubicBezTo>
                <a:lnTo>
                  <a:pt x="0" y="58043"/>
                </a:lnTo>
                <a:cubicBezTo>
                  <a:pt x="0" y="70849"/>
                  <a:pt x="10411" y="81260"/>
                  <a:pt x="23217" y="81260"/>
                </a:cubicBezTo>
                <a:lnTo>
                  <a:pt x="139303" y="81260"/>
                </a:lnTo>
                <a:cubicBezTo>
                  <a:pt x="152109" y="81260"/>
                  <a:pt x="162520" y="70849"/>
                  <a:pt x="162520" y="58043"/>
                </a:cubicBezTo>
                <a:lnTo>
                  <a:pt x="162520" y="34826"/>
                </a:lnTo>
                <a:cubicBezTo>
                  <a:pt x="162520" y="22020"/>
                  <a:pt x="152109" y="11609"/>
                  <a:pt x="139303" y="11609"/>
                </a:cubicBezTo>
                <a:lnTo>
                  <a:pt x="23217" y="11609"/>
                </a:lnTo>
                <a:close/>
                <a:moveTo>
                  <a:pt x="101575" y="37728"/>
                </a:moveTo>
                <a:cubicBezTo>
                  <a:pt x="106380" y="37728"/>
                  <a:pt x="110282" y="41629"/>
                  <a:pt x="110282" y="46434"/>
                </a:cubicBezTo>
                <a:cubicBezTo>
                  <a:pt x="110282" y="51240"/>
                  <a:pt x="106380" y="55141"/>
                  <a:pt x="101575" y="55141"/>
                </a:cubicBezTo>
                <a:cubicBezTo>
                  <a:pt x="96770" y="55141"/>
                  <a:pt x="92869" y="51240"/>
                  <a:pt x="92869" y="46434"/>
                </a:cubicBezTo>
                <a:cubicBezTo>
                  <a:pt x="92869" y="41629"/>
                  <a:pt x="96770" y="37728"/>
                  <a:pt x="101575" y="37728"/>
                </a:cubicBezTo>
                <a:close/>
                <a:moveTo>
                  <a:pt x="121890" y="46434"/>
                </a:moveTo>
                <a:cubicBezTo>
                  <a:pt x="121890" y="41629"/>
                  <a:pt x="125791" y="37728"/>
                  <a:pt x="130597" y="37728"/>
                </a:cubicBezTo>
                <a:cubicBezTo>
                  <a:pt x="135402" y="37728"/>
                  <a:pt x="139303" y="41629"/>
                  <a:pt x="139303" y="46434"/>
                </a:cubicBezTo>
                <a:cubicBezTo>
                  <a:pt x="139303" y="51240"/>
                  <a:pt x="135402" y="55141"/>
                  <a:pt x="130597" y="55141"/>
                </a:cubicBezTo>
                <a:cubicBezTo>
                  <a:pt x="125791" y="55141"/>
                  <a:pt x="121890" y="51240"/>
                  <a:pt x="121890" y="46434"/>
                </a:cubicBezTo>
                <a:close/>
                <a:moveTo>
                  <a:pt x="23217" y="104477"/>
                </a:moveTo>
                <a:cubicBezTo>
                  <a:pt x="10411" y="104477"/>
                  <a:pt x="0" y="114889"/>
                  <a:pt x="0" y="127695"/>
                </a:cubicBezTo>
                <a:lnTo>
                  <a:pt x="0" y="150912"/>
                </a:lnTo>
                <a:cubicBezTo>
                  <a:pt x="0" y="163717"/>
                  <a:pt x="10411" y="174129"/>
                  <a:pt x="23217" y="174129"/>
                </a:cubicBezTo>
                <a:lnTo>
                  <a:pt x="139303" y="174129"/>
                </a:lnTo>
                <a:cubicBezTo>
                  <a:pt x="152109" y="174129"/>
                  <a:pt x="162520" y="163717"/>
                  <a:pt x="162520" y="150912"/>
                </a:cubicBezTo>
                <a:lnTo>
                  <a:pt x="162520" y="127695"/>
                </a:lnTo>
                <a:cubicBezTo>
                  <a:pt x="162520" y="114889"/>
                  <a:pt x="152109" y="104477"/>
                  <a:pt x="139303" y="104477"/>
                </a:cubicBezTo>
                <a:lnTo>
                  <a:pt x="23217" y="104477"/>
                </a:lnTo>
                <a:close/>
                <a:moveTo>
                  <a:pt x="101575" y="130597"/>
                </a:moveTo>
                <a:cubicBezTo>
                  <a:pt x="106380" y="130597"/>
                  <a:pt x="110282" y="134498"/>
                  <a:pt x="110282" y="139303"/>
                </a:cubicBezTo>
                <a:cubicBezTo>
                  <a:pt x="110282" y="144108"/>
                  <a:pt x="106380" y="148010"/>
                  <a:pt x="101575" y="148010"/>
                </a:cubicBezTo>
                <a:cubicBezTo>
                  <a:pt x="96770" y="148010"/>
                  <a:pt x="92869" y="144108"/>
                  <a:pt x="92869" y="139303"/>
                </a:cubicBezTo>
                <a:cubicBezTo>
                  <a:pt x="92869" y="134498"/>
                  <a:pt x="96770" y="130597"/>
                  <a:pt x="101575" y="130597"/>
                </a:cubicBezTo>
                <a:close/>
                <a:moveTo>
                  <a:pt x="121890" y="139303"/>
                </a:moveTo>
                <a:cubicBezTo>
                  <a:pt x="121890" y="134498"/>
                  <a:pt x="125791" y="130597"/>
                  <a:pt x="130597" y="130597"/>
                </a:cubicBezTo>
                <a:cubicBezTo>
                  <a:pt x="135402" y="130597"/>
                  <a:pt x="139303" y="134498"/>
                  <a:pt x="139303" y="139303"/>
                </a:cubicBezTo>
                <a:cubicBezTo>
                  <a:pt x="139303" y="144108"/>
                  <a:pt x="135402" y="148010"/>
                  <a:pt x="130597" y="148010"/>
                </a:cubicBezTo>
                <a:cubicBezTo>
                  <a:pt x="125791" y="148010"/>
                  <a:pt x="121890" y="144108"/>
                  <a:pt x="121890" y="1393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00125" y="3738563"/>
            <a:ext cx="20395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0125" y="3955256"/>
            <a:ext cx="20163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Python/Django + Django REST Framework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0069" y="4264819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752475" y="4233863"/>
            <a:ext cx="2033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Development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2475" y="4419600"/>
            <a:ext cx="2025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Mature ecosystem with extensive libraries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0069" y="466725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752475" y="4636294"/>
            <a:ext cx="2024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Security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2475" y="4822031"/>
            <a:ext cx="20163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CSRF protection, SQL injection prevention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0069" y="5069681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752475" y="5038725"/>
            <a:ext cx="17573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ORM Integration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2475" y="5224463"/>
            <a:ext cx="17496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database abstraction layer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0069" y="5472113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Text 36"/>
          <p:cNvSpPr/>
          <p:nvPr/>
        </p:nvSpPr>
        <p:spPr>
          <a:xfrm>
            <a:off x="752475" y="5441156"/>
            <a:ext cx="1624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2475" y="5626894"/>
            <a:ext cx="1616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JSON API endpoints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57913" y="1050131"/>
            <a:ext cx="5657850" cy="2371725"/>
          </a:xfrm>
          <a:custGeom>
            <a:avLst/>
            <a:gdLst/>
            <a:ahLst/>
            <a:cxnLst/>
            <a:rect l="l" t="t" r="r" b="b"/>
            <a:pathLst>
              <a:path w="5657850" h="2371725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309823"/>
                </a:lnTo>
                <a:cubicBezTo>
                  <a:pt x="5657850" y="2344011"/>
                  <a:pt x="5630136" y="2371725"/>
                  <a:pt x="5595948" y="2371725"/>
                </a:cubicBezTo>
                <a:lnTo>
                  <a:pt x="61902" y="2371725"/>
                </a:lnTo>
                <a:cubicBezTo>
                  <a:pt x="27714" y="2371725"/>
                  <a:pt x="0" y="2344011"/>
                  <a:pt x="0" y="230982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57913" y="1050131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Shape 40"/>
          <p:cNvSpPr/>
          <p:nvPr/>
        </p:nvSpPr>
        <p:spPr>
          <a:xfrm>
            <a:off x="6312694" y="122396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61914" y="0"/>
                </a:moveTo>
                <a:lnTo>
                  <a:pt x="309561" y="0"/>
                </a:lnTo>
                <a:cubicBezTo>
                  <a:pt x="343755" y="0"/>
                  <a:pt x="371475" y="27720"/>
                  <a:pt x="371475" y="61914"/>
                </a:cubicBezTo>
                <a:lnTo>
                  <a:pt x="371475" y="309561"/>
                </a:lnTo>
                <a:cubicBezTo>
                  <a:pt x="371475" y="343755"/>
                  <a:pt x="343755" y="371475"/>
                  <a:pt x="309561" y="371475"/>
                </a:cubicBezTo>
                <a:lnTo>
                  <a:pt x="61914" y="371475"/>
                </a:lnTo>
                <a:cubicBezTo>
                  <a:pt x="27720" y="371475"/>
                  <a:pt x="0" y="343755"/>
                  <a:pt x="0" y="309561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Shape 41"/>
          <p:cNvSpPr/>
          <p:nvPr/>
        </p:nvSpPr>
        <p:spPr>
          <a:xfrm>
            <a:off x="6380559" y="1319213"/>
            <a:ext cx="232172" cy="185738"/>
          </a:xfrm>
          <a:custGeom>
            <a:avLst/>
            <a:gdLst/>
            <a:ahLst/>
            <a:cxnLst/>
            <a:rect l="l" t="t" r="r" b="b"/>
            <a:pathLst>
              <a:path w="232172" h="185738">
                <a:moveTo>
                  <a:pt x="23217" y="34826"/>
                </a:moveTo>
                <a:cubicBezTo>
                  <a:pt x="23217" y="22020"/>
                  <a:pt x="33629" y="11609"/>
                  <a:pt x="46434" y="11609"/>
                </a:cubicBezTo>
                <a:lnTo>
                  <a:pt x="185738" y="11609"/>
                </a:lnTo>
                <a:cubicBezTo>
                  <a:pt x="198543" y="11609"/>
                  <a:pt x="208955" y="22020"/>
                  <a:pt x="208955" y="34826"/>
                </a:cubicBezTo>
                <a:lnTo>
                  <a:pt x="208955" y="121890"/>
                </a:lnTo>
                <a:lnTo>
                  <a:pt x="185738" y="121890"/>
                </a:lnTo>
                <a:lnTo>
                  <a:pt x="185738" y="34826"/>
                </a:lnTo>
                <a:lnTo>
                  <a:pt x="46434" y="34826"/>
                </a:lnTo>
                <a:lnTo>
                  <a:pt x="46434" y="121890"/>
                </a:lnTo>
                <a:lnTo>
                  <a:pt x="23217" y="121890"/>
                </a:lnTo>
                <a:lnTo>
                  <a:pt x="23217" y="34826"/>
                </a:lnTo>
                <a:close/>
                <a:moveTo>
                  <a:pt x="0" y="146268"/>
                </a:moveTo>
                <a:cubicBezTo>
                  <a:pt x="0" y="142423"/>
                  <a:pt x="3120" y="139303"/>
                  <a:pt x="6965" y="139303"/>
                </a:cubicBezTo>
                <a:lnTo>
                  <a:pt x="225207" y="139303"/>
                </a:lnTo>
                <a:cubicBezTo>
                  <a:pt x="229052" y="139303"/>
                  <a:pt x="232172" y="142423"/>
                  <a:pt x="232172" y="146268"/>
                </a:cubicBezTo>
                <a:cubicBezTo>
                  <a:pt x="232172" y="161650"/>
                  <a:pt x="219693" y="174129"/>
                  <a:pt x="204311" y="174129"/>
                </a:cubicBezTo>
                <a:lnTo>
                  <a:pt x="27861" y="174129"/>
                </a:lnTo>
                <a:cubicBezTo>
                  <a:pt x="12479" y="174129"/>
                  <a:pt x="0" y="161650"/>
                  <a:pt x="0" y="146268"/>
                </a:cubicBezTo>
                <a:close/>
                <a:moveTo>
                  <a:pt x="101938" y="75819"/>
                </a:moveTo>
                <a:lnTo>
                  <a:pt x="90692" y="87064"/>
                </a:lnTo>
                <a:lnTo>
                  <a:pt x="101938" y="98310"/>
                </a:lnTo>
                <a:cubicBezTo>
                  <a:pt x="105348" y="101720"/>
                  <a:pt x="105348" y="107234"/>
                  <a:pt x="101938" y="110608"/>
                </a:cubicBezTo>
                <a:cubicBezTo>
                  <a:pt x="98528" y="113982"/>
                  <a:pt x="93014" y="114018"/>
                  <a:pt x="89640" y="110608"/>
                </a:cubicBezTo>
                <a:lnTo>
                  <a:pt x="72227" y="93195"/>
                </a:lnTo>
                <a:cubicBezTo>
                  <a:pt x="68817" y="89785"/>
                  <a:pt x="68817" y="84271"/>
                  <a:pt x="72227" y="80897"/>
                </a:cubicBezTo>
                <a:lnTo>
                  <a:pt x="89640" y="63484"/>
                </a:lnTo>
                <a:cubicBezTo>
                  <a:pt x="93050" y="60074"/>
                  <a:pt x="98564" y="60074"/>
                  <a:pt x="101938" y="63484"/>
                </a:cubicBezTo>
                <a:cubicBezTo>
                  <a:pt x="105312" y="66895"/>
                  <a:pt x="105348" y="72409"/>
                  <a:pt x="101938" y="75782"/>
                </a:cubicBezTo>
                <a:close/>
                <a:moveTo>
                  <a:pt x="142568" y="63484"/>
                </a:moveTo>
                <a:lnTo>
                  <a:pt x="159981" y="80897"/>
                </a:lnTo>
                <a:cubicBezTo>
                  <a:pt x="163391" y="84307"/>
                  <a:pt x="163391" y="89821"/>
                  <a:pt x="159981" y="93195"/>
                </a:cubicBezTo>
                <a:lnTo>
                  <a:pt x="142568" y="110608"/>
                </a:lnTo>
                <a:cubicBezTo>
                  <a:pt x="139158" y="114018"/>
                  <a:pt x="133644" y="114018"/>
                  <a:pt x="130270" y="110608"/>
                </a:cubicBezTo>
                <a:cubicBezTo>
                  <a:pt x="126896" y="107198"/>
                  <a:pt x="126860" y="101684"/>
                  <a:pt x="130270" y="98310"/>
                </a:cubicBezTo>
                <a:lnTo>
                  <a:pt x="141516" y="87064"/>
                </a:lnTo>
                <a:lnTo>
                  <a:pt x="130270" y="75819"/>
                </a:lnTo>
                <a:cubicBezTo>
                  <a:pt x="126860" y="72409"/>
                  <a:pt x="126860" y="66895"/>
                  <a:pt x="130270" y="63521"/>
                </a:cubicBezTo>
                <a:cubicBezTo>
                  <a:pt x="133680" y="60147"/>
                  <a:pt x="139194" y="60111"/>
                  <a:pt x="142568" y="635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777038" y="1223963"/>
            <a:ext cx="12203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77038" y="1440656"/>
            <a:ext cx="1197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 18+ + TypeScript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6981" y="1750219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Text 45"/>
          <p:cNvSpPr/>
          <p:nvPr/>
        </p:nvSpPr>
        <p:spPr>
          <a:xfrm>
            <a:off x="6529388" y="1719263"/>
            <a:ext cx="19669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29388" y="1905000"/>
            <a:ext cx="1959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UI components for consistency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6981" y="215265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0" name="Text 48"/>
          <p:cNvSpPr/>
          <p:nvPr/>
        </p:nvSpPr>
        <p:spPr>
          <a:xfrm>
            <a:off x="6529388" y="2121694"/>
            <a:ext cx="16621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29388" y="2307431"/>
            <a:ext cx="1654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 reduces runtime errors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6981" y="2555081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3" name="Text 51"/>
          <p:cNvSpPr/>
          <p:nvPr/>
        </p:nvSpPr>
        <p:spPr>
          <a:xfrm>
            <a:off x="6529388" y="2524125"/>
            <a:ext cx="17573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29388" y="2709863"/>
            <a:ext cx="17496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Mobile-first approach for all devices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26981" y="2957513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6529388" y="2926556"/>
            <a:ext cx="154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Management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29388" y="3112294"/>
            <a:ext cx="1540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Redux Toolkit for complex state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57913" y="3564731"/>
            <a:ext cx="5657850" cy="2371725"/>
          </a:xfrm>
          <a:custGeom>
            <a:avLst/>
            <a:gdLst/>
            <a:ahLst/>
            <a:cxnLst/>
            <a:rect l="l" t="t" r="r" b="b"/>
            <a:pathLst>
              <a:path w="5657850" h="2371725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309823"/>
                </a:lnTo>
                <a:cubicBezTo>
                  <a:pt x="5657850" y="2344011"/>
                  <a:pt x="5630136" y="2371725"/>
                  <a:pt x="5595948" y="2371725"/>
                </a:cubicBezTo>
                <a:lnTo>
                  <a:pt x="61902" y="2371725"/>
                </a:lnTo>
                <a:cubicBezTo>
                  <a:pt x="27714" y="2371725"/>
                  <a:pt x="0" y="2344011"/>
                  <a:pt x="0" y="230982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57913" y="3564731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0" name="Shape 58"/>
          <p:cNvSpPr/>
          <p:nvPr/>
        </p:nvSpPr>
        <p:spPr>
          <a:xfrm>
            <a:off x="6312694" y="373856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61914" y="0"/>
                </a:moveTo>
                <a:lnTo>
                  <a:pt x="309561" y="0"/>
                </a:lnTo>
                <a:cubicBezTo>
                  <a:pt x="343755" y="0"/>
                  <a:pt x="371475" y="27720"/>
                  <a:pt x="371475" y="61914"/>
                </a:cubicBezTo>
                <a:lnTo>
                  <a:pt x="371475" y="309561"/>
                </a:lnTo>
                <a:cubicBezTo>
                  <a:pt x="371475" y="343755"/>
                  <a:pt x="343755" y="371475"/>
                  <a:pt x="309561" y="371475"/>
                </a:cubicBezTo>
                <a:lnTo>
                  <a:pt x="61914" y="371475"/>
                </a:lnTo>
                <a:cubicBezTo>
                  <a:pt x="27720" y="371475"/>
                  <a:pt x="0" y="343755"/>
                  <a:pt x="0" y="309561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1" name="Shape 59"/>
          <p:cNvSpPr/>
          <p:nvPr/>
        </p:nvSpPr>
        <p:spPr>
          <a:xfrm>
            <a:off x="6392168" y="3833812"/>
            <a:ext cx="208955" cy="185738"/>
          </a:xfrm>
          <a:custGeom>
            <a:avLst/>
            <a:gdLst/>
            <a:ahLst/>
            <a:cxnLst/>
            <a:rect l="l" t="t" r="r" b="b"/>
            <a:pathLst>
              <a:path w="208955" h="185738">
                <a:moveTo>
                  <a:pt x="0" y="121890"/>
                </a:moveTo>
                <a:cubicBezTo>
                  <a:pt x="0" y="150730"/>
                  <a:pt x="23399" y="174129"/>
                  <a:pt x="52239" y="174129"/>
                </a:cubicBezTo>
                <a:lnTo>
                  <a:pt x="162520" y="174129"/>
                </a:lnTo>
                <a:cubicBezTo>
                  <a:pt x="188168" y="174129"/>
                  <a:pt x="208955" y="153342"/>
                  <a:pt x="208955" y="127695"/>
                </a:cubicBezTo>
                <a:cubicBezTo>
                  <a:pt x="208955" y="108976"/>
                  <a:pt x="197890" y="92832"/>
                  <a:pt x="181928" y="85505"/>
                </a:cubicBezTo>
                <a:cubicBezTo>
                  <a:pt x="184359" y="80752"/>
                  <a:pt x="185738" y="75347"/>
                  <a:pt x="185738" y="69652"/>
                </a:cubicBezTo>
                <a:cubicBezTo>
                  <a:pt x="185738" y="50425"/>
                  <a:pt x="170138" y="34826"/>
                  <a:pt x="150912" y="34826"/>
                </a:cubicBezTo>
                <a:cubicBezTo>
                  <a:pt x="144491" y="34826"/>
                  <a:pt x="138505" y="36567"/>
                  <a:pt x="133354" y="39578"/>
                </a:cubicBezTo>
                <a:cubicBezTo>
                  <a:pt x="124611" y="22963"/>
                  <a:pt x="107162" y="11609"/>
                  <a:pt x="87064" y="11609"/>
                </a:cubicBezTo>
                <a:cubicBezTo>
                  <a:pt x="58224" y="11609"/>
                  <a:pt x="34826" y="35007"/>
                  <a:pt x="34826" y="63847"/>
                </a:cubicBezTo>
                <a:cubicBezTo>
                  <a:pt x="34826" y="66749"/>
                  <a:pt x="35080" y="69615"/>
                  <a:pt x="35515" y="72372"/>
                </a:cubicBezTo>
                <a:cubicBezTo>
                  <a:pt x="14874" y="79337"/>
                  <a:pt x="0" y="98891"/>
                  <a:pt x="0" y="1218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777038" y="3738563"/>
            <a:ext cx="15537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77038" y="3955256"/>
            <a:ext cx="1530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/ Azure HIPAA-Compliant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26981" y="4264819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5" name="Text 63"/>
          <p:cNvSpPr/>
          <p:nvPr/>
        </p:nvSpPr>
        <p:spPr>
          <a:xfrm>
            <a:off x="6529388" y="4233863"/>
            <a:ext cx="18716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BAA Support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529388" y="4419600"/>
            <a:ext cx="18639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Signed Business Associate Agreements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26981" y="466725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8" name="Text 66"/>
          <p:cNvSpPr/>
          <p:nvPr/>
        </p:nvSpPr>
        <p:spPr>
          <a:xfrm>
            <a:off x="6529388" y="4636294"/>
            <a:ext cx="1395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529388" y="4822031"/>
            <a:ext cx="1387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resource allocation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26981" y="5069681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1" name="Text 69"/>
          <p:cNvSpPr/>
          <p:nvPr/>
        </p:nvSpPr>
        <p:spPr>
          <a:xfrm>
            <a:off x="6529388" y="5038725"/>
            <a:ext cx="1700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Balancing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529388" y="5224463"/>
            <a:ext cx="16924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availability and fault tolerance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26981" y="5472113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4" name="Text 72"/>
          <p:cNvSpPr/>
          <p:nvPr/>
        </p:nvSpPr>
        <p:spPr>
          <a:xfrm>
            <a:off x="6529388" y="5441156"/>
            <a:ext cx="1585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Disaster Recovery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529388" y="5626894"/>
            <a:ext cx="1578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Multi-region backup and failover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81000" y="6060281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61914" y="0"/>
                </a:moveTo>
                <a:lnTo>
                  <a:pt x="11368086" y="0"/>
                </a:lnTo>
                <a:cubicBezTo>
                  <a:pt x="11402280" y="0"/>
                  <a:pt x="11430000" y="27720"/>
                  <a:pt x="11430000" y="61914"/>
                </a:cubicBezTo>
                <a:lnTo>
                  <a:pt x="11430000" y="623886"/>
                </a:lnTo>
                <a:cubicBezTo>
                  <a:pt x="11430000" y="658080"/>
                  <a:pt x="11402280" y="685800"/>
                  <a:pt x="11368086" y="685800"/>
                </a:cubicBezTo>
                <a:lnTo>
                  <a:pt x="61914" y="685800"/>
                </a:lnTo>
                <a:cubicBezTo>
                  <a:pt x="27720" y="685800"/>
                  <a:pt x="0" y="658080"/>
                  <a:pt x="0" y="623886"/>
                </a:cubicBezTo>
                <a:lnTo>
                  <a:pt x="0" y="61914"/>
                </a:lnTo>
                <a:cubicBezTo>
                  <a:pt x="0" y="27743"/>
                  <a:pt x="27743" y="0"/>
                  <a:pt x="61914" y="0"/>
                </a:cubicBezTo>
                <a:close/>
              </a:path>
            </a:pathLst>
          </a:custGeom>
          <a:gradFill rotWithShape="1" flip="none">
            <a:gsLst>
              <a:gs pos="0">
                <a:srgbClr val="2C5F7C"/>
              </a:gs>
              <a:gs pos="100000">
                <a:srgbClr val="5A8A9F"/>
              </a:gs>
            </a:gsLst>
            <a:lin ang="0" scaled="1"/>
          </a:gradFill>
          <a:ln/>
        </p:spPr>
      </p:sp>
      <p:sp>
        <p:nvSpPr>
          <p:cNvPr id="77" name="Shape 75"/>
          <p:cNvSpPr/>
          <p:nvPr/>
        </p:nvSpPr>
        <p:spPr>
          <a:xfrm>
            <a:off x="531614" y="6282928"/>
            <a:ext cx="232172" cy="232172"/>
          </a:xfrm>
          <a:custGeom>
            <a:avLst/>
            <a:gdLst/>
            <a:ahLst/>
            <a:cxnLst/>
            <a:rect l="l" t="t" r="r" b="b"/>
            <a:pathLst>
              <a:path w="232172" h="232172">
                <a:moveTo>
                  <a:pt x="116086" y="0"/>
                </a:moveTo>
                <a:cubicBezTo>
                  <a:pt x="118172" y="0"/>
                  <a:pt x="120258" y="453"/>
                  <a:pt x="122162" y="1315"/>
                </a:cubicBezTo>
                <a:lnTo>
                  <a:pt x="207594" y="37547"/>
                </a:lnTo>
                <a:cubicBezTo>
                  <a:pt x="217570" y="41764"/>
                  <a:pt x="225007" y="51604"/>
                  <a:pt x="224962" y="63484"/>
                </a:cubicBezTo>
                <a:cubicBezTo>
                  <a:pt x="224735" y="108468"/>
                  <a:pt x="206234" y="190771"/>
                  <a:pt x="128103" y="228181"/>
                </a:cubicBezTo>
                <a:cubicBezTo>
                  <a:pt x="120530" y="231809"/>
                  <a:pt x="111733" y="231809"/>
                  <a:pt x="104160" y="228181"/>
                </a:cubicBezTo>
                <a:cubicBezTo>
                  <a:pt x="25983" y="190771"/>
                  <a:pt x="7527" y="108468"/>
                  <a:pt x="7301" y="63484"/>
                </a:cubicBezTo>
                <a:cubicBezTo>
                  <a:pt x="7255" y="51604"/>
                  <a:pt x="14692" y="41764"/>
                  <a:pt x="24668" y="37547"/>
                </a:cubicBezTo>
                <a:lnTo>
                  <a:pt x="110055" y="1315"/>
                </a:lnTo>
                <a:cubicBezTo>
                  <a:pt x="111959" y="453"/>
                  <a:pt x="114000" y="0"/>
                  <a:pt x="116086" y="0"/>
                </a:cubicBezTo>
                <a:close/>
                <a:moveTo>
                  <a:pt x="116086" y="30291"/>
                </a:moveTo>
                <a:lnTo>
                  <a:pt x="116086" y="201745"/>
                </a:lnTo>
                <a:cubicBezTo>
                  <a:pt x="178664" y="171453"/>
                  <a:pt x="195487" y="104341"/>
                  <a:pt x="195895" y="64165"/>
                </a:cubicBezTo>
                <a:lnTo>
                  <a:pt x="116086" y="30337"/>
                </a:lnTo>
                <a:lnTo>
                  <a:pt x="116086" y="3033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8" name="Text 76"/>
          <p:cNvSpPr/>
          <p:nvPr/>
        </p:nvSpPr>
        <p:spPr>
          <a:xfrm>
            <a:off x="918805" y="6184106"/>
            <a:ext cx="43064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Layer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18805" y="6431756"/>
            <a:ext cx="4291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 encryption at rest | TLS 1.3 in transit | OAuth 2.0 + OIDC authentication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942201" y="6184106"/>
            <a:ext cx="74473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28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004113" y="6462713"/>
            <a:ext cx="682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54857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b="1" spc="77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538008"/>
            <a:ext cx="11631485" cy="28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975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Security Framework &amp; HIPAA Compliance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54" y="945266"/>
            <a:ext cx="3763916" cy="2109165"/>
          </a:xfrm>
          <a:custGeom>
            <a:avLst/>
            <a:gdLst/>
            <a:ahLst/>
            <a:cxnLst/>
            <a:rect l="l" t="t" r="r" b="b"/>
            <a:pathLst>
              <a:path w="3763916" h="2109165">
                <a:moveTo>
                  <a:pt x="34295" y="0"/>
                </a:moveTo>
                <a:lnTo>
                  <a:pt x="3729620" y="0"/>
                </a:lnTo>
                <a:cubicBezTo>
                  <a:pt x="3748561" y="0"/>
                  <a:pt x="3763916" y="15355"/>
                  <a:pt x="3763916" y="34295"/>
                </a:cubicBezTo>
                <a:lnTo>
                  <a:pt x="3763916" y="2053440"/>
                </a:lnTo>
                <a:cubicBezTo>
                  <a:pt x="3763916" y="2084216"/>
                  <a:pt x="3738967" y="2109165"/>
                  <a:pt x="3708191" y="2109165"/>
                </a:cubicBezTo>
                <a:lnTo>
                  <a:pt x="55724" y="2109165"/>
                </a:lnTo>
                <a:cubicBezTo>
                  <a:pt x="24949" y="2109165"/>
                  <a:pt x="0" y="2084216"/>
                  <a:pt x="0" y="2053440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443" dist="3429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2954" y="945266"/>
            <a:ext cx="3763916" cy="34295"/>
          </a:xfrm>
          <a:custGeom>
            <a:avLst/>
            <a:gdLst/>
            <a:ahLst/>
            <a:cxnLst/>
            <a:rect l="l" t="t" r="r" b="b"/>
            <a:pathLst>
              <a:path w="3763916" h="34295">
                <a:moveTo>
                  <a:pt x="34295" y="0"/>
                </a:moveTo>
                <a:lnTo>
                  <a:pt x="3729620" y="0"/>
                </a:lnTo>
                <a:cubicBezTo>
                  <a:pt x="3748561" y="0"/>
                  <a:pt x="3763916" y="15355"/>
                  <a:pt x="3763916" y="34295"/>
                </a:cubicBezTo>
                <a:lnTo>
                  <a:pt x="376391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" name="Shape 4"/>
          <p:cNvSpPr/>
          <p:nvPr/>
        </p:nvSpPr>
        <p:spPr>
          <a:xfrm>
            <a:off x="454414" y="1073873"/>
            <a:ext cx="334380" cy="334380"/>
          </a:xfrm>
          <a:custGeom>
            <a:avLst/>
            <a:gdLst/>
            <a:ahLst/>
            <a:cxnLst/>
            <a:rect l="l" t="t" r="r" b="b"/>
            <a:pathLst>
              <a:path w="334380" h="334380">
                <a:moveTo>
                  <a:pt x="55731" y="0"/>
                </a:moveTo>
                <a:lnTo>
                  <a:pt x="278649" y="0"/>
                </a:lnTo>
                <a:cubicBezTo>
                  <a:pt x="309428" y="0"/>
                  <a:pt x="334380" y="24952"/>
                  <a:pt x="334380" y="55731"/>
                </a:cubicBezTo>
                <a:lnTo>
                  <a:pt x="334380" y="278649"/>
                </a:lnTo>
                <a:cubicBezTo>
                  <a:pt x="334380" y="309428"/>
                  <a:pt x="309428" y="334380"/>
                  <a:pt x="278649" y="334380"/>
                </a:cubicBezTo>
                <a:lnTo>
                  <a:pt x="55731" y="334380"/>
                </a:lnTo>
                <a:cubicBezTo>
                  <a:pt x="24952" y="334380"/>
                  <a:pt x="0" y="309428"/>
                  <a:pt x="0" y="278649"/>
                </a:cubicBezTo>
                <a:lnTo>
                  <a:pt x="0" y="55731"/>
                </a:lnTo>
                <a:cubicBezTo>
                  <a:pt x="0" y="24972"/>
                  <a:pt x="24972" y="0"/>
                  <a:pt x="55731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7" name="Shape 5"/>
          <p:cNvSpPr/>
          <p:nvPr/>
        </p:nvSpPr>
        <p:spPr>
          <a:xfrm>
            <a:off x="567963" y="1170329"/>
            <a:ext cx="104494" cy="139325"/>
          </a:xfrm>
          <a:custGeom>
            <a:avLst/>
            <a:gdLst/>
            <a:ahLst/>
            <a:cxnLst/>
            <a:rect l="l" t="t" r="r" b="b"/>
            <a:pathLst>
              <a:path w="104494" h="139325">
                <a:moveTo>
                  <a:pt x="34831" y="26123"/>
                </a:moveTo>
                <a:lnTo>
                  <a:pt x="34831" y="43539"/>
                </a:lnTo>
                <a:lnTo>
                  <a:pt x="69662" y="43539"/>
                </a:lnTo>
                <a:lnTo>
                  <a:pt x="69662" y="26123"/>
                </a:lnTo>
                <a:cubicBezTo>
                  <a:pt x="69662" y="16518"/>
                  <a:pt x="61853" y="8708"/>
                  <a:pt x="52247" y="8708"/>
                </a:cubicBezTo>
                <a:cubicBezTo>
                  <a:pt x="42641" y="8708"/>
                  <a:pt x="34831" y="16518"/>
                  <a:pt x="34831" y="26123"/>
                </a:cubicBezTo>
                <a:close/>
                <a:moveTo>
                  <a:pt x="17416" y="43539"/>
                </a:moveTo>
                <a:lnTo>
                  <a:pt x="17416" y="26123"/>
                </a:lnTo>
                <a:cubicBezTo>
                  <a:pt x="17416" y="6885"/>
                  <a:pt x="33008" y="-8708"/>
                  <a:pt x="52247" y="-8708"/>
                </a:cubicBezTo>
                <a:cubicBezTo>
                  <a:pt x="71486" y="-8708"/>
                  <a:pt x="87078" y="6885"/>
                  <a:pt x="87078" y="26123"/>
                </a:cubicBezTo>
                <a:lnTo>
                  <a:pt x="87078" y="43539"/>
                </a:lnTo>
                <a:cubicBezTo>
                  <a:pt x="96684" y="43539"/>
                  <a:pt x="104494" y="51349"/>
                  <a:pt x="104494" y="60955"/>
                </a:cubicBezTo>
                <a:lnTo>
                  <a:pt x="104494" y="121909"/>
                </a:lnTo>
                <a:cubicBezTo>
                  <a:pt x="104494" y="131515"/>
                  <a:pt x="96684" y="139325"/>
                  <a:pt x="87078" y="139325"/>
                </a:cubicBezTo>
                <a:lnTo>
                  <a:pt x="17416" y="139325"/>
                </a:lnTo>
                <a:cubicBezTo>
                  <a:pt x="7810" y="139325"/>
                  <a:pt x="0" y="131515"/>
                  <a:pt x="0" y="121909"/>
                </a:cubicBezTo>
                <a:lnTo>
                  <a:pt x="0" y="60955"/>
                </a:lnTo>
                <a:cubicBezTo>
                  <a:pt x="0" y="51349"/>
                  <a:pt x="7810" y="43539"/>
                  <a:pt x="17416" y="435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72388" y="1143536"/>
            <a:ext cx="945802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8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Encryption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4414" y="1491848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10143" y="1547578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Rest (AES-256)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0143" y="1742633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Database-level TDE with FIPS 140-3 validated encryption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4414" y="1993418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0143" y="2049148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Transit (TLS 1.3)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0143" y="2244203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encryption for all data transmissions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4414" y="2494987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0143" y="2550717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Field-Level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0143" y="2745772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Selective encryption for highly sensitive PHI fields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16079" y="945266"/>
            <a:ext cx="3763916" cy="2109165"/>
          </a:xfrm>
          <a:custGeom>
            <a:avLst/>
            <a:gdLst/>
            <a:ahLst/>
            <a:cxnLst/>
            <a:rect l="l" t="t" r="r" b="b"/>
            <a:pathLst>
              <a:path w="3763916" h="2109165">
                <a:moveTo>
                  <a:pt x="34295" y="0"/>
                </a:moveTo>
                <a:lnTo>
                  <a:pt x="3729620" y="0"/>
                </a:lnTo>
                <a:cubicBezTo>
                  <a:pt x="3748561" y="0"/>
                  <a:pt x="3763916" y="15355"/>
                  <a:pt x="3763916" y="34295"/>
                </a:cubicBezTo>
                <a:lnTo>
                  <a:pt x="3763916" y="2053440"/>
                </a:lnTo>
                <a:cubicBezTo>
                  <a:pt x="3763916" y="2084216"/>
                  <a:pt x="3738967" y="2109165"/>
                  <a:pt x="3708191" y="2109165"/>
                </a:cubicBezTo>
                <a:lnTo>
                  <a:pt x="55724" y="2109165"/>
                </a:lnTo>
                <a:cubicBezTo>
                  <a:pt x="24949" y="2109165"/>
                  <a:pt x="0" y="2084216"/>
                  <a:pt x="0" y="2053440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443" dist="34295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16079" y="945266"/>
            <a:ext cx="3763916" cy="34295"/>
          </a:xfrm>
          <a:custGeom>
            <a:avLst/>
            <a:gdLst/>
            <a:ahLst/>
            <a:cxnLst/>
            <a:rect l="l" t="t" r="r" b="b"/>
            <a:pathLst>
              <a:path w="3763916" h="34295">
                <a:moveTo>
                  <a:pt x="34295" y="0"/>
                </a:moveTo>
                <a:lnTo>
                  <a:pt x="3729620" y="0"/>
                </a:lnTo>
                <a:cubicBezTo>
                  <a:pt x="3748561" y="0"/>
                  <a:pt x="3763916" y="15355"/>
                  <a:pt x="3763916" y="34295"/>
                </a:cubicBezTo>
                <a:lnTo>
                  <a:pt x="376391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0" name="Shape 18"/>
          <p:cNvSpPr/>
          <p:nvPr/>
        </p:nvSpPr>
        <p:spPr>
          <a:xfrm>
            <a:off x="4327539" y="1073873"/>
            <a:ext cx="334380" cy="334380"/>
          </a:xfrm>
          <a:custGeom>
            <a:avLst/>
            <a:gdLst/>
            <a:ahLst/>
            <a:cxnLst/>
            <a:rect l="l" t="t" r="r" b="b"/>
            <a:pathLst>
              <a:path w="334380" h="334380">
                <a:moveTo>
                  <a:pt x="55731" y="0"/>
                </a:moveTo>
                <a:lnTo>
                  <a:pt x="278649" y="0"/>
                </a:lnTo>
                <a:cubicBezTo>
                  <a:pt x="309428" y="0"/>
                  <a:pt x="334380" y="24952"/>
                  <a:pt x="334380" y="55731"/>
                </a:cubicBezTo>
                <a:lnTo>
                  <a:pt x="334380" y="278649"/>
                </a:lnTo>
                <a:cubicBezTo>
                  <a:pt x="334380" y="309428"/>
                  <a:pt x="309428" y="334380"/>
                  <a:pt x="278649" y="334380"/>
                </a:cubicBezTo>
                <a:lnTo>
                  <a:pt x="55731" y="334380"/>
                </a:lnTo>
                <a:cubicBezTo>
                  <a:pt x="24952" y="334380"/>
                  <a:pt x="0" y="309428"/>
                  <a:pt x="0" y="278649"/>
                </a:cubicBezTo>
                <a:lnTo>
                  <a:pt x="0" y="55731"/>
                </a:lnTo>
                <a:cubicBezTo>
                  <a:pt x="0" y="24972"/>
                  <a:pt x="24972" y="0"/>
                  <a:pt x="55731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14965" y="1170329"/>
            <a:ext cx="156741" cy="139325"/>
          </a:xfrm>
          <a:custGeom>
            <a:avLst/>
            <a:gdLst/>
            <a:ahLst/>
            <a:cxnLst/>
            <a:rect l="l" t="t" r="r" b="b"/>
            <a:pathLst>
              <a:path w="156741" h="139325">
                <a:moveTo>
                  <a:pt x="60955" y="67485"/>
                </a:moveTo>
                <a:cubicBezTo>
                  <a:pt x="78977" y="67485"/>
                  <a:pt x="93609" y="52854"/>
                  <a:pt x="93609" y="34831"/>
                </a:cubicBezTo>
                <a:cubicBezTo>
                  <a:pt x="93609" y="16809"/>
                  <a:pt x="78977" y="2177"/>
                  <a:pt x="60955" y="2177"/>
                </a:cubicBezTo>
                <a:cubicBezTo>
                  <a:pt x="42932" y="2177"/>
                  <a:pt x="28300" y="16809"/>
                  <a:pt x="28300" y="34831"/>
                </a:cubicBezTo>
                <a:cubicBezTo>
                  <a:pt x="28300" y="52854"/>
                  <a:pt x="42932" y="67485"/>
                  <a:pt x="60955" y="67485"/>
                </a:cubicBezTo>
                <a:close/>
                <a:moveTo>
                  <a:pt x="52873" y="82724"/>
                </a:moveTo>
                <a:cubicBezTo>
                  <a:pt x="26069" y="82724"/>
                  <a:pt x="4354" y="104439"/>
                  <a:pt x="4354" y="131243"/>
                </a:cubicBezTo>
                <a:cubicBezTo>
                  <a:pt x="4354" y="135706"/>
                  <a:pt x="7973" y="139325"/>
                  <a:pt x="12436" y="139325"/>
                </a:cubicBezTo>
                <a:lnTo>
                  <a:pt x="80874" y="139325"/>
                </a:lnTo>
                <a:cubicBezTo>
                  <a:pt x="71023" y="127733"/>
                  <a:pt x="65309" y="112793"/>
                  <a:pt x="65309" y="96983"/>
                </a:cubicBezTo>
                <a:lnTo>
                  <a:pt x="65309" y="88520"/>
                </a:lnTo>
                <a:cubicBezTo>
                  <a:pt x="65309" y="86534"/>
                  <a:pt x="65581" y="84575"/>
                  <a:pt x="66098" y="82724"/>
                </a:cubicBezTo>
                <a:lnTo>
                  <a:pt x="52873" y="82724"/>
                </a:lnTo>
                <a:close/>
                <a:moveTo>
                  <a:pt x="121175" y="132930"/>
                </a:moveTo>
                <a:lnTo>
                  <a:pt x="117555" y="134644"/>
                </a:lnTo>
                <a:lnTo>
                  <a:pt x="117555" y="83459"/>
                </a:lnTo>
                <a:lnTo>
                  <a:pt x="143679" y="92167"/>
                </a:lnTo>
                <a:lnTo>
                  <a:pt x="143679" y="97500"/>
                </a:lnTo>
                <a:cubicBezTo>
                  <a:pt x="143679" y="112684"/>
                  <a:pt x="134917" y="126481"/>
                  <a:pt x="121175" y="132957"/>
                </a:cubicBezTo>
                <a:close/>
                <a:moveTo>
                  <a:pt x="114807" y="70615"/>
                </a:moveTo>
                <a:lnTo>
                  <a:pt x="84330" y="80765"/>
                </a:lnTo>
                <a:cubicBezTo>
                  <a:pt x="80765" y="81962"/>
                  <a:pt x="78370" y="85282"/>
                  <a:pt x="78370" y="89037"/>
                </a:cubicBezTo>
                <a:lnTo>
                  <a:pt x="78370" y="97500"/>
                </a:lnTo>
                <a:cubicBezTo>
                  <a:pt x="78370" y="117746"/>
                  <a:pt x="90071" y="136168"/>
                  <a:pt x="108358" y="144767"/>
                </a:cubicBezTo>
                <a:lnTo>
                  <a:pt x="113392" y="147135"/>
                </a:lnTo>
                <a:cubicBezTo>
                  <a:pt x="114698" y="147733"/>
                  <a:pt x="116113" y="148060"/>
                  <a:pt x="117528" y="148060"/>
                </a:cubicBezTo>
                <a:cubicBezTo>
                  <a:pt x="118943" y="148060"/>
                  <a:pt x="120385" y="147733"/>
                  <a:pt x="121664" y="147135"/>
                </a:cubicBezTo>
                <a:lnTo>
                  <a:pt x="126699" y="144767"/>
                </a:lnTo>
                <a:cubicBezTo>
                  <a:pt x="145039" y="136141"/>
                  <a:pt x="156741" y="117719"/>
                  <a:pt x="156741" y="97473"/>
                </a:cubicBezTo>
                <a:lnTo>
                  <a:pt x="156741" y="89010"/>
                </a:lnTo>
                <a:cubicBezTo>
                  <a:pt x="156741" y="85255"/>
                  <a:pt x="154346" y="81935"/>
                  <a:pt x="150781" y="80738"/>
                </a:cubicBezTo>
                <a:lnTo>
                  <a:pt x="120304" y="70588"/>
                </a:lnTo>
                <a:cubicBezTo>
                  <a:pt x="118508" y="69989"/>
                  <a:pt x="116576" y="69989"/>
                  <a:pt x="114807" y="70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45513" y="1143536"/>
            <a:ext cx="902932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8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27539" y="1491848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383269" y="1547578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(RBAC)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3269" y="1742633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 permissions based on job function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27539" y="1993418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383269" y="2049148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Necessary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3269" y="2244203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limited to required information only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27539" y="2494987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383269" y="2550717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 Auth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83269" y="2745772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MFA required for all user access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89204" y="945266"/>
            <a:ext cx="3763916" cy="2109165"/>
          </a:xfrm>
          <a:custGeom>
            <a:avLst/>
            <a:gdLst/>
            <a:ahLst/>
            <a:cxnLst/>
            <a:rect l="l" t="t" r="r" b="b"/>
            <a:pathLst>
              <a:path w="3763916" h="2109165">
                <a:moveTo>
                  <a:pt x="34295" y="0"/>
                </a:moveTo>
                <a:lnTo>
                  <a:pt x="3729620" y="0"/>
                </a:lnTo>
                <a:cubicBezTo>
                  <a:pt x="3748561" y="0"/>
                  <a:pt x="3763916" y="15355"/>
                  <a:pt x="3763916" y="34295"/>
                </a:cubicBezTo>
                <a:lnTo>
                  <a:pt x="3763916" y="2053440"/>
                </a:lnTo>
                <a:cubicBezTo>
                  <a:pt x="3763916" y="2084216"/>
                  <a:pt x="3738967" y="2109165"/>
                  <a:pt x="3708191" y="2109165"/>
                </a:cubicBezTo>
                <a:lnTo>
                  <a:pt x="55724" y="2109165"/>
                </a:lnTo>
                <a:cubicBezTo>
                  <a:pt x="24949" y="2109165"/>
                  <a:pt x="0" y="2084216"/>
                  <a:pt x="0" y="2053440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443" dist="34295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89204" y="945266"/>
            <a:ext cx="3763916" cy="34295"/>
          </a:xfrm>
          <a:custGeom>
            <a:avLst/>
            <a:gdLst/>
            <a:ahLst/>
            <a:cxnLst/>
            <a:rect l="l" t="t" r="r" b="b"/>
            <a:pathLst>
              <a:path w="3763916" h="34295">
                <a:moveTo>
                  <a:pt x="34295" y="0"/>
                </a:moveTo>
                <a:lnTo>
                  <a:pt x="3729620" y="0"/>
                </a:lnTo>
                <a:cubicBezTo>
                  <a:pt x="3748561" y="0"/>
                  <a:pt x="3763916" y="15355"/>
                  <a:pt x="3763916" y="34295"/>
                </a:cubicBezTo>
                <a:lnTo>
                  <a:pt x="376391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4" name="Shape 32"/>
          <p:cNvSpPr/>
          <p:nvPr/>
        </p:nvSpPr>
        <p:spPr>
          <a:xfrm>
            <a:off x="8200664" y="1073873"/>
            <a:ext cx="334380" cy="334380"/>
          </a:xfrm>
          <a:custGeom>
            <a:avLst/>
            <a:gdLst/>
            <a:ahLst/>
            <a:cxnLst/>
            <a:rect l="l" t="t" r="r" b="b"/>
            <a:pathLst>
              <a:path w="334380" h="334380">
                <a:moveTo>
                  <a:pt x="55731" y="0"/>
                </a:moveTo>
                <a:lnTo>
                  <a:pt x="278649" y="0"/>
                </a:lnTo>
                <a:cubicBezTo>
                  <a:pt x="309428" y="0"/>
                  <a:pt x="334380" y="24952"/>
                  <a:pt x="334380" y="55731"/>
                </a:cubicBezTo>
                <a:lnTo>
                  <a:pt x="334380" y="278649"/>
                </a:lnTo>
                <a:cubicBezTo>
                  <a:pt x="334380" y="309428"/>
                  <a:pt x="309428" y="334380"/>
                  <a:pt x="278649" y="334380"/>
                </a:cubicBezTo>
                <a:lnTo>
                  <a:pt x="55731" y="334380"/>
                </a:lnTo>
                <a:cubicBezTo>
                  <a:pt x="24952" y="334380"/>
                  <a:pt x="0" y="309428"/>
                  <a:pt x="0" y="278649"/>
                </a:cubicBezTo>
                <a:lnTo>
                  <a:pt x="0" y="55731"/>
                </a:lnTo>
                <a:cubicBezTo>
                  <a:pt x="0" y="24972"/>
                  <a:pt x="24972" y="0"/>
                  <a:pt x="5573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Shape 33"/>
          <p:cNvSpPr/>
          <p:nvPr/>
        </p:nvSpPr>
        <p:spPr>
          <a:xfrm>
            <a:off x="8314213" y="1170329"/>
            <a:ext cx="104494" cy="139325"/>
          </a:xfrm>
          <a:custGeom>
            <a:avLst/>
            <a:gdLst/>
            <a:ahLst/>
            <a:cxnLst/>
            <a:rect l="l" t="t" r="r" b="b"/>
            <a:pathLst>
              <a:path w="104494" h="139325">
                <a:moveTo>
                  <a:pt x="84738" y="8708"/>
                </a:moveTo>
                <a:lnTo>
                  <a:pt x="87078" y="8708"/>
                </a:lnTo>
                <a:cubicBezTo>
                  <a:pt x="96684" y="8708"/>
                  <a:pt x="104494" y="16518"/>
                  <a:pt x="104494" y="26123"/>
                </a:cubicBezTo>
                <a:lnTo>
                  <a:pt x="104494" y="121909"/>
                </a:lnTo>
                <a:cubicBezTo>
                  <a:pt x="104494" y="131515"/>
                  <a:pt x="96684" y="139325"/>
                  <a:pt x="87078" y="139325"/>
                </a:cubicBezTo>
                <a:lnTo>
                  <a:pt x="17416" y="139325"/>
                </a:lnTo>
                <a:cubicBezTo>
                  <a:pt x="7810" y="139325"/>
                  <a:pt x="0" y="131515"/>
                  <a:pt x="0" y="121909"/>
                </a:cubicBezTo>
                <a:lnTo>
                  <a:pt x="0" y="26123"/>
                </a:lnTo>
                <a:cubicBezTo>
                  <a:pt x="0" y="16518"/>
                  <a:pt x="7810" y="8708"/>
                  <a:pt x="17416" y="8708"/>
                </a:cubicBezTo>
                <a:lnTo>
                  <a:pt x="19756" y="8708"/>
                </a:lnTo>
                <a:cubicBezTo>
                  <a:pt x="22749" y="3510"/>
                  <a:pt x="28382" y="0"/>
                  <a:pt x="34831" y="0"/>
                </a:cubicBezTo>
                <a:lnTo>
                  <a:pt x="69662" y="0"/>
                </a:lnTo>
                <a:cubicBezTo>
                  <a:pt x="76112" y="0"/>
                  <a:pt x="81745" y="3510"/>
                  <a:pt x="84738" y="8708"/>
                </a:cubicBezTo>
                <a:close/>
                <a:moveTo>
                  <a:pt x="67485" y="30477"/>
                </a:moveTo>
                <a:cubicBezTo>
                  <a:pt x="71105" y="30477"/>
                  <a:pt x="74016" y="27566"/>
                  <a:pt x="74016" y="23946"/>
                </a:cubicBezTo>
                <a:cubicBezTo>
                  <a:pt x="74016" y="20327"/>
                  <a:pt x="71105" y="17416"/>
                  <a:pt x="67485" y="17416"/>
                </a:cubicBezTo>
                <a:lnTo>
                  <a:pt x="37008" y="17416"/>
                </a:lnTo>
                <a:cubicBezTo>
                  <a:pt x="33389" y="17416"/>
                  <a:pt x="30477" y="20327"/>
                  <a:pt x="30477" y="23946"/>
                </a:cubicBezTo>
                <a:cubicBezTo>
                  <a:pt x="30477" y="27566"/>
                  <a:pt x="33389" y="30477"/>
                  <a:pt x="37008" y="30477"/>
                </a:cubicBezTo>
                <a:lnTo>
                  <a:pt x="67485" y="30477"/>
                </a:lnTo>
                <a:close/>
                <a:moveTo>
                  <a:pt x="34831" y="69662"/>
                </a:moveTo>
                <a:cubicBezTo>
                  <a:pt x="34831" y="64856"/>
                  <a:pt x="30929" y="60955"/>
                  <a:pt x="26123" y="60955"/>
                </a:cubicBezTo>
                <a:cubicBezTo>
                  <a:pt x="21317" y="60955"/>
                  <a:pt x="17416" y="64856"/>
                  <a:pt x="17416" y="69662"/>
                </a:cubicBezTo>
                <a:cubicBezTo>
                  <a:pt x="17416" y="74468"/>
                  <a:pt x="21317" y="78370"/>
                  <a:pt x="26123" y="78370"/>
                </a:cubicBezTo>
                <a:cubicBezTo>
                  <a:pt x="30929" y="78370"/>
                  <a:pt x="34831" y="74468"/>
                  <a:pt x="34831" y="69662"/>
                </a:cubicBezTo>
                <a:close/>
                <a:moveTo>
                  <a:pt x="43539" y="69662"/>
                </a:moveTo>
                <a:cubicBezTo>
                  <a:pt x="43539" y="73282"/>
                  <a:pt x="46451" y="76193"/>
                  <a:pt x="50070" y="76193"/>
                </a:cubicBezTo>
                <a:lnTo>
                  <a:pt x="80547" y="76193"/>
                </a:lnTo>
                <a:cubicBezTo>
                  <a:pt x="84166" y="76193"/>
                  <a:pt x="87078" y="73282"/>
                  <a:pt x="87078" y="69662"/>
                </a:cubicBezTo>
                <a:cubicBezTo>
                  <a:pt x="87078" y="66043"/>
                  <a:pt x="84166" y="63132"/>
                  <a:pt x="80547" y="63132"/>
                </a:cubicBezTo>
                <a:lnTo>
                  <a:pt x="50070" y="63132"/>
                </a:lnTo>
                <a:cubicBezTo>
                  <a:pt x="46451" y="63132"/>
                  <a:pt x="43539" y="66043"/>
                  <a:pt x="43539" y="69662"/>
                </a:cubicBezTo>
                <a:close/>
                <a:moveTo>
                  <a:pt x="43539" y="104494"/>
                </a:moveTo>
                <a:cubicBezTo>
                  <a:pt x="43539" y="108113"/>
                  <a:pt x="46451" y="111025"/>
                  <a:pt x="50070" y="111025"/>
                </a:cubicBezTo>
                <a:lnTo>
                  <a:pt x="80547" y="111025"/>
                </a:lnTo>
                <a:cubicBezTo>
                  <a:pt x="84166" y="111025"/>
                  <a:pt x="87078" y="108113"/>
                  <a:pt x="87078" y="104494"/>
                </a:cubicBezTo>
                <a:cubicBezTo>
                  <a:pt x="87078" y="100874"/>
                  <a:pt x="84166" y="97963"/>
                  <a:pt x="80547" y="97963"/>
                </a:cubicBezTo>
                <a:lnTo>
                  <a:pt x="50070" y="97963"/>
                </a:lnTo>
                <a:cubicBezTo>
                  <a:pt x="46451" y="97963"/>
                  <a:pt x="43539" y="100874"/>
                  <a:pt x="43539" y="104494"/>
                </a:cubicBezTo>
                <a:close/>
                <a:moveTo>
                  <a:pt x="26123" y="113201"/>
                </a:moveTo>
                <a:cubicBezTo>
                  <a:pt x="30929" y="113201"/>
                  <a:pt x="34831" y="109300"/>
                  <a:pt x="34831" y="104494"/>
                </a:cubicBezTo>
                <a:cubicBezTo>
                  <a:pt x="34831" y="99688"/>
                  <a:pt x="30929" y="95786"/>
                  <a:pt x="26123" y="95786"/>
                </a:cubicBezTo>
                <a:cubicBezTo>
                  <a:pt x="21317" y="95786"/>
                  <a:pt x="17416" y="99688"/>
                  <a:pt x="17416" y="104494"/>
                </a:cubicBezTo>
                <a:cubicBezTo>
                  <a:pt x="17416" y="109300"/>
                  <a:pt x="21317" y="113201"/>
                  <a:pt x="26123" y="1132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618638" y="1143536"/>
            <a:ext cx="1108705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8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&amp; Monitoring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00664" y="1491848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256394" y="1547578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Logging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56394" y="1742633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PHI access logged with user, timestamp, action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00664" y="1993418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256394" y="2049148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6+ Year Retention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56394" y="2244203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HIPAA-compliant audit log retention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00664" y="2494987"/>
            <a:ext cx="3540996" cy="445840"/>
          </a:xfrm>
          <a:custGeom>
            <a:avLst/>
            <a:gdLst/>
            <a:ahLst/>
            <a:cxnLst/>
            <a:rect l="l" t="t" r="r" b="b"/>
            <a:pathLst>
              <a:path w="3540996" h="445840">
                <a:moveTo>
                  <a:pt x="27865" y="0"/>
                </a:moveTo>
                <a:lnTo>
                  <a:pt x="3513131" y="0"/>
                </a:lnTo>
                <a:cubicBezTo>
                  <a:pt x="3528520" y="0"/>
                  <a:pt x="3540996" y="12476"/>
                  <a:pt x="3540996" y="27865"/>
                </a:cubicBezTo>
                <a:lnTo>
                  <a:pt x="3540996" y="417975"/>
                </a:lnTo>
                <a:cubicBezTo>
                  <a:pt x="3540996" y="433364"/>
                  <a:pt x="3528520" y="445840"/>
                  <a:pt x="3513131" y="445840"/>
                </a:cubicBezTo>
                <a:lnTo>
                  <a:pt x="27865" y="445840"/>
                </a:lnTo>
                <a:cubicBezTo>
                  <a:pt x="12476" y="445840"/>
                  <a:pt x="0" y="433364"/>
                  <a:pt x="0" y="417975"/>
                </a:cubicBezTo>
                <a:lnTo>
                  <a:pt x="0" y="27865"/>
                </a:lnTo>
                <a:cubicBezTo>
                  <a:pt x="0" y="12476"/>
                  <a:pt x="12476" y="0"/>
                  <a:pt x="27865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256394" y="2550717"/>
            <a:ext cx="348526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Alerts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56394" y="2745772"/>
            <a:ext cx="3478300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anomaly detection and notifications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42954" y="3163747"/>
            <a:ext cx="5701603" cy="3695325"/>
          </a:xfrm>
          <a:custGeom>
            <a:avLst/>
            <a:gdLst/>
            <a:ahLst/>
            <a:cxnLst/>
            <a:rect l="l" t="t" r="r" b="b"/>
            <a:pathLst>
              <a:path w="5701603" h="3695325">
                <a:moveTo>
                  <a:pt x="55725" y="0"/>
                </a:moveTo>
                <a:lnTo>
                  <a:pt x="5645878" y="0"/>
                </a:lnTo>
                <a:cubicBezTo>
                  <a:pt x="5676654" y="0"/>
                  <a:pt x="5701603" y="24949"/>
                  <a:pt x="5701603" y="55725"/>
                </a:cubicBezTo>
                <a:lnTo>
                  <a:pt x="5701603" y="3639599"/>
                </a:lnTo>
                <a:cubicBezTo>
                  <a:pt x="5701603" y="3670376"/>
                  <a:pt x="5676654" y="3695325"/>
                  <a:pt x="5645878" y="3695325"/>
                </a:cubicBezTo>
                <a:lnTo>
                  <a:pt x="55725" y="3695325"/>
                </a:lnTo>
                <a:cubicBezTo>
                  <a:pt x="24949" y="3695325"/>
                  <a:pt x="0" y="3670376"/>
                  <a:pt x="0" y="3639599"/>
                </a:cubicBezTo>
                <a:lnTo>
                  <a:pt x="0" y="55725"/>
                </a:lnTo>
                <a:cubicBezTo>
                  <a:pt x="0" y="24949"/>
                  <a:pt x="24949" y="0"/>
                  <a:pt x="557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443" dist="34295" dir="540000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939" y="3329865"/>
            <a:ext cx="174156" cy="139325"/>
          </a:xfrm>
          <a:custGeom>
            <a:avLst/>
            <a:gdLst/>
            <a:ahLst/>
            <a:cxnLst/>
            <a:rect l="l" t="t" r="r" b="b"/>
            <a:pathLst>
              <a:path w="174156" h="139325">
                <a:moveTo>
                  <a:pt x="104494" y="8708"/>
                </a:moveTo>
                <a:lnTo>
                  <a:pt x="139325" y="8708"/>
                </a:lnTo>
                <a:cubicBezTo>
                  <a:pt x="144141" y="8708"/>
                  <a:pt x="148033" y="12599"/>
                  <a:pt x="148033" y="17416"/>
                </a:cubicBezTo>
                <a:cubicBezTo>
                  <a:pt x="148033" y="22232"/>
                  <a:pt x="144141" y="26123"/>
                  <a:pt x="139325" y="26123"/>
                </a:cubicBezTo>
                <a:lnTo>
                  <a:pt x="108412" y="26123"/>
                </a:lnTo>
                <a:cubicBezTo>
                  <a:pt x="106997" y="33144"/>
                  <a:pt x="102181" y="38940"/>
                  <a:pt x="95786" y="41716"/>
                </a:cubicBezTo>
                <a:lnTo>
                  <a:pt x="95786" y="121909"/>
                </a:lnTo>
                <a:lnTo>
                  <a:pt x="139325" y="121909"/>
                </a:lnTo>
                <a:cubicBezTo>
                  <a:pt x="144141" y="121909"/>
                  <a:pt x="148033" y="125801"/>
                  <a:pt x="148033" y="130617"/>
                </a:cubicBezTo>
                <a:cubicBezTo>
                  <a:pt x="148033" y="135434"/>
                  <a:pt x="144141" y="139325"/>
                  <a:pt x="139325" y="139325"/>
                </a:cubicBezTo>
                <a:lnTo>
                  <a:pt x="34831" y="139325"/>
                </a:lnTo>
                <a:cubicBezTo>
                  <a:pt x="30015" y="139325"/>
                  <a:pt x="26123" y="135434"/>
                  <a:pt x="26123" y="130617"/>
                </a:cubicBezTo>
                <a:cubicBezTo>
                  <a:pt x="26123" y="125801"/>
                  <a:pt x="30015" y="121909"/>
                  <a:pt x="34831" y="121909"/>
                </a:cubicBezTo>
                <a:lnTo>
                  <a:pt x="78370" y="121909"/>
                </a:lnTo>
                <a:lnTo>
                  <a:pt x="78370" y="41716"/>
                </a:lnTo>
                <a:cubicBezTo>
                  <a:pt x="71975" y="38913"/>
                  <a:pt x="67159" y="33117"/>
                  <a:pt x="65744" y="26123"/>
                </a:cubicBezTo>
                <a:lnTo>
                  <a:pt x="34831" y="26123"/>
                </a:lnTo>
                <a:cubicBezTo>
                  <a:pt x="30015" y="26123"/>
                  <a:pt x="26123" y="22232"/>
                  <a:pt x="26123" y="17416"/>
                </a:cubicBezTo>
                <a:cubicBezTo>
                  <a:pt x="26123" y="12599"/>
                  <a:pt x="30015" y="8708"/>
                  <a:pt x="34831" y="8708"/>
                </a:cubicBezTo>
                <a:lnTo>
                  <a:pt x="69662" y="8708"/>
                </a:lnTo>
                <a:cubicBezTo>
                  <a:pt x="73635" y="3429"/>
                  <a:pt x="79949" y="0"/>
                  <a:pt x="87078" y="0"/>
                </a:cubicBezTo>
                <a:cubicBezTo>
                  <a:pt x="94208" y="0"/>
                  <a:pt x="100521" y="3429"/>
                  <a:pt x="104494" y="8708"/>
                </a:cubicBezTo>
                <a:close/>
                <a:moveTo>
                  <a:pt x="119623" y="87078"/>
                </a:moveTo>
                <a:lnTo>
                  <a:pt x="159026" y="87078"/>
                </a:lnTo>
                <a:lnTo>
                  <a:pt x="139325" y="53281"/>
                </a:lnTo>
                <a:lnTo>
                  <a:pt x="119623" y="87078"/>
                </a:lnTo>
                <a:close/>
                <a:moveTo>
                  <a:pt x="139325" y="113201"/>
                </a:moveTo>
                <a:cubicBezTo>
                  <a:pt x="122209" y="113201"/>
                  <a:pt x="107977" y="103949"/>
                  <a:pt x="105038" y="91731"/>
                </a:cubicBezTo>
                <a:cubicBezTo>
                  <a:pt x="104330" y="88738"/>
                  <a:pt x="105310" y="85663"/>
                  <a:pt x="106861" y="82996"/>
                </a:cubicBezTo>
                <a:lnTo>
                  <a:pt x="132767" y="38586"/>
                </a:lnTo>
                <a:cubicBezTo>
                  <a:pt x="134127" y="36246"/>
                  <a:pt x="136631" y="34831"/>
                  <a:pt x="139325" y="34831"/>
                </a:cubicBezTo>
                <a:cubicBezTo>
                  <a:pt x="142019" y="34831"/>
                  <a:pt x="144522" y="36273"/>
                  <a:pt x="145883" y="38586"/>
                </a:cubicBezTo>
                <a:lnTo>
                  <a:pt x="171789" y="82996"/>
                </a:lnTo>
                <a:cubicBezTo>
                  <a:pt x="173340" y="85663"/>
                  <a:pt x="174319" y="88738"/>
                  <a:pt x="173612" y="91731"/>
                </a:cubicBezTo>
                <a:cubicBezTo>
                  <a:pt x="170673" y="103922"/>
                  <a:pt x="156441" y="113201"/>
                  <a:pt x="139325" y="113201"/>
                </a:cubicBezTo>
                <a:close/>
                <a:moveTo>
                  <a:pt x="34505" y="53281"/>
                </a:moveTo>
                <a:lnTo>
                  <a:pt x="14803" y="87078"/>
                </a:lnTo>
                <a:lnTo>
                  <a:pt x="54233" y="87078"/>
                </a:lnTo>
                <a:lnTo>
                  <a:pt x="34505" y="53281"/>
                </a:lnTo>
                <a:close/>
                <a:moveTo>
                  <a:pt x="245" y="91731"/>
                </a:moveTo>
                <a:cubicBezTo>
                  <a:pt x="-463" y="88738"/>
                  <a:pt x="517" y="85663"/>
                  <a:pt x="2068" y="82996"/>
                </a:cubicBezTo>
                <a:lnTo>
                  <a:pt x="27974" y="38586"/>
                </a:lnTo>
                <a:cubicBezTo>
                  <a:pt x="29334" y="36246"/>
                  <a:pt x="31838" y="34831"/>
                  <a:pt x="34532" y="34831"/>
                </a:cubicBezTo>
                <a:cubicBezTo>
                  <a:pt x="37226" y="34831"/>
                  <a:pt x="39729" y="36273"/>
                  <a:pt x="41090" y="38586"/>
                </a:cubicBezTo>
                <a:lnTo>
                  <a:pt x="66996" y="82996"/>
                </a:lnTo>
                <a:cubicBezTo>
                  <a:pt x="68547" y="85663"/>
                  <a:pt x="69526" y="88738"/>
                  <a:pt x="68819" y="91731"/>
                </a:cubicBezTo>
                <a:cubicBezTo>
                  <a:pt x="65880" y="103922"/>
                  <a:pt x="51648" y="113201"/>
                  <a:pt x="34532" y="113201"/>
                </a:cubicBezTo>
                <a:cubicBezTo>
                  <a:pt x="17416" y="113201"/>
                  <a:pt x="3184" y="103949"/>
                  <a:pt x="245" y="917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653755" y="3303072"/>
            <a:ext cx="5316852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HIPAA Security Rule Compliance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2278" y="3609586"/>
            <a:ext cx="5418667" cy="420118"/>
          </a:xfrm>
          <a:custGeom>
            <a:avLst/>
            <a:gdLst/>
            <a:ahLst/>
            <a:cxnLst/>
            <a:rect l="l" t="t" r="r" b="b"/>
            <a:pathLst>
              <a:path w="5418667" h="420118">
                <a:moveTo>
                  <a:pt x="55729" y="0"/>
                </a:moveTo>
                <a:lnTo>
                  <a:pt x="5362938" y="0"/>
                </a:lnTo>
                <a:cubicBezTo>
                  <a:pt x="5393716" y="0"/>
                  <a:pt x="5418667" y="24951"/>
                  <a:pt x="5418667" y="55729"/>
                </a:cubicBezTo>
                <a:lnTo>
                  <a:pt x="5418667" y="364389"/>
                </a:lnTo>
                <a:cubicBezTo>
                  <a:pt x="5418667" y="395168"/>
                  <a:pt x="5393716" y="420118"/>
                  <a:pt x="5362938" y="420118"/>
                </a:cubicBezTo>
                <a:lnTo>
                  <a:pt x="55729" y="420118"/>
                </a:lnTo>
                <a:cubicBezTo>
                  <a:pt x="24951" y="420118"/>
                  <a:pt x="0" y="395168"/>
                  <a:pt x="0" y="364389"/>
                </a:cubicBezTo>
                <a:lnTo>
                  <a:pt x="0" y="55729"/>
                </a:lnTo>
                <a:cubicBezTo>
                  <a:pt x="0" y="24971"/>
                  <a:pt x="24971" y="0"/>
                  <a:pt x="55729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38008" y="3665316"/>
            <a:ext cx="222920" cy="222920"/>
          </a:xfrm>
          <a:custGeom>
            <a:avLst/>
            <a:gdLst/>
            <a:ahLst/>
            <a:cxnLst/>
            <a:rect l="l" t="t" r="r" b="b"/>
            <a:pathLst>
              <a:path w="222920" h="222920">
                <a:moveTo>
                  <a:pt x="111460" y="0"/>
                </a:moveTo>
                <a:lnTo>
                  <a:pt x="111460" y="0"/>
                </a:lnTo>
                <a:cubicBezTo>
                  <a:pt x="173018" y="0"/>
                  <a:pt x="222920" y="49902"/>
                  <a:pt x="222920" y="111460"/>
                </a:cubicBezTo>
                <a:lnTo>
                  <a:pt x="222920" y="111460"/>
                </a:lnTo>
                <a:cubicBezTo>
                  <a:pt x="222920" y="173018"/>
                  <a:pt x="173018" y="222920"/>
                  <a:pt x="111460" y="222920"/>
                </a:cubicBezTo>
                <a:lnTo>
                  <a:pt x="111460" y="222920"/>
                </a:lnTo>
                <a:cubicBezTo>
                  <a:pt x="49902" y="222920"/>
                  <a:pt x="0" y="173018"/>
                  <a:pt x="0" y="111460"/>
                </a:cubicBezTo>
                <a:lnTo>
                  <a:pt x="0" y="111460"/>
                </a:lnTo>
                <a:cubicBezTo>
                  <a:pt x="0" y="49902"/>
                  <a:pt x="49902" y="0"/>
                  <a:pt x="11146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51" name="Text 49"/>
          <p:cNvSpPr/>
          <p:nvPr/>
        </p:nvSpPr>
        <p:spPr>
          <a:xfrm>
            <a:off x="513627" y="3665316"/>
            <a:ext cx="271684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4523" y="3665316"/>
            <a:ext cx="228492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164.312(a) - Access Control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4523" y="3832506"/>
            <a:ext cx="2277962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user IDs, emergency access, automatic logoff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82278" y="4083291"/>
            <a:ext cx="5418667" cy="420118"/>
          </a:xfrm>
          <a:custGeom>
            <a:avLst/>
            <a:gdLst/>
            <a:ahLst/>
            <a:cxnLst/>
            <a:rect l="l" t="t" r="r" b="b"/>
            <a:pathLst>
              <a:path w="5418667" h="420118">
                <a:moveTo>
                  <a:pt x="55729" y="0"/>
                </a:moveTo>
                <a:lnTo>
                  <a:pt x="5362938" y="0"/>
                </a:lnTo>
                <a:cubicBezTo>
                  <a:pt x="5393716" y="0"/>
                  <a:pt x="5418667" y="24951"/>
                  <a:pt x="5418667" y="55729"/>
                </a:cubicBezTo>
                <a:lnTo>
                  <a:pt x="5418667" y="364389"/>
                </a:lnTo>
                <a:cubicBezTo>
                  <a:pt x="5418667" y="395168"/>
                  <a:pt x="5393716" y="420118"/>
                  <a:pt x="5362938" y="420118"/>
                </a:cubicBezTo>
                <a:lnTo>
                  <a:pt x="55729" y="420118"/>
                </a:lnTo>
                <a:cubicBezTo>
                  <a:pt x="24951" y="420118"/>
                  <a:pt x="0" y="395168"/>
                  <a:pt x="0" y="364389"/>
                </a:cubicBezTo>
                <a:lnTo>
                  <a:pt x="0" y="55729"/>
                </a:lnTo>
                <a:cubicBezTo>
                  <a:pt x="0" y="24971"/>
                  <a:pt x="24971" y="0"/>
                  <a:pt x="55729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38008" y="4139021"/>
            <a:ext cx="222920" cy="222920"/>
          </a:xfrm>
          <a:custGeom>
            <a:avLst/>
            <a:gdLst/>
            <a:ahLst/>
            <a:cxnLst/>
            <a:rect l="l" t="t" r="r" b="b"/>
            <a:pathLst>
              <a:path w="222920" h="222920">
                <a:moveTo>
                  <a:pt x="111460" y="0"/>
                </a:moveTo>
                <a:lnTo>
                  <a:pt x="111460" y="0"/>
                </a:lnTo>
                <a:cubicBezTo>
                  <a:pt x="173018" y="0"/>
                  <a:pt x="222920" y="49902"/>
                  <a:pt x="222920" y="111460"/>
                </a:cubicBezTo>
                <a:lnTo>
                  <a:pt x="222920" y="111460"/>
                </a:lnTo>
                <a:cubicBezTo>
                  <a:pt x="222920" y="173018"/>
                  <a:pt x="173018" y="222920"/>
                  <a:pt x="111460" y="222920"/>
                </a:cubicBezTo>
                <a:lnTo>
                  <a:pt x="111460" y="222920"/>
                </a:lnTo>
                <a:cubicBezTo>
                  <a:pt x="49902" y="222920"/>
                  <a:pt x="0" y="173018"/>
                  <a:pt x="0" y="111460"/>
                </a:cubicBezTo>
                <a:lnTo>
                  <a:pt x="0" y="111460"/>
                </a:lnTo>
                <a:cubicBezTo>
                  <a:pt x="0" y="49902"/>
                  <a:pt x="49902" y="0"/>
                  <a:pt x="11146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56" name="Text 54"/>
          <p:cNvSpPr/>
          <p:nvPr/>
        </p:nvSpPr>
        <p:spPr>
          <a:xfrm>
            <a:off x="513627" y="4139021"/>
            <a:ext cx="271684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§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4523" y="4139021"/>
            <a:ext cx="2139173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164.312(b) - Audit Controls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4523" y="4306211"/>
            <a:ext cx="2132207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software, and procedural mechanisms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82278" y="4556996"/>
            <a:ext cx="5418667" cy="420118"/>
          </a:xfrm>
          <a:custGeom>
            <a:avLst/>
            <a:gdLst/>
            <a:ahLst/>
            <a:cxnLst/>
            <a:rect l="l" t="t" r="r" b="b"/>
            <a:pathLst>
              <a:path w="5418667" h="420118">
                <a:moveTo>
                  <a:pt x="55729" y="0"/>
                </a:moveTo>
                <a:lnTo>
                  <a:pt x="5362938" y="0"/>
                </a:lnTo>
                <a:cubicBezTo>
                  <a:pt x="5393716" y="0"/>
                  <a:pt x="5418667" y="24951"/>
                  <a:pt x="5418667" y="55729"/>
                </a:cubicBezTo>
                <a:lnTo>
                  <a:pt x="5418667" y="364389"/>
                </a:lnTo>
                <a:cubicBezTo>
                  <a:pt x="5418667" y="395168"/>
                  <a:pt x="5393716" y="420118"/>
                  <a:pt x="5362938" y="420118"/>
                </a:cubicBezTo>
                <a:lnTo>
                  <a:pt x="55729" y="420118"/>
                </a:lnTo>
                <a:cubicBezTo>
                  <a:pt x="24951" y="420118"/>
                  <a:pt x="0" y="395168"/>
                  <a:pt x="0" y="364389"/>
                </a:cubicBezTo>
                <a:lnTo>
                  <a:pt x="0" y="55729"/>
                </a:lnTo>
                <a:cubicBezTo>
                  <a:pt x="0" y="24971"/>
                  <a:pt x="24971" y="0"/>
                  <a:pt x="55729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38008" y="4612726"/>
            <a:ext cx="222920" cy="222920"/>
          </a:xfrm>
          <a:custGeom>
            <a:avLst/>
            <a:gdLst/>
            <a:ahLst/>
            <a:cxnLst/>
            <a:rect l="l" t="t" r="r" b="b"/>
            <a:pathLst>
              <a:path w="222920" h="222920">
                <a:moveTo>
                  <a:pt x="111460" y="0"/>
                </a:moveTo>
                <a:lnTo>
                  <a:pt x="111460" y="0"/>
                </a:lnTo>
                <a:cubicBezTo>
                  <a:pt x="173018" y="0"/>
                  <a:pt x="222920" y="49902"/>
                  <a:pt x="222920" y="111460"/>
                </a:cubicBezTo>
                <a:lnTo>
                  <a:pt x="222920" y="111460"/>
                </a:lnTo>
                <a:cubicBezTo>
                  <a:pt x="222920" y="173018"/>
                  <a:pt x="173018" y="222920"/>
                  <a:pt x="111460" y="222920"/>
                </a:cubicBezTo>
                <a:lnTo>
                  <a:pt x="111460" y="222920"/>
                </a:lnTo>
                <a:cubicBezTo>
                  <a:pt x="49902" y="222920"/>
                  <a:pt x="0" y="173018"/>
                  <a:pt x="0" y="111460"/>
                </a:cubicBezTo>
                <a:lnTo>
                  <a:pt x="0" y="111460"/>
                </a:lnTo>
                <a:cubicBezTo>
                  <a:pt x="0" y="49902"/>
                  <a:pt x="49902" y="0"/>
                  <a:pt x="11146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1" name="Text 59"/>
          <p:cNvSpPr/>
          <p:nvPr/>
        </p:nvSpPr>
        <p:spPr>
          <a:xfrm>
            <a:off x="513627" y="4612726"/>
            <a:ext cx="271684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§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4523" y="4612726"/>
            <a:ext cx="182194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164.312(c) - Integrity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4523" y="4779916"/>
            <a:ext cx="181497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Mechanisms to authenticate ePHI integrity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82278" y="5030700"/>
            <a:ext cx="5418667" cy="420118"/>
          </a:xfrm>
          <a:custGeom>
            <a:avLst/>
            <a:gdLst/>
            <a:ahLst/>
            <a:cxnLst/>
            <a:rect l="l" t="t" r="r" b="b"/>
            <a:pathLst>
              <a:path w="5418667" h="420118">
                <a:moveTo>
                  <a:pt x="55729" y="0"/>
                </a:moveTo>
                <a:lnTo>
                  <a:pt x="5362938" y="0"/>
                </a:lnTo>
                <a:cubicBezTo>
                  <a:pt x="5393716" y="0"/>
                  <a:pt x="5418667" y="24951"/>
                  <a:pt x="5418667" y="55729"/>
                </a:cubicBezTo>
                <a:lnTo>
                  <a:pt x="5418667" y="364389"/>
                </a:lnTo>
                <a:cubicBezTo>
                  <a:pt x="5418667" y="395168"/>
                  <a:pt x="5393716" y="420118"/>
                  <a:pt x="5362938" y="420118"/>
                </a:cubicBezTo>
                <a:lnTo>
                  <a:pt x="55729" y="420118"/>
                </a:lnTo>
                <a:cubicBezTo>
                  <a:pt x="24951" y="420118"/>
                  <a:pt x="0" y="395168"/>
                  <a:pt x="0" y="364389"/>
                </a:cubicBezTo>
                <a:lnTo>
                  <a:pt x="0" y="55729"/>
                </a:lnTo>
                <a:cubicBezTo>
                  <a:pt x="0" y="24971"/>
                  <a:pt x="24971" y="0"/>
                  <a:pt x="55729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538008" y="5086430"/>
            <a:ext cx="222920" cy="222920"/>
          </a:xfrm>
          <a:custGeom>
            <a:avLst/>
            <a:gdLst/>
            <a:ahLst/>
            <a:cxnLst/>
            <a:rect l="l" t="t" r="r" b="b"/>
            <a:pathLst>
              <a:path w="222920" h="222920">
                <a:moveTo>
                  <a:pt x="111460" y="0"/>
                </a:moveTo>
                <a:lnTo>
                  <a:pt x="111460" y="0"/>
                </a:lnTo>
                <a:cubicBezTo>
                  <a:pt x="173018" y="0"/>
                  <a:pt x="222920" y="49902"/>
                  <a:pt x="222920" y="111460"/>
                </a:cubicBezTo>
                <a:lnTo>
                  <a:pt x="222920" y="111460"/>
                </a:lnTo>
                <a:cubicBezTo>
                  <a:pt x="222920" y="173018"/>
                  <a:pt x="173018" y="222920"/>
                  <a:pt x="111460" y="222920"/>
                </a:cubicBezTo>
                <a:lnTo>
                  <a:pt x="111460" y="222920"/>
                </a:lnTo>
                <a:cubicBezTo>
                  <a:pt x="49902" y="222920"/>
                  <a:pt x="0" y="173018"/>
                  <a:pt x="0" y="111460"/>
                </a:cubicBezTo>
                <a:lnTo>
                  <a:pt x="0" y="111460"/>
                </a:lnTo>
                <a:cubicBezTo>
                  <a:pt x="0" y="49902"/>
                  <a:pt x="49902" y="0"/>
                  <a:pt x="11146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6" name="Text 64"/>
          <p:cNvSpPr/>
          <p:nvPr/>
        </p:nvSpPr>
        <p:spPr>
          <a:xfrm>
            <a:off x="513627" y="5086430"/>
            <a:ext cx="271684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§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44523" y="5086430"/>
            <a:ext cx="167618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164.312(e) - Transmission Security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44523" y="5253620"/>
            <a:ext cx="1669219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Integrity controls and encryption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52588" y="3163747"/>
            <a:ext cx="5701603" cy="2186329"/>
          </a:xfrm>
          <a:custGeom>
            <a:avLst/>
            <a:gdLst/>
            <a:ahLst/>
            <a:cxnLst/>
            <a:rect l="l" t="t" r="r" b="b"/>
            <a:pathLst>
              <a:path w="5701603" h="2186329">
                <a:moveTo>
                  <a:pt x="55730" y="0"/>
                </a:moveTo>
                <a:lnTo>
                  <a:pt x="5645874" y="0"/>
                </a:lnTo>
                <a:cubicBezTo>
                  <a:pt x="5676652" y="0"/>
                  <a:pt x="5701603" y="24951"/>
                  <a:pt x="5701603" y="55730"/>
                </a:cubicBezTo>
                <a:lnTo>
                  <a:pt x="5701603" y="2130600"/>
                </a:lnTo>
                <a:cubicBezTo>
                  <a:pt x="5701603" y="2161378"/>
                  <a:pt x="5676652" y="2186329"/>
                  <a:pt x="5645874" y="2186329"/>
                </a:cubicBezTo>
                <a:lnTo>
                  <a:pt x="55730" y="2186329"/>
                </a:lnTo>
                <a:cubicBezTo>
                  <a:pt x="24951" y="2186329"/>
                  <a:pt x="0" y="2161378"/>
                  <a:pt x="0" y="2130600"/>
                </a:cubicBezTo>
                <a:lnTo>
                  <a:pt x="0" y="55730"/>
                </a:lnTo>
                <a:cubicBezTo>
                  <a:pt x="0" y="24951"/>
                  <a:pt x="24951" y="0"/>
                  <a:pt x="55730" y="0"/>
                </a:cubicBezTo>
                <a:close/>
              </a:path>
            </a:pathLst>
          </a:custGeom>
          <a:gradFill rotWithShape="1" flip="none">
            <a:gsLst>
              <a:gs pos="0">
                <a:srgbClr val="2C5F7C"/>
              </a:gs>
              <a:gs pos="100000">
                <a:srgbClr val="5A8A9F"/>
              </a:gs>
            </a:gsLst>
            <a:lin ang="2700000" scaled="1"/>
          </a:gradFill>
          <a:ln/>
          <a:effectLst>
            <a:outerShdw sx="100000" sy="100000" kx="0" ky="0" algn="bl" rotWithShape="0" blurRad="128608" dist="85738" dir="5400000">
              <a:srgbClr val="000000">
                <a:alpha val="10196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307988" y="3329865"/>
            <a:ext cx="139325" cy="139325"/>
          </a:xfrm>
          <a:custGeom>
            <a:avLst/>
            <a:gdLst/>
            <a:ahLst/>
            <a:cxnLst/>
            <a:rect l="l" t="t" r="r" b="b"/>
            <a:pathLst>
              <a:path w="139325" h="139325">
                <a:moveTo>
                  <a:pt x="69662" y="0"/>
                </a:moveTo>
                <a:cubicBezTo>
                  <a:pt x="73663" y="0"/>
                  <a:pt x="77336" y="2204"/>
                  <a:pt x="79241" y="5714"/>
                </a:cubicBezTo>
                <a:lnTo>
                  <a:pt x="138019" y="114562"/>
                </a:lnTo>
                <a:cubicBezTo>
                  <a:pt x="139842" y="117936"/>
                  <a:pt x="139760" y="122018"/>
                  <a:pt x="137801" y="125311"/>
                </a:cubicBezTo>
                <a:cubicBezTo>
                  <a:pt x="135842" y="128603"/>
                  <a:pt x="132277" y="130617"/>
                  <a:pt x="128440" y="130617"/>
                </a:cubicBezTo>
                <a:lnTo>
                  <a:pt x="10885" y="130617"/>
                </a:lnTo>
                <a:cubicBezTo>
                  <a:pt x="7048" y="130617"/>
                  <a:pt x="3510" y="128603"/>
                  <a:pt x="1524" y="125311"/>
                </a:cubicBezTo>
                <a:cubicBezTo>
                  <a:pt x="-463" y="122018"/>
                  <a:pt x="-517" y="117936"/>
                  <a:pt x="1306" y="114562"/>
                </a:cubicBezTo>
                <a:lnTo>
                  <a:pt x="60084" y="5714"/>
                </a:lnTo>
                <a:cubicBezTo>
                  <a:pt x="61989" y="2204"/>
                  <a:pt x="65662" y="0"/>
                  <a:pt x="69662" y="0"/>
                </a:cubicBezTo>
                <a:close/>
                <a:moveTo>
                  <a:pt x="69662" y="45716"/>
                </a:moveTo>
                <a:cubicBezTo>
                  <a:pt x="66043" y="45716"/>
                  <a:pt x="63132" y="48628"/>
                  <a:pt x="63132" y="52247"/>
                </a:cubicBezTo>
                <a:lnTo>
                  <a:pt x="63132" y="82724"/>
                </a:lnTo>
                <a:cubicBezTo>
                  <a:pt x="63132" y="86343"/>
                  <a:pt x="66043" y="89255"/>
                  <a:pt x="69662" y="89255"/>
                </a:cubicBezTo>
                <a:cubicBezTo>
                  <a:pt x="73282" y="89255"/>
                  <a:pt x="76193" y="86343"/>
                  <a:pt x="76193" y="82724"/>
                </a:cubicBezTo>
                <a:lnTo>
                  <a:pt x="76193" y="52247"/>
                </a:lnTo>
                <a:cubicBezTo>
                  <a:pt x="76193" y="48628"/>
                  <a:pt x="73282" y="45716"/>
                  <a:pt x="69662" y="45716"/>
                </a:cubicBezTo>
                <a:close/>
                <a:moveTo>
                  <a:pt x="76928" y="104494"/>
                </a:moveTo>
                <a:cubicBezTo>
                  <a:pt x="77093" y="101797"/>
                  <a:pt x="75748" y="99231"/>
                  <a:pt x="73436" y="97832"/>
                </a:cubicBezTo>
                <a:cubicBezTo>
                  <a:pt x="71125" y="96434"/>
                  <a:pt x="68228" y="96434"/>
                  <a:pt x="65916" y="97832"/>
                </a:cubicBezTo>
                <a:cubicBezTo>
                  <a:pt x="63604" y="99231"/>
                  <a:pt x="62259" y="101797"/>
                  <a:pt x="62424" y="104494"/>
                </a:cubicBezTo>
                <a:cubicBezTo>
                  <a:pt x="62259" y="107191"/>
                  <a:pt x="63604" y="109756"/>
                  <a:pt x="65916" y="111155"/>
                </a:cubicBezTo>
                <a:cubicBezTo>
                  <a:pt x="68228" y="112553"/>
                  <a:pt x="71125" y="112553"/>
                  <a:pt x="73436" y="111155"/>
                </a:cubicBezTo>
                <a:cubicBezTo>
                  <a:pt x="75748" y="109756"/>
                  <a:pt x="77093" y="107191"/>
                  <a:pt x="76928" y="10449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1" name="Text 69"/>
          <p:cNvSpPr/>
          <p:nvPr/>
        </p:nvSpPr>
        <p:spPr>
          <a:xfrm>
            <a:off x="6463389" y="3303072"/>
            <a:ext cx="5316852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Breach Notification Safe Harbor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291913" y="3581722"/>
            <a:ext cx="5474397" cy="54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Implementing </a:t>
            </a:r>
            <a:pPr>
              <a:lnSpc>
                <a:spcPct val="140000"/>
              </a:lnSpc>
            </a:pPr>
            <a:r>
              <a:rPr lang="en-US" sz="87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 encryption</a:t>
            </a:r>
            <a:pPr>
              <a:lnSpc>
                <a:spcPct val="140000"/>
              </a:lnSpc>
            </a:pPr>
            <a:r>
              <a:rPr lang="en-US" sz="87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proper key management qualifies for HIPAA breach notification safe harbor. If encrypted PHI is compromised, organizations are not required to report breaches if encryption keys remain secure.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291913" y="4208684"/>
            <a:ext cx="5418667" cy="1003139"/>
          </a:xfrm>
          <a:custGeom>
            <a:avLst/>
            <a:gdLst/>
            <a:ahLst/>
            <a:cxnLst/>
            <a:rect l="l" t="t" r="r" b="b"/>
            <a:pathLst>
              <a:path w="5418667" h="1003139">
                <a:moveTo>
                  <a:pt x="55734" y="0"/>
                </a:moveTo>
                <a:lnTo>
                  <a:pt x="5362932" y="0"/>
                </a:lnTo>
                <a:cubicBezTo>
                  <a:pt x="5393714" y="0"/>
                  <a:pt x="5418667" y="24953"/>
                  <a:pt x="5418667" y="55734"/>
                </a:cubicBezTo>
                <a:lnTo>
                  <a:pt x="5418667" y="947405"/>
                </a:lnTo>
                <a:cubicBezTo>
                  <a:pt x="5418667" y="978186"/>
                  <a:pt x="5393714" y="1003139"/>
                  <a:pt x="5362932" y="1003139"/>
                </a:cubicBezTo>
                <a:lnTo>
                  <a:pt x="55734" y="1003139"/>
                </a:lnTo>
                <a:cubicBezTo>
                  <a:pt x="24953" y="1003139"/>
                  <a:pt x="0" y="978186"/>
                  <a:pt x="0" y="947405"/>
                </a:cubicBezTo>
                <a:lnTo>
                  <a:pt x="0" y="55734"/>
                </a:lnTo>
                <a:cubicBezTo>
                  <a:pt x="0" y="24974"/>
                  <a:pt x="24974" y="0"/>
                  <a:pt x="5573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6375507" y="4292278"/>
            <a:ext cx="5304527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Management Best Practices: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375507" y="4487333"/>
            <a:ext cx="5304527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HSM (Hardware Security Module) storage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375507" y="4654523"/>
            <a:ext cx="5304527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Regular key rotation (90-day cycle)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75507" y="4821713"/>
            <a:ext cx="5304527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Separate key and data storage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75507" y="4988903"/>
            <a:ext cx="5304527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6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Access controls on key management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52588" y="5462608"/>
            <a:ext cx="5701603" cy="1397536"/>
          </a:xfrm>
          <a:custGeom>
            <a:avLst/>
            <a:gdLst/>
            <a:ahLst/>
            <a:cxnLst/>
            <a:rect l="l" t="t" r="r" b="b"/>
            <a:pathLst>
              <a:path w="5701603" h="1397536">
                <a:moveTo>
                  <a:pt x="55734" y="0"/>
                </a:moveTo>
                <a:lnTo>
                  <a:pt x="5645870" y="0"/>
                </a:lnTo>
                <a:cubicBezTo>
                  <a:pt x="5676651" y="0"/>
                  <a:pt x="5701603" y="24953"/>
                  <a:pt x="5701603" y="55734"/>
                </a:cubicBezTo>
                <a:lnTo>
                  <a:pt x="5701603" y="1341802"/>
                </a:lnTo>
                <a:cubicBezTo>
                  <a:pt x="5701603" y="1372583"/>
                  <a:pt x="5676651" y="1397536"/>
                  <a:pt x="5645870" y="1397536"/>
                </a:cubicBezTo>
                <a:lnTo>
                  <a:pt x="55734" y="1397536"/>
                </a:lnTo>
                <a:cubicBezTo>
                  <a:pt x="24953" y="1397536"/>
                  <a:pt x="0" y="1372583"/>
                  <a:pt x="0" y="1341802"/>
                </a:cubicBezTo>
                <a:lnTo>
                  <a:pt x="0" y="55734"/>
                </a:lnTo>
                <a:cubicBezTo>
                  <a:pt x="0" y="24973"/>
                  <a:pt x="24973" y="0"/>
                  <a:pt x="557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443" dist="34295" dir="5400000">
              <a:srgbClr val="000000">
                <a:alpha val="10196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291913" y="5601932"/>
            <a:ext cx="5481363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8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Retention &amp; Backup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04773" y="5908447"/>
            <a:ext cx="111460" cy="111460"/>
          </a:xfrm>
          <a:custGeom>
            <a:avLst/>
            <a:gdLst/>
            <a:ahLst/>
            <a:cxnLst/>
            <a:rect l="l" t="t" r="r" b="b"/>
            <a:pathLst>
              <a:path w="111460" h="111460">
                <a:moveTo>
                  <a:pt x="0" y="13932"/>
                </a:moveTo>
                <a:cubicBezTo>
                  <a:pt x="0" y="10079"/>
                  <a:pt x="3113" y="6966"/>
                  <a:pt x="6966" y="6966"/>
                </a:cubicBezTo>
                <a:lnTo>
                  <a:pt x="104494" y="6966"/>
                </a:lnTo>
                <a:cubicBezTo>
                  <a:pt x="108347" y="6966"/>
                  <a:pt x="111460" y="10079"/>
                  <a:pt x="111460" y="13932"/>
                </a:cubicBezTo>
                <a:lnTo>
                  <a:pt x="111460" y="20899"/>
                </a:lnTo>
                <a:cubicBezTo>
                  <a:pt x="111460" y="24752"/>
                  <a:pt x="108347" y="27865"/>
                  <a:pt x="104494" y="27865"/>
                </a:cubicBezTo>
                <a:lnTo>
                  <a:pt x="6966" y="27865"/>
                </a:lnTo>
                <a:cubicBezTo>
                  <a:pt x="3113" y="27865"/>
                  <a:pt x="0" y="24752"/>
                  <a:pt x="0" y="20899"/>
                </a:cubicBezTo>
                <a:lnTo>
                  <a:pt x="0" y="13932"/>
                </a:lnTo>
                <a:close/>
                <a:moveTo>
                  <a:pt x="6966" y="38314"/>
                </a:moveTo>
                <a:lnTo>
                  <a:pt x="104494" y="38314"/>
                </a:lnTo>
                <a:lnTo>
                  <a:pt x="104494" y="90561"/>
                </a:lnTo>
                <a:cubicBezTo>
                  <a:pt x="104494" y="98246"/>
                  <a:pt x="98246" y="104494"/>
                  <a:pt x="90561" y="104494"/>
                </a:cubicBezTo>
                <a:lnTo>
                  <a:pt x="20899" y="104494"/>
                </a:lnTo>
                <a:cubicBezTo>
                  <a:pt x="13214" y="104494"/>
                  <a:pt x="6966" y="98246"/>
                  <a:pt x="6966" y="90561"/>
                </a:cubicBezTo>
                <a:lnTo>
                  <a:pt x="6966" y="38314"/>
                </a:lnTo>
                <a:close/>
                <a:moveTo>
                  <a:pt x="40056" y="52247"/>
                </a:moveTo>
                <a:cubicBezTo>
                  <a:pt x="37161" y="52247"/>
                  <a:pt x="34831" y="54576"/>
                  <a:pt x="34831" y="57472"/>
                </a:cubicBezTo>
                <a:cubicBezTo>
                  <a:pt x="34831" y="60367"/>
                  <a:pt x="37161" y="62696"/>
                  <a:pt x="40056" y="62696"/>
                </a:cubicBezTo>
                <a:lnTo>
                  <a:pt x="71404" y="62696"/>
                </a:lnTo>
                <a:cubicBezTo>
                  <a:pt x="74299" y="62696"/>
                  <a:pt x="76629" y="60367"/>
                  <a:pt x="76629" y="57472"/>
                </a:cubicBezTo>
                <a:cubicBezTo>
                  <a:pt x="76629" y="54576"/>
                  <a:pt x="74299" y="52247"/>
                  <a:pt x="71404" y="52247"/>
                </a:cubicBezTo>
                <a:lnTo>
                  <a:pt x="40056" y="5224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2" name="Text 80"/>
          <p:cNvSpPr/>
          <p:nvPr/>
        </p:nvSpPr>
        <p:spPr>
          <a:xfrm>
            <a:off x="6486967" y="5880582"/>
            <a:ext cx="177907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6+ Years:</a:t>
            </a:r>
            <a:pPr>
              <a:lnSpc>
                <a:spcPct val="130000"/>
              </a:lnSpc>
            </a:pPr>
            <a:r>
              <a:rPr lang="en-US" sz="878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HIPAA minimum retention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11740" y="6131367"/>
            <a:ext cx="97527" cy="111460"/>
          </a:xfrm>
          <a:custGeom>
            <a:avLst/>
            <a:gdLst/>
            <a:ahLst/>
            <a:cxnLst/>
            <a:rect l="l" t="t" r="r" b="b"/>
            <a:pathLst>
              <a:path w="97527" h="111460">
                <a:moveTo>
                  <a:pt x="41797" y="0"/>
                </a:moveTo>
                <a:cubicBezTo>
                  <a:pt x="34113" y="0"/>
                  <a:pt x="27865" y="6248"/>
                  <a:pt x="27865" y="13932"/>
                </a:cubicBezTo>
                <a:lnTo>
                  <a:pt x="27865" y="69662"/>
                </a:lnTo>
                <a:cubicBezTo>
                  <a:pt x="27865" y="77347"/>
                  <a:pt x="34113" y="83595"/>
                  <a:pt x="41797" y="83595"/>
                </a:cubicBezTo>
                <a:lnTo>
                  <a:pt x="83595" y="83595"/>
                </a:lnTo>
                <a:cubicBezTo>
                  <a:pt x="91280" y="83595"/>
                  <a:pt x="97527" y="77347"/>
                  <a:pt x="97527" y="69662"/>
                </a:cubicBezTo>
                <a:lnTo>
                  <a:pt x="97527" y="25993"/>
                </a:lnTo>
                <a:cubicBezTo>
                  <a:pt x="97527" y="22205"/>
                  <a:pt x="95982" y="18569"/>
                  <a:pt x="93239" y="15935"/>
                </a:cubicBezTo>
                <a:lnTo>
                  <a:pt x="80678" y="3875"/>
                </a:lnTo>
                <a:cubicBezTo>
                  <a:pt x="78087" y="1393"/>
                  <a:pt x="74626" y="0"/>
                  <a:pt x="71034" y="0"/>
                </a:cubicBezTo>
                <a:lnTo>
                  <a:pt x="41797" y="0"/>
                </a:lnTo>
                <a:close/>
                <a:moveTo>
                  <a:pt x="13932" y="27865"/>
                </a:moveTo>
                <a:cubicBezTo>
                  <a:pt x="6248" y="27865"/>
                  <a:pt x="0" y="34113"/>
                  <a:pt x="0" y="41797"/>
                </a:cubicBezTo>
                <a:lnTo>
                  <a:pt x="0" y="97527"/>
                </a:lnTo>
                <a:cubicBezTo>
                  <a:pt x="0" y="105212"/>
                  <a:pt x="6248" y="111460"/>
                  <a:pt x="13932" y="111460"/>
                </a:cubicBezTo>
                <a:lnTo>
                  <a:pt x="55730" y="111460"/>
                </a:lnTo>
                <a:cubicBezTo>
                  <a:pt x="63415" y="111460"/>
                  <a:pt x="69662" y="105212"/>
                  <a:pt x="69662" y="97527"/>
                </a:cubicBezTo>
                <a:lnTo>
                  <a:pt x="69662" y="94044"/>
                </a:lnTo>
                <a:lnTo>
                  <a:pt x="55730" y="94044"/>
                </a:lnTo>
                <a:lnTo>
                  <a:pt x="55730" y="97527"/>
                </a:lnTo>
                <a:lnTo>
                  <a:pt x="13932" y="97527"/>
                </a:lnTo>
                <a:lnTo>
                  <a:pt x="13932" y="41797"/>
                </a:lnTo>
                <a:lnTo>
                  <a:pt x="17416" y="41797"/>
                </a:lnTo>
                <a:lnTo>
                  <a:pt x="17416" y="27865"/>
                </a:lnTo>
                <a:lnTo>
                  <a:pt x="13932" y="2786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4" name="Text 82"/>
          <p:cNvSpPr/>
          <p:nvPr/>
        </p:nvSpPr>
        <p:spPr>
          <a:xfrm>
            <a:off x="6486967" y="6103502"/>
            <a:ext cx="185623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3-2-1 Rule:</a:t>
            </a:r>
            <a:pPr>
              <a:lnSpc>
                <a:spcPct val="130000"/>
              </a:lnSpc>
            </a:pPr>
            <a:r>
              <a:rPr lang="en-US" sz="878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copies, 2 media, 1 offsite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04773" y="6354287"/>
            <a:ext cx="111460" cy="111460"/>
          </a:xfrm>
          <a:custGeom>
            <a:avLst/>
            <a:gdLst/>
            <a:ahLst/>
            <a:cxnLst/>
            <a:rect l="l" t="t" r="r" b="b"/>
            <a:pathLst>
              <a:path w="111460" h="111460">
                <a:moveTo>
                  <a:pt x="104515" y="41797"/>
                </a:moveTo>
                <a:lnTo>
                  <a:pt x="106235" y="41797"/>
                </a:lnTo>
                <a:cubicBezTo>
                  <a:pt x="109131" y="41797"/>
                  <a:pt x="111460" y="39468"/>
                  <a:pt x="111460" y="36573"/>
                </a:cubicBezTo>
                <a:lnTo>
                  <a:pt x="111460" y="5225"/>
                </a:lnTo>
                <a:cubicBezTo>
                  <a:pt x="111460" y="3113"/>
                  <a:pt x="110197" y="1197"/>
                  <a:pt x="108238" y="392"/>
                </a:cubicBezTo>
                <a:cubicBezTo>
                  <a:pt x="106279" y="-414"/>
                  <a:pt x="104037" y="44"/>
                  <a:pt x="102534" y="1524"/>
                </a:cubicBezTo>
                <a:lnTo>
                  <a:pt x="91280" y="12800"/>
                </a:lnTo>
                <a:cubicBezTo>
                  <a:pt x="81636" y="4811"/>
                  <a:pt x="69227" y="0"/>
                  <a:pt x="55730" y="0"/>
                </a:cubicBezTo>
                <a:cubicBezTo>
                  <a:pt x="27647" y="0"/>
                  <a:pt x="4419" y="20768"/>
                  <a:pt x="566" y="47784"/>
                </a:cubicBezTo>
                <a:cubicBezTo>
                  <a:pt x="22" y="51594"/>
                  <a:pt x="2656" y="55120"/>
                  <a:pt x="6466" y="55665"/>
                </a:cubicBezTo>
                <a:cubicBezTo>
                  <a:pt x="10275" y="56209"/>
                  <a:pt x="13802" y="53553"/>
                  <a:pt x="14346" y="49765"/>
                </a:cubicBezTo>
                <a:cubicBezTo>
                  <a:pt x="17241" y="29498"/>
                  <a:pt x="34679" y="13932"/>
                  <a:pt x="55730" y="13932"/>
                </a:cubicBezTo>
                <a:cubicBezTo>
                  <a:pt x="65396" y="13932"/>
                  <a:pt x="74278" y="17198"/>
                  <a:pt x="81353" y="22706"/>
                </a:cubicBezTo>
                <a:lnTo>
                  <a:pt x="71186" y="32872"/>
                </a:lnTo>
                <a:cubicBezTo>
                  <a:pt x="69684" y="34374"/>
                  <a:pt x="69249" y="36616"/>
                  <a:pt x="70054" y="38576"/>
                </a:cubicBezTo>
                <a:cubicBezTo>
                  <a:pt x="70860" y="40535"/>
                  <a:pt x="72775" y="41797"/>
                  <a:pt x="74887" y="41797"/>
                </a:cubicBezTo>
                <a:lnTo>
                  <a:pt x="104515" y="41797"/>
                </a:lnTo>
                <a:close/>
                <a:moveTo>
                  <a:pt x="110916" y="63676"/>
                </a:moveTo>
                <a:cubicBezTo>
                  <a:pt x="111460" y="59866"/>
                  <a:pt x="108804" y="56340"/>
                  <a:pt x="105016" y="55795"/>
                </a:cubicBezTo>
                <a:cubicBezTo>
                  <a:pt x="101228" y="55251"/>
                  <a:pt x="97680" y="57907"/>
                  <a:pt x="97136" y="61695"/>
                </a:cubicBezTo>
                <a:cubicBezTo>
                  <a:pt x="94240" y="81940"/>
                  <a:pt x="76803" y="97506"/>
                  <a:pt x="55752" y="97506"/>
                </a:cubicBezTo>
                <a:cubicBezTo>
                  <a:pt x="46086" y="97506"/>
                  <a:pt x="37204" y="94240"/>
                  <a:pt x="30129" y="88733"/>
                </a:cubicBezTo>
                <a:lnTo>
                  <a:pt x="40274" y="78588"/>
                </a:lnTo>
                <a:cubicBezTo>
                  <a:pt x="41776" y="77086"/>
                  <a:pt x="42211" y="74844"/>
                  <a:pt x="41406" y="72884"/>
                </a:cubicBezTo>
                <a:cubicBezTo>
                  <a:pt x="40600" y="70925"/>
                  <a:pt x="38684" y="69662"/>
                  <a:pt x="36573" y="69662"/>
                </a:cubicBezTo>
                <a:lnTo>
                  <a:pt x="5225" y="69662"/>
                </a:lnTo>
                <a:cubicBezTo>
                  <a:pt x="2329" y="69662"/>
                  <a:pt x="0" y="71992"/>
                  <a:pt x="0" y="74887"/>
                </a:cubicBezTo>
                <a:lnTo>
                  <a:pt x="0" y="106235"/>
                </a:lnTo>
                <a:cubicBezTo>
                  <a:pt x="0" y="108347"/>
                  <a:pt x="1263" y="110263"/>
                  <a:pt x="3222" y="111068"/>
                </a:cubicBezTo>
                <a:cubicBezTo>
                  <a:pt x="5181" y="111874"/>
                  <a:pt x="7423" y="111416"/>
                  <a:pt x="8926" y="109936"/>
                </a:cubicBezTo>
                <a:lnTo>
                  <a:pt x="20202" y="98659"/>
                </a:lnTo>
                <a:cubicBezTo>
                  <a:pt x="29824" y="106649"/>
                  <a:pt x="42233" y="111460"/>
                  <a:pt x="55730" y="111460"/>
                </a:cubicBezTo>
                <a:cubicBezTo>
                  <a:pt x="83813" y="111460"/>
                  <a:pt x="107041" y="90692"/>
                  <a:pt x="110894" y="6367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6" name="Text 84"/>
          <p:cNvSpPr/>
          <p:nvPr/>
        </p:nvSpPr>
        <p:spPr>
          <a:xfrm>
            <a:off x="6486967" y="6326422"/>
            <a:ext cx="135895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Daily:</a:t>
            </a:r>
            <a:pPr>
              <a:lnSpc>
                <a:spcPct val="130000"/>
              </a:lnSpc>
            </a:pPr>
            <a:r>
              <a:rPr lang="en-US" sz="878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Incremental backups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297807" y="6577207"/>
            <a:ext cx="125392" cy="111460"/>
          </a:xfrm>
          <a:custGeom>
            <a:avLst/>
            <a:gdLst/>
            <a:ahLst/>
            <a:cxnLst/>
            <a:rect l="l" t="t" r="r" b="b"/>
            <a:pathLst>
              <a:path w="125392" h="111460">
                <a:moveTo>
                  <a:pt x="62696" y="13932"/>
                </a:moveTo>
                <a:cubicBezTo>
                  <a:pt x="85772" y="13932"/>
                  <a:pt x="104494" y="32654"/>
                  <a:pt x="104494" y="55730"/>
                </a:cubicBezTo>
                <a:cubicBezTo>
                  <a:pt x="104494" y="78806"/>
                  <a:pt x="85772" y="97527"/>
                  <a:pt x="62696" y="97527"/>
                </a:cubicBezTo>
                <a:cubicBezTo>
                  <a:pt x="48502" y="97527"/>
                  <a:pt x="35941" y="90452"/>
                  <a:pt x="28387" y="79611"/>
                </a:cubicBezTo>
                <a:cubicBezTo>
                  <a:pt x="26189" y="76455"/>
                  <a:pt x="21835" y="75693"/>
                  <a:pt x="18678" y="77891"/>
                </a:cubicBezTo>
                <a:cubicBezTo>
                  <a:pt x="15522" y="80090"/>
                  <a:pt x="14760" y="84444"/>
                  <a:pt x="16958" y="87601"/>
                </a:cubicBezTo>
                <a:cubicBezTo>
                  <a:pt x="27016" y="102012"/>
                  <a:pt x="43757" y="111460"/>
                  <a:pt x="62696" y="111460"/>
                </a:cubicBezTo>
                <a:cubicBezTo>
                  <a:pt x="93478" y="111460"/>
                  <a:pt x="118426" y="86512"/>
                  <a:pt x="118426" y="55730"/>
                </a:cubicBezTo>
                <a:cubicBezTo>
                  <a:pt x="118426" y="24948"/>
                  <a:pt x="93478" y="0"/>
                  <a:pt x="62696" y="0"/>
                </a:cubicBezTo>
                <a:cubicBezTo>
                  <a:pt x="44040" y="0"/>
                  <a:pt x="27538" y="9165"/>
                  <a:pt x="17416" y="23228"/>
                </a:cubicBezTo>
                <a:lnTo>
                  <a:pt x="17416" y="17416"/>
                </a:lnTo>
                <a:cubicBezTo>
                  <a:pt x="17416" y="13562"/>
                  <a:pt x="14303" y="10449"/>
                  <a:pt x="10449" y="10449"/>
                </a:cubicBezTo>
                <a:cubicBezTo>
                  <a:pt x="6596" y="10449"/>
                  <a:pt x="3483" y="13562"/>
                  <a:pt x="3483" y="17416"/>
                </a:cubicBezTo>
                <a:lnTo>
                  <a:pt x="3483" y="41797"/>
                </a:lnTo>
                <a:cubicBezTo>
                  <a:pt x="3483" y="45651"/>
                  <a:pt x="6596" y="48764"/>
                  <a:pt x="10449" y="48764"/>
                </a:cubicBezTo>
                <a:lnTo>
                  <a:pt x="15805" y="48764"/>
                </a:lnTo>
                <a:cubicBezTo>
                  <a:pt x="15914" y="48764"/>
                  <a:pt x="16022" y="48764"/>
                  <a:pt x="16131" y="48764"/>
                </a:cubicBezTo>
                <a:lnTo>
                  <a:pt x="34853" y="48764"/>
                </a:lnTo>
                <a:cubicBezTo>
                  <a:pt x="38706" y="48764"/>
                  <a:pt x="41819" y="45651"/>
                  <a:pt x="41819" y="41797"/>
                </a:cubicBezTo>
                <a:cubicBezTo>
                  <a:pt x="41819" y="37944"/>
                  <a:pt x="38706" y="34831"/>
                  <a:pt x="34853" y="34831"/>
                </a:cubicBezTo>
                <a:lnTo>
                  <a:pt x="26515" y="34831"/>
                </a:lnTo>
                <a:cubicBezTo>
                  <a:pt x="33721" y="22336"/>
                  <a:pt x="47240" y="13932"/>
                  <a:pt x="62696" y="13932"/>
                </a:cubicBezTo>
                <a:close/>
                <a:moveTo>
                  <a:pt x="67921" y="33090"/>
                </a:moveTo>
                <a:cubicBezTo>
                  <a:pt x="67921" y="30194"/>
                  <a:pt x="65592" y="27865"/>
                  <a:pt x="62696" y="27865"/>
                </a:cubicBezTo>
                <a:cubicBezTo>
                  <a:pt x="59801" y="27865"/>
                  <a:pt x="57472" y="30194"/>
                  <a:pt x="57472" y="33090"/>
                </a:cubicBezTo>
                <a:lnTo>
                  <a:pt x="57472" y="55730"/>
                </a:lnTo>
                <a:cubicBezTo>
                  <a:pt x="57472" y="57123"/>
                  <a:pt x="58016" y="58451"/>
                  <a:pt x="58995" y="59431"/>
                </a:cubicBezTo>
                <a:lnTo>
                  <a:pt x="74669" y="75105"/>
                </a:lnTo>
                <a:cubicBezTo>
                  <a:pt x="76716" y="77151"/>
                  <a:pt x="80025" y="77151"/>
                  <a:pt x="82049" y="75105"/>
                </a:cubicBezTo>
                <a:cubicBezTo>
                  <a:pt x="84074" y="73058"/>
                  <a:pt x="84096" y="69750"/>
                  <a:pt x="82049" y="67725"/>
                </a:cubicBezTo>
                <a:lnTo>
                  <a:pt x="67899" y="53575"/>
                </a:lnTo>
                <a:lnTo>
                  <a:pt x="67899" y="3309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8" name="Text 86"/>
          <p:cNvSpPr/>
          <p:nvPr/>
        </p:nvSpPr>
        <p:spPr>
          <a:xfrm>
            <a:off x="6486967" y="6549342"/>
            <a:ext cx="171048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Point-in-time:</a:t>
            </a:r>
            <a:pPr>
              <a:lnSpc>
                <a:spcPct val="130000"/>
              </a:lnSpc>
            </a:pPr>
            <a:r>
              <a:rPr lang="en-US" sz="878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Recovery capability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7694"/>
            <a:ext cx="115693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194" b="1" dirty="0">
                <a:solidFill>
                  <a:srgbClr val="2C5F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Benefits &amp; Expected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50131"/>
            <a:ext cx="3724275" cy="1847850"/>
          </a:xfrm>
          <a:custGeom>
            <a:avLst/>
            <a:gdLst/>
            <a:ahLst/>
            <a:cxnLst/>
            <a:rect l="l" t="t" r="r" b="b"/>
            <a:pathLst>
              <a:path w="3724275" h="18478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785929"/>
                </a:lnTo>
                <a:cubicBezTo>
                  <a:pt x="3724275" y="1820127"/>
                  <a:pt x="3696552" y="1847850"/>
                  <a:pt x="3662354" y="1847850"/>
                </a:cubicBezTo>
                <a:lnTo>
                  <a:pt x="61921" y="1847850"/>
                </a:lnTo>
                <a:cubicBezTo>
                  <a:pt x="27723" y="1847850"/>
                  <a:pt x="0" y="1820127"/>
                  <a:pt x="0" y="178592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050131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6" name="Shape 4"/>
          <p:cNvSpPr/>
          <p:nvPr/>
        </p:nvSpPr>
        <p:spPr>
          <a:xfrm>
            <a:off x="504825" y="119300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2C5F7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5908" y="1288256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92869" y="39143"/>
                </a:moveTo>
                <a:lnTo>
                  <a:pt x="87427" y="31597"/>
                </a:lnTo>
                <a:cubicBezTo>
                  <a:pt x="78358" y="19045"/>
                  <a:pt x="63811" y="11609"/>
                  <a:pt x="48284" y="11609"/>
                </a:cubicBezTo>
                <a:cubicBezTo>
                  <a:pt x="21621" y="11609"/>
                  <a:pt x="0" y="33230"/>
                  <a:pt x="0" y="59893"/>
                </a:cubicBezTo>
                <a:lnTo>
                  <a:pt x="0" y="60836"/>
                </a:lnTo>
                <a:cubicBezTo>
                  <a:pt x="0" y="69398"/>
                  <a:pt x="2249" y="78249"/>
                  <a:pt x="6022" y="87064"/>
                </a:cubicBezTo>
                <a:lnTo>
                  <a:pt x="44475" y="87064"/>
                </a:lnTo>
                <a:cubicBezTo>
                  <a:pt x="45636" y="87064"/>
                  <a:pt x="46688" y="86375"/>
                  <a:pt x="47160" y="85287"/>
                </a:cubicBezTo>
                <a:lnTo>
                  <a:pt x="58696" y="57608"/>
                </a:lnTo>
                <a:cubicBezTo>
                  <a:pt x="60038" y="54415"/>
                  <a:pt x="63158" y="52311"/>
                  <a:pt x="66604" y="52239"/>
                </a:cubicBezTo>
                <a:cubicBezTo>
                  <a:pt x="70051" y="52166"/>
                  <a:pt x="73243" y="54198"/>
                  <a:pt x="74658" y="57354"/>
                </a:cubicBezTo>
                <a:lnTo>
                  <a:pt x="93268" y="98673"/>
                </a:lnTo>
                <a:lnTo>
                  <a:pt x="108286" y="68636"/>
                </a:lnTo>
                <a:cubicBezTo>
                  <a:pt x="109774" y="65697"/>
                  <a:pt x="112785" y="63811"/>
                  <a:pt x="116086" y="63811"/>
                </a:cubicBezTo>
                <a:cubicBezTo>
                  <a:pt x="119387" y="63811"/>
                  <a:pt x="122398" y="65661"/>
                  <a:pt x="123885" y="68636"/>
                </a:cubicBezTo>
                <a:lnTo>
                  <a:pt x="132302" y="85432"/>
                </a:lnTo>
                <a:cubicBezTo>
                  <a:pt x="132810" y="86411"/>
                  <a:pt x="133789" y="87028"/>
                  <a:pt x="134914" y="87028"/>
                </a:cubicBezTo>
                <a:lnTo>
                  <a:pt x="179752" y="87028"/>
                </a:lnTo>
                <a:cubicBezTo>
                  <a:pt x="183561" y="78213"/>
                  <a:pt x="185774" y="69361"/>
                  <a:pt x="185774" y="60800"/>
                </a:cubicBezTo>
                <a:lnTo>
                  <a:pt x="185774" y="59857"/>
                </a:lnTo>
                <a:cubicBezTo>
                  <a:pt x="185738" y="33230"/>
                  <a:pt x="164116" y="11609"/>
                  <a:pt x="137453" y="11609"/>
                </a:cubicBezTo>
                <a:cubicBezTo>
                  <a:pt x="121963" y="11609"/>
                  <a:pt x="107379" y="19045"/>
                  <a:pt x="98310" y="31597"/>
                </a:cubicBezTo>
                <a:lnTo>
                  <a:pt x="92869" y="39106"/>
                </a:lnTo>
                <a:close/>
                <a:moveTo>
                  <a:pt x="170356" y="104477"/>
                </a:moveTo>
                <a:lnTo>
                  <a:pt x="134877" y="104477"/>
                </a:lnTo>
                <a:cubicBezTo>
                  <a:pt x="127187" y="104477"/>
                  <a:pt x="120149" y="100124"/>
                  <a:pt x="116703" y="93232"/>
                </a:cubicBezTo>
                <a:lnTo>
                  <a:pt x="116086" y="91998"/>
                </a:lnTo>
                <a:lnTo>
                  <a:pt x="100668" y="122870"/>
                </a:lnTo>
                <a:cubicBezTo>
                  <a:pt x="99181" y="125881"/>
                  <a:pt x="96061" y="127767"/>
                  <a:pt x="92687" y="127695"/>
                </a:cubicBezTo>
                <a:cubicBezTo>
                  <a:pt x="89314" y="127622"/>
                  <a:pt x="86303" y="125627"/>
                  <a:pt x="84924" y="122579"/>
                </a:cubicBezTo>
                <a:lnTo>
                  <a:pt x="67040" y="82856"/>
                </a:lnTo>
                <a:lnTo>
                  <a:pt x="63231" y="91998"/>
                </a:lnTo>
                <a:cubicBezTo>
                  <a:pt x="60074" y="99580"/>
                  <a:pt x="52674" y="104514"/>
                  <a:pt x="44475" y="104514"/>
                </a:cubicBezTo>
                <a:lnTo>
                  <a:pt x="15381" y="104514"/>
                </a:lnTo>
                <a:cubicBezTo>
                  <a:pt x="32504" y="131286"/>
                  <a:pt x="60002" y="155918"/>
                  <a:pt x="77197" y="169050"/>
                </a:cubicBezTo>
                <a:cubicBezTo>
                  <a:pt x="81695" y="172460"/>
                  <a:pt x="87210" y="174165"/>
                  <a:pt x="92832" y="174165"/>
                </a:cubicBezTo>
                <a:cubicBezTo>
                  <a:pt x="98455" y="174165"/>
                  <a:pt x="104006" y="172496"/>
                  <a:pt x="108468" y="169050"/>
                </a:cubicBezTo>
                <a:cubicBezTo>
                  <a:pt x="125736" y="155882"/>
                  <a:pt x="153233" y="131250"/>
                  <a:pt x="170356" y="104477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8" name="Text 6"/>
          <p:cNvSpPr/>
          <p:nvPr/>
        </p:nvSpPr>
        <p:spPr>
          <a:xfrm>
            <a:off x="969169" y="1270397"/>
            <a:ext cx="16412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Care Continuity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825" y="1657350"/>
            <a:ext cx="3538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patient history accessible across all clinics ensures seamless care transitions and informed clinical decisions.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825" y="2152650"/>
            <a:ext cx="3476625" cy="619125"/>
          </a:xfrm>
          <a:custGeom>
            <a:avLst/>
            <a:gdLst/>
            <a:ahLst/>
            <a:cxnLst/>
            <a:rect l="l" t="t" r="r" b="b"/>
            <a:pathLst>
              <a:path w="3476625" h="619125">
                <a:moveTo>
                  <a:pt x="61912" y="0"/>
                </a:moveTo>
                <a:lnTo>
                  <a:pt x="3414713" y="0"/>
                </a:lnTo>
                <a:cubicBezTo>
                  <a:pt x="3448883" y="0"/>
                  <a:pt x="3476625" y="27742"/>
                  <a:pt x="3476625" y="61912"/>
                </a:cubicBezTo>
                <a:lnTo>
                  <a:pt x="3476625" y="557213"/>
                </a:lnTo>
                <a:cubicBezTo>
                  <a:pt x="3476625" y="591383"/>
                  <a:pt x="3448883" y="619125"/>
                  <a:pt x="3414713" y="619125"/>
                </a:cubicBezTo>
                <a:lnTo>
                  <a:pt x="61912" y="619125"/>
                </a:lnTo>
                <a:cubicBezTo>
                  <a:pt x="27742" y="619125"/>
                  <a:pt x="0" y="591383"/>
                  <a:pt x="0" y="5572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9651" y="2245519"/>
            <a:ext cx="341173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28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0607" y="2524125"/>
            <a:ext cx="3349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 in care coordination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2196" y="1050131"/>
            <a:ext cx="3724275" cy="1847850"/>
          </a:xfrm>
          <a:custGeom>
            <a:avLst/>
            <a:gdLst/>
            <a:ahLst/>
            <a:cxnLst/>
            <a:rect l="l" t="t" r="r" b="b"/>
            <a:pathLst>
              <a:path w="3724275" h="18478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785929"/>
                </a:lnTo>
                <a:cubicBezTo>
                  <a:pt x="3724275" y="1820127"/>
                  <a:pt x="3696552" y="1847850"/>
                  <a:pt x="3662354" y="1847850"/>
                </a:cubicBezTo>
                <a:lnTo>
                  <a:pt x="61921" y="1847850"/>
                </a:lnTo>
                <a:cubicBezTo>
                  <a:pt x="27723" y="1847850"/>
                  <a:pt x="0" y="1820127"/>
                  <a:pt x="0" y="178592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32196" y="1050131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56021" y="119300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5A8A9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47104" y="1288256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92869" y="0"/>
                </a:moveTo>
                <a:cubicBezTo>
                  <a:pt x="94537" y="0"/>
                  <a:pt x="96206" y="363"/>
                  <a:pt x="97730" y="1052"/>
                </a:cubicBezTo>
                <a:lnTo>
                  <a:pt x="166075" y="30037"/>
                </a:lnTo>
                <a:cubicBezTo>
                  <a:pt x="174056" y="33411"/>
                  <a:pt x="180006" y="41283"/>
                  <a:pt x="179969" y="50788"/>
                </a:cubicBezTo>
                <a:cubicBezTo>
                  <a:pt x="179788" y="86774"/>
                  <a:pt x="164987" y="152617"/>
                  <a:pt x="102482" y="182545"/>
                </a:cubicBezTo>
                <a:cubicBezTo>
                  <a:pt x="96424" y="185447"/>
                  <a:pt x="89386" y="185447"/>
                  <a:pt x="83328" y="182545"/>
                </a:cubicBezTo>
                <a:cubicBezTo>
                  <a:pt x="20787" y="152617"/>
                  <a:pt x="6022" y="86774"/>
                  <a:pt x="5841" y="50788"/>
                </a:cubicBezTo>
                <a:cubicBezTo>
                  <a:pt x="5804" y="41283"/>
                  <a:pt x="11754" y="33411"/>
                  <a:pt x="19735" y="30037"/>
                </a:cubicBezTo>
                <a:lnTo>
                  <a:pt x="88044" y="1052"/>
                </a:lnTo>
                <a:cubicBezTo>
                  <a:pt x="89568" y="363"/>
                  <a:pt x="91200" y="0"/>
                  <a:pt x="92869" y="0"/>
                </a:cubicBezTo>
                <a:close/>
                <a:moveTo>
                  <a:pt x="92869" y="24233"/>
                </a:moveTo>
                <a:lnTo>
                  <a:pt x="92869" y="161396"/>
                </a:lnTo>
                <a:cubicBezTo>
                  <a:pt x="142931" y="137163"/>
                  <a:pt x="156390" y="83473"/>
                  <a:pt x="156716" y="51332"/>
                </a:cubicBezTo>
                <a:lnTo>
                  <a:pt x="92869" y="24269"/>
                </a:lnTo>
                <a:lnTo>
                  <a:pt x="92869" y="24269"/>
                </a:ln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17" name="Text 15"/>
          <p:cNvSpPr/>
          <p:nvPr/>
        </p:nvSpPr>
        <p:spPr>
          <a:xfrm>
            <a:off x="4820364" y="1270397"/>
            <a:ext cx="15365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Medical Errors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56021" y="1657350"/>
            <a:ext cx="3538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 comprehensive medication history and allergies prevents adverse drug interactions and duplicate testing.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56021" y="2152650"/>
            <a:ext cx="3476625" cy="619125"/>
          </a:xfrm>
          <a:custGeom>
            <a:avLst/>
            <a:gdLst/>
            <a:ahLst/>
            <a:cxnLst/>
            <a:rect l="l" t="t" r="r" b="b"/>
            <a:pathLst>
              <a:path w="3476625" h="619125">
                <a:moveTo>
                  <a:pt x="61912" y="0"/>
                </a:moveTo>
                <a:lnTo>
                  <a:pt x="3414713" y="0"/>
                </a:lnTo>
                <a:cubicBezTo>
                  <a:pt x="3448883" y="0"/>
                  <a:pt x="3476625" y="27742"/>
                  <a:pt x="3476625" y="61912"/>
                </a:cubicBezTo>
                <a:lnTo>
                  <a:pt x="3476625" y="557213"/>
                </a:lnTo>
                <a:cubicBezTo>
                  <a:pt x="3476625" y="591383"/>
                  <a:pt x="3448883" y="619125"/>
                  <a:pt x="3414713" y="619125"/>
                </a:cubicBezTo>
                <a:lnTo>
                  <a:pt x="61912" y="619125"/>
                </a:lnTo>
                <a:cubicBezTo>
                  <a:pt x="27742" y="619125"/>
                  <a:pt x="0" y="591383"/>
                  <a:pt x="0" y="5572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390847" y="2245519"/>
            <a:ext cx="341173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28" b="1" dirty="0">
                <a:solidFill>
                  <a:srgbClr val="5A8A9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21803" y="2524125"/>
            <a:ext cx="3349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medication errors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83511" y="1050131"/>
            <a:ext cx="3724275" cy="1847850"/>
          </a:xfrm>
          <a:custGeom>
            <a:avLst/>
            <a:gdLst/>
            <a:ahLst/>
            <a:cxnLst/>
            <a:rect l="l" t="t" r="r" b="b"/>
            <a:pathLst>
              <a:path w="3724275" h="18478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785929"/>
                </a:lnTo>
                <a:cubicBezTo>
                  <a:pt x="3724275" y="1820127"/>
                  <a:pt x="3696552" y="1847850"/>
                  <a:pt x="3662354" y="1847850"/>
                </a:cubicBezTo>
                <a:lnTo>
                  <a:pt x="61921" y="1847850"/>
                </a:lnTo>
                <a:cubicBezTo>
                  <a:pt x="27723" y="1847850"/>
                  <a:pt x="0" y="1820127"/>
                  <a:pt x="0" y="178592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511" y="1050131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07336" y="119300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275201" y="1288256"/>
            <a:ext cx="232172" cy="185738"/>
          </a:xfrm>
          <a:custGeom>
            <a:avLst/>
            <a:gdLst/>
            <a:ahLst/>
            <a:cxnLst/>
            <a:rect l="l" t="t" r="r" b="b"/>
            <a:pathLst>
              <a:path w="232172" h="185738">
                <a:moveTo>
                  <a:pt x="116086" y="5804"/>
                </a:moveTo>
                <a:cubicBezTo>
                  <a:pt x="136909" y="5804"/>
                  <a:pt x="153814" y="22710"/>
                  <a:pt x="153814" y="43532"/>
                </a:cubicBezTo>
                <a:cubicBezTo>
                  <a:pt x="153814" y="64355"/>
                  <a:pt x="136909" y="81260"/>
                  <a:pt x="116086" y="81260"/>
                </a:cubicBezTo>
                <a:cubicBezTo>
                  <a:pt x="95263" y="81260"/>
                  <a:pt x="78358" y="64355"/>
                  <a:pt x="78358" y="43532"/>
                </a:cubicBezTo>
                <a:cubicBezTo>
                  <a:pt x="78358" y="22710"/>
                  <a:pt x="95263" y="5804"/>
                  <a:pt x="116086" y="5804"/>
                </a:cubicBezTo>
                <a:close/>
                <a:moveTo>
                  <a:pt x="34826" y="31924"/>
                </a:moveTo>
                <a:cubicBezTo>
                  <a:pt x="49241" y="31924"/>
                  <a:pt x="60945" y="43627"/>
                  <a:pt x="60945" y="58043"/>
                </a:cubicBezTo>
                <a:cubicBezTo>
                  <a:pt x="60945" y="72459"/>
                  <a:pt x="49241" y="84162"/>
                  <a:pt x="34826" y="84162"/>
                </a:cubicBezTo>
                <a:cubicBezTo>
                  <a:pt x="20410" y="84162"/>
                  <a:pt x="8706" y="72459"/>
                  <a:pt x="8706" y="58043"/>
                </a:cubicBezTo>
                <a:cubicBezTo>
                  <a:pt x="8706" y="43627"/>
                  <a:pt x="20410" y="31924"/>
                  <a:pt x="34826" y="31924"/>
                </a:cubicBezTo>
                <a:close/>
                <a:moveTo>
                  <a:pt x="0" y="150912"/>
                </a:moveTo>
                <a:cubicBezTo>
                  <a:pt x="0" y="125264"/>
                  <a:pt x="20787" y="104477"/>
                  <a:pt x="46434" y="104477"/>
                </a:cubicBezTo>
                <a:cubicBezTo>
                  <a:pt x="51078" y="104477"/>
                  <a:pt x="55576" y="105167"/>
                  <a:pt x="59821" y="106436"/>
                </a:cubicBezTo>
                <a:cubicBezTo>
                  <a:pt x="47885" y="119786"/>
                  <a:pt x="40630" y="137417"/>
                  <a:pt x="40630" y="156716"/>
                </a:cubicBezTo>
                <a:lnTo>
                  <a:pt x="40630" y="162520"/>
                </a:lnTo>
                <a:cubicBezTo>
                  <a:pt x="40630" y="166656"/>
                  <a:pt x="41501" y="170574"/>
                  <a:pt x="43061" y="174129"/>
                </a:cubicBezTo>
                <a:lnTo>
                  <a:pt x="11609" y="174129"/>
                </a:lnTo>
                <a:cubicBezTo>
                  <a:pt x="5188" y="174129"/>
                  <a:pt x="0" y="168941"/>
                  <a:pt x="0" y="162520"/>
                </a:cubicBezTo>
                <a:lnTo>
                  <a:pt x="0" y="150912"/>
                </a:lnTo>
                <a:close/>
                <a:moveTo>
                  <a:pt x="189111" y="174129"/>
                </a:moveTo>
                <a:cubicBezTo>
                  <a:pt x="190671" y="170574"/>
                  <a:pt x="191542" y="166656"/>
                  <a:pt x="191542" y="162520"/>
                </a:cubicBezTo>
                <a:lnTo>
                  <a:pt x="191542" y="156716"/>
                </a:lnTo>
                <a:cubicBezTo>
                  <a:pt x="191542" y="137417"/>
                  <a:pt x="184286" y="119786"/>
                  <a:pt x="172351" y="106436"/>
                </a:cubicBezTo>
                <a:cubicBezTo>
                  <a:pt x="176596" y="105167"/>
                  <a:pt x="181094" y="104477"/>
                  <a:pt x="185738" y="104477"/>
                </a:cubicBezTo>
                <a:cubicBezTo>
                  <a:pt x="211385" y="104477"/>
                  <a:pt x="232172" y="125264"/>
                  <a:pt x="232172" y="150912"/>
                </a:cubicBezTo>
                <a:lnTo>
                  <a:pt x="232172" y="162520"/>
                </a:lnTo>
                <a:cubicBezTo>
                  <a:pt x="232172" y="168941"/>
                  <a:pt x="226984" y="174129"/>
                  <a:pt x="220563" y="174129"/>
                </a:cubicBezTo>
                <a:lnTo>
                  <a:pt x="189111" y="174129"/>
                </a:lnTo>
                <a:close/>
                <a:moveTo>
                  <a:pt x="171227" y="58043"/>
                </a:moveTo>
                <a:cubicBezTo>
                  <a:pt x="171227" y="43627"/>
                  <a:pt x="182930" y="31924"/>
                  <a:pt x="197346" y="31924"/>
                </a:cubicBezTo>
                <a:cubicBezTo>
                  <a:pt x="211762" y="31924"/>
                  <a:pt x="223465" y="43627"/>
                  <a:pt x="223465" y="58043"/>
                </a:cubicBezTo>
                <a:cubicBezTo>
                  <a:pt x="223465" y="72459"/>
                  <a:pt x="211762" y="84162"/>
                  <a:pt x="197346" y="84162"/>
                </a:cubicBezTo>
                <a:cubicBezTo>
                  <a:pt x="182930" y="84162"/>
                  <a:pt x="171227" y="72459"/>
                  <a:pt x="171227" y="58043"/>
                </a:cubicBezTo>
                <a:close/>
                <a:moveTo>
                  <a:pt x="58043" y="156716"/>
                </a:moveTo>
                <a:cubicBezTo>
                  <a:pt x="58043" y="124647"/>
                  <a:pt x="84017" y="98673"/>
                  <a:pt x="116086" y="98673"/>
                </a:cubicBezTo>
                <a:cubicBezTo>
                  <a:pt x="148155" y="98673"/>
                  <a:pt x="174129" y="124647"/>
                  <a:pt x="174129" y="156716"/>
                </a:cubicBezTo>
                <a:lnTo>
                  <a:pt x="174129" y="162520"/>
                </a:lnTo>
                <a:cubicBezTo>
                  <a:pt x="174129" y="168941"/>
                  <a:pt x="168941" y="174129"/>
                  <a:pt x="162520" y="174129"/>
                </a:cubicBezTo>
                <a:lnTo>
                  <a:pt x="69652" y="174129"/>
                </a:lnTo>
                <a:cubicBezTo>
                  <a:pt x="63231" y="174129"/>
                  <a:pt x="58043" y="168941"/>
                  <a:pt x="58043" y="162520"/>
                </a:cubicBezTo>
                <a:lnTo>
                  <a:pt x="58043" y="15671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6" name="Text 24"/>
          <p:cNvSpPr/>
          <p:nvPr/>
        </p:nvSpPr>
        <p:spPr>
          <a:xfrm>
            <a:off x="8671679" y="1270397"/>
            <a:ext cx="18222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Care Coordination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07336" y="1657350"/>
            <a:ext cx="3538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sharing between primary care, specialists, and clinics improves collaborative treatment planning.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07336" y="2152650"/>
            <a:ext cx="3476625" cy="619125"/>
          </a:xfrm>
          <a:custGeom>
            <a:avLst/>
            <a:gdLst/>
            <a:ahLst/>
            <a:cxnLst/>
            <a:rect l="l" t="t" r="r" b="b"/>
            <a:pathLst>
              <a:path w="3476625" h="619125">
                <a:moveTo>
                  <a:pt x="61912" y="0"/>
                </a:moveTo>
                <a:lnTo>
                  <a:pt x="3414713" y="0"/>
                </a:lnTo>
                <a:cubicBezTo>
                  <a:pt x="3448883" y="0"/>
                  <a:pt x="3476625" y="27742"/>
                  <a:pt x="3476625" y="61912"/>
                </a:cubicBezTo>
                <a:lnTo>
                  <a:pt x="3476625" y="557213"/>
                </a:lnTo>
                <a:cubicBezTo>
                  <a:pt x="3476625" y="591383"/>
                  <a:pt x="3448883" y="619125"/>
                  <a:pt x="3414713" y="619125"/>
                </a:cubicBezTo>
                <a:lnTo>
                  <a:pt x="61912" y="619125"/>
                </a:lnTo>
                <a:cubicBezTo>
                  <a:pt x="27742" y="619125"/>
                  <a:pt x="0" y="591383"/>
                  <a:pt x="0" y="5572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42161" y="2245519"/>
            <a:ext cx="341173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28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73118" y="2524125"/>
            <a:ext cx="3349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specialist consultations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3019425"/>
            <a:ext cx="5657850" cy="3457575"/>
          </a:xfrm>
          <a:custGeom>
            <a:avLst/>
            <a:gdLst/>
            <a:ahLst/>
            <a:cxnLst/>
            <a:rect l="l" t="t" r="r" b="b"/>
            <a:pathLst>
              <a:path w="5657850" h="3457575">
                <a:moveTo>
                  <a:pt x="61925" y="0"/>
                </a:moveTo>
                <a:lnTo>
                  <a:pt x="5595925" y="0"/>
                </a:lnTo>
                <a:cubicBezTo>
                  <a:pt x="5630125" y="0"/>
                  <a:pt x="5657850" y="27725"/>
                  <a:pt x="5657850" y="61925"/>
                </a:cubicBezTo>
                <a:lnTo>
                  <a:pt x="5657850" y="3395650"/>
                </a:lnTo>
                <a:cubicBezTo>
                  <a:pt x="5657850" y="3429850"/>
                  <a:pt x="5630125" y="3457575"/>
                  <a:pt x="5595925" y="3457575"/>
                </a:cubicBezTo>
                <a:lnTo>
                  <a:pt x="61925" y="3457575"/>
                </a:lnTo>
                <a:cubicBezTo>
                  <a:pt x="27725" y="3457575"/>
                  <a:pt x="0" y="3429850"/>
                  <a:pt x="0" y="3395650"/>
                </a:cubicBezTo>
                <a:lnTo>
                  <a:pt x="0" y="61925"/>
                </a:lnTo>
                <a:cubicBezTo>
                  <a:pt x="0" y="27748"/>
                  <a:pt x="27748" y="0"/>
                  <a:pt x="619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3641" y="3203972"/>
            <a:ext cx="154781" cy="154781"/>
          </a:xfrm>
          <a:custGeom>
            <a:avLst/>
            <a:gdLst/>
            <a:ahLst/>
            <a:cxnLst/>
            <a:rect l="l" t="t" r="r" b="b"/>
            <a:pathLst>
              <a:path w="154781" h="154781">
                <a:moveTo>
                  <a:pt x="19348" y="19348"/>
                </a:moveTo>
                <a:cubicBezTo>
                  <a:pt x="19348" y="13997"/>
                  <a:pt x="15025" y="9674"/>
                  <a:pt x="9674" y="9674"/>
                </a:cubicBezTo>
                <a:cubicBezTo>
                  <a:pt x="4323" y="9674"/>
                  <a:pt x="0" y="13997"/>
                  <a:pt x="0" y="19348"/>
                </a:cubicBezTo>
                <a:lnTo>
                  <a:pt x="0" y="120923"/>
                </a:lnTo>
                <a:cubicBezTo>
                  <a:pt x="0" y="134285"/>
                  <a:pt x="10823" y="145107"/>
                  <a:pt x="24185" y="145107"/>
                </a:cubicBezTo>
                <a:lnTo>
                  <a:pt x="145107" y="145107"/>
                </a:lnTo>
                <a:cubicBezTo>
                  <a:pt x="150458" y="145107"/>
                  <a:pt x="154781" y="140784"/>
                  <a:pt x="154781" y="135434"/>
                </a:cubicBezTo>
                <a:cubicBezTo>
                  <a:pt x="154781" y="130083"/>
                  <a:pt x="150458" y="125760"/>
                  <a:pt x="145107" y="125760"/>
                </a:cubicBezTo>
                <a:lnTo>
                  <a:pt x="24185" y="125760"/>
                </a:lnTo>
                <a:cubicBezTo>
                  <a:pt x="21524" y="125760"/>
                  <a:pt x="19348" y="123583"/>
                  <a:pt x="19348" y="120923"/>
                </a:cubicBezTo>
                <a:lnTo>
                  <a:pt x="19348" y="19348"/>
                </a:lnTo>
                <a:close/>
                <a:moveTo>
                  <a:pt x="142266" y="45527"/>
                </a:moveTo>
                <a:cubicBezTo>
                  <a:pt x="146045" y="41749"/>
                  <a:pt x="146045" y="35612"/>
                  <a:pt x="142266" y="31833"/>
                </a:cubicBezTo>
                <a:cubicBezTo>
                  <a:pt x="138487" y="28054"/>
                  <a:pt x="132350" y="28054"/>
                  <a:pt x="128571" y="31833"/>
                </a:cubicBezTo>
                <a:lnTo>
                  <a:pt x="96738" y="63696"/>
                </a:lnTo>
                <a:lnTo>
                  <a:pt x="79386" y="46374"/>
                </a:lnTo>
                <a:cubicBezTo>
                  <a:pt x="75607" y="42595"/>
                  <a:pt x="69470" y="42595"/>
                  <a:pt x="65691" y="46374"/>
                </a:cubicBezTo>
                <a:lnTo>
                  <a:pt x="36670" y="75395"/>
                </a:lnTo>
                <a:cubicBezTo>
                  <a:pt x="32891" y="79174"/>
                  <a:pt x="32891" y="85311"/>
                  <a:pt x="36670" y="89090"/>
                </a:cubicBezTo>
                <a:cubicBezTo>
                  <a:pt x="40449" y="92869"/>
                  <a:pt x="46586" y="92869"/>
                  <a:pt x="50364" y="89090"/>
                </a:cubicBezTo>
                <a:lnTo>
                  <a:pt x="72554" y="66901"/>
                </a:lnTo>
                <a:lnTo>
                  <a:pt x="89906" y="84253"/>
                </a:lnTo>
                <a:cubicBezTo>
                  <a:pt x="93685" y="88032"/>
                  <a:pt x="99822" y="88032"/>
                  <a:pt x="103601" y="84253"/>
                </a:cubicBezTo>
                <a:lnTo>
                  <a:pt x="142296" y="4555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Text 31"/>
          <p:cNvSpPr/>
          <p:nvPr/>
        </p:nvSpPr>
        <p:spPr>
          <a:xfrm>
            <a:off x="726281" y="3174206"/>
            <a:ext cx="52304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Measurable Outcomes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5781" y="3514725"/>
            <a:ext cx="5343525" cy="619125"/>
          </a:xfrm>
          <a:custGeom>
            <a:avLst/>
            <a:gdLst/>
            <a:ahLst/>
            <a:cxnLst/>
            <a:rect l="l" t="t" r="r" b="b"/>
            <a:pathLst>
              <a:path w="5343525" h="619125">
                <a:moveTo>
                  <a:pt x="61912" y="0"/>
                </a:moveTo>
                <a:lnTo>
                  <a:pt x="5281613" y="0"/>
                </a:lnTo>
                <a:cubicBezTo>
                  <a:pt x="5315783" y="0"/>
                  <a:pt x="5343525" y="27742"/>
                  <a:pt x="5343525" y="61912"/>
                </a:cubicBezTo>
                <a:lnTo>
                  <a:pt x="5343525" y="557213"/>
                </a:lnTo>
                <a:cubicBezTo>
                  <a:pt x="5343525" y="591383"/>
                  <a:pt x="5315783" y="619125"/>
                  <a:pt x="5281613" y="619125"/>
                </a:cubicBezTo>
                <a:lnTo>
                  <a:pt x="61912" y="619125"/>
                </a:lnTo>
                <a:cubicBezTo>
                  <a:pt x="27742" y="619125"/>
                  <a:pt x="0" y="591383"/>
                  <a:pt x="0" y="5572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8650" y="3607594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36" name="Text 34"/>
          <p:cNvSpPr/>
          <p:nvPr/>
        </p:nvSpPr>
        <p:spPr>
          <a:xfrm>
            <a:off x="589955" y="3607594"/>
            <a:ext cx="51554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5863" y="3654028"/>
            <a:ext cx="3224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Patient Wait Times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5863" y="3839766"/>
            <a:ext cx="32164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access to complete medical history streamlines consultations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5781" y="4226719"/>
            <a:ext cx="5343525" cy="619125"/>
          </a:xfrm>
          <a:custGeom>
            <a:avLst/>
            <a:gdLst/>
            <a:ahLst/>
            <a:cxnLst/>
            <a:rect l="l" t="t" r="r" b="b"/>
            <a:pathLst>
              <a:path w="5343525" h="619125">
                <a:moveTo>
                  <a:pt x="61912" y="0"/>
                </a:moveTo>
                <a:lnTo>
                  <a:pt x="5281613" y="0"/>
                </a:lnTo>
                <a:cubicBezTo>
                  <a:pt x="5315783" y="0"/>
                  <a:pt x="5343525" y="27742"/>
                  <a:pt x="5343525" y="61912"/>
                </a:cubicBezTo>
                <a:lnTo>
                  <a:pt x="5343525" y="557213"/>
                </a:lnTo>
                <a:cubicBezTo>
                  <a:pt x="5343525" y="591383"/>
                  <a:pt x="5315783" y="619125"/>
                  <a:pt x="5281613" y="619125"/>
                </a:cubicBezTo>
                <a:lnTo>
                  <a:pt x="61912" y="619125"/>
                </a:lnTo>
                <a:cubicBezTo>
                  <a:pt x="27742" y="619125"/>
                  <a:pt x="0" y="591383"/>
                  <a:pt x="0" y="5572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5A8A9F">
              <a:alpha val="5098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8650" y="4319588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5A8A9F"/>
          </a:solidFill>
          <a:ln/>
        </p:spPr>
      </p:sp>
      <p:sp>
        <p:nvSpPr>
          <p:cNvPr id="41" name="Text 39"/>
          <p:cNvSpPr/>
          <p:nvPr/>
        </p:nvSpPr>
        <p:spPr>
          <a:xfrm>
            <a:off x="589955" y="4319588"/>
            <a:ext cx="51554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$1.1K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85863" y="4366022"/>
            <a:ext cx="2767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Savings per Patient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85863" y="4551759"/>
            <a:ext cx="2759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Elimination of duplicate testing and redundant procedures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5781" y="4938713"/>
            <a:ext cx="5343525" cy="619125"/>
          </a:xfrm>
          <a:custGeom>
            <a:avLst/>
            <a:gdLst/>
            <a:ahLst/>
            <a:cxnLst/>
            <a:rect l="l" t="t" r="r" b="b"/>
            <a:pathLst>
              <a:path w="5343525" h="619125">
                <a:moveTo>
                  <a:pt x="61912" y="0"/>
                </a:moveTo>
                <a:lnTo>
                  <a:pt x="5281613" y="0"/>
                </a:lnTo>
                <a:cubicBezTo>
                  <a:pt x="5315783" y="0"/>
                  <a:pt x="5343525" y="27742"/>
                  <a:pt x="5343525" y="61912"/>
                </a:cubicBezTo>
                <a:lnTo>
                  <a:pt x="5343525" y="557213"/>
                </a:lnTo>
                <a:cubicBezTo>
                  <a:pt x="5343525" y="591383"/>
                  <a:pt x="5315783" y="619125"/>
                  <a:pt x="5281613" y="619125"/>
                </a:cubicBezTo>
                <a:lnTo>
                  <a:pt x="61912" y="619125"/>
                </a:lnTo>
                <a:cubicBezTo>
                  <a:pt x="27742" y="619125"/>
                  <a:pt x="0" y="591383"/>
                  <a:pt x="0" y="5572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8650" y="5031581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4"/>
          <p:cNvSpPr/>
          <p:nvPr/>
        </p:nvSpPr>
        <p:spPr>
          <a:xfrm>
            <a:off x="589955" y="5031581"/>
            <a:ext cx="51554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85863" y="5078016"/>
            <a:ext cx="26336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Satisfaction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85863" y="5263753"/>
            <a:ext cx="26259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satisfaction scores due to improved care quality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5781" y="5650706"/>
            <a:ext cx="5343525" cy="619125"/>
          </a:xfrm>
          <a:custGeom>
            <a:avLst/>
            <a:gdLst/>
            <a:ahLst/>
            <a:cxnLst/>
            <a:rect l="l" t="t" r="r" b="b"/>
            <a:pathLst>
              <a:path w="5343525" h="619125">
                <a:moveTo>
                  <a:pt x="61912" y="0"/>
                </a:moveTo>
                <a:lnTo>
                  <a:pt x="5281613" y="0"/>
                </a:lnTo>
                <a:cubicBezTo>
                  <a:pt x="5315783" y="0"/>
                  <a:pt x="5343525" y="27742"/>
                  <a:pt x="5343525" y="61912"/>
                </a:cubicBezTo>
                <a:lnTo>
                  <a:pt x="5343525" y="557213"/>
                </a:lnTo>
                <a:cubicBezTo>
                  <a:pt x="5343525" y="591383"/>
                  <a:pt x="5315783" y="619125"/>
                  <a:pt x="5281613" y="619125"/>
                </a:cubicBezTo>
                <a:lnTo>
                  <a:pt x="61912" y="619125"/>
                </a:lnTo>
                <a:cubicBezTo>
                  <a:pt x="27742" y="619125"/>
                  <a:pt x="0" y="591383"/>
                  <a:pt x="0" y="5572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2C5F7C">
              <a:alpha val="5098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8650" y="57435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2C5F7C"/>
          </a:solidFill>
          <a:ln/>
        </p:spPr>
      </p:sp>
      <p:sp>
        <p:nvSpPr>
          <p:cNvPr id="51" name="Text 49"/>
          <p:cNvSpPr/>
          <p:nvPr/>
        </p:nvSpPr>
        <p:spPr>
          <a:xfrm>
            <a:off x="589955" y="5743575"/>
            <a:ext cx="51554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85863" y="5790009"/>
            <a:ext cx="23002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Administrative Efficiency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85863" y="5975747"/>
            <a:ext cx="2292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manual record retrieval and data entry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57913" y="3019425"/>
            <a:ext cx="5657850" cy="1914525"/>
          </a:xfrm>
          <a:custGeom>
            <a:avLst/>
            <a:gdLst/>
            <a:ahLst/>
            <a:cxnLst/>
            <a:rect l="l" t="t" r="r" b="b"/>
            <a:pathLst>
              <a:path w="5657850" h="1914525">
                <a:moveTo>
                  <a:pt x="61916" y="0"/>
                </a:moveTo>
                <a:lnTo>
                  <a:pt x="5595934" y="0"/>
                </a:lnTo>
                <a:cubicBezTo>
                  <a:pt x="5630129" y="0"/>
                  <a:pt x="5657850" y="27721"/>
                  <a:pt x="5657850" y="61916"/>
                </a:cubicBezTo>
                <a:lnTo>
                  <a:pt x="5657850" y="1852609"/>
                </a:lnTo>
                <a:cubicBezTo>
                  <a:pt x="5657850" y="1886804"/>
                  <a:pt x="5630129" y="1914525"/>
                  <a:pt x="5595934" y="1914525"/>
                </a:cubicBezTo>
                <a:lnTo>
                  <a:pt x="61916" y="1914525"/>
                </a:lnTo>
                <a:cubicBezTo>
                  <a:pt x="27721" y="1914525"/>
                  <a:pt x="0" y="1886804"/>
                  <a:pt x="0" y="1852609"/>
                </a:cubicBezTo>
                <a:lnTo>
                  <a:pt x="0" y="61916"/>
                </a:lnTo>
                <a:cubicBezTo>
                  <a:pt x="0" y="27721"/>
                  <a:pt x="27721" y="0"/>
                  <a:pt x="61916" y="0"/>
                </a:cubicBezTo>
                <a:close/>
              </a:path>
            </a:pathLst>
          </a:custGeom>
          <a:gradFill rotWithShape="1" flip="none">
            <a:gsLst>
              <a:gs pos="0">
                <a:srgbClr val="2C5F7C"/>
              </a:gs>
              <a:gs pos="100000">
                <a:srgbClr val="5A8A9F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30553" y="3203972"/>
            <a:ext cx="154781" cy="154781"/>
          </a:xfrm>
          <a:custGeom>
            <a:avLst/>
            <a:gdLst/>
            <a:ahLst/>
            <a:cxnLst/>
            <a:rect l="l" t="t" r="r" b="b"/>
            <a:pathLst>
              <a:path w="154781" h="154781">
                <a:moveTo>
                  <a:pt x="0" y="77391"/>
                </a:moveTo>
                <a:cubicBezTo>
                  <a:pt x="0" y="34678"/>
                  <a:pt x="34678" y="0"/>
                  <a:pt x="77391" y="0"/>
                </a:cubicBezTo>
                <a:cubicBezTo>
                  <a:pt x="120104" y="0"/>
                  <a:pt x="154781" y="34678"/>
                  <a:pt x="154781" y="77391"/>
                </a:cubicBezTo>
                <a:cubicBezTo>
                  <a:pt x="154781" y="120104"/>
                  <a:pt x="120104" y="154781"/>
                  <a:pt x="77391" y="154781"/>
                </a:cubicBezTo>
                <a:cubicBezTo>
                  <a:pt x="34678" y="154781"/>
                  <a:pt x="0" y="120104"/>
                  <a:pt x="0" y="77391"/>
                </a:cubicBezTo>
                <a:close/>
                <a:moveTo>
                  <a:pt x="87064" y="29021"/>
                </a:moveTo>
                <a:cubicBezTo>
                  <a:pt x="87064" y="23682"/>
                  <a:pt x="82730" y="19348"/>
                  <a:pt x="77391" y="19348"/>
                </a:cubicBezTo>
                <a:cubicBezTo>
                  <a:pt x="72051" y="19348"/>
                  <a:pt x="67717" y="23682"/>
                  <a:pt x="67717" y="29021"/>
                </a:cubicBezTo>
                <a:cubicBezTo>
                  <a:pt x="67717" y="34361"/>
                  <a:pt x="72051" y="38695"/>
                  <a:pt x="77391" y="38695"/>
                </a:cubicBezTo>
                <a:cubicBezTo>
                  <a:pt x="82730" y="38695"/>
                  <a:pt x="87064" y="34361"/>
                  <a:pt x="87064" y="29021"/>
                </a:cubicBezTo>
                <a:close/>
                <a:moveTo>
                  <a:pt x="77391" y="125760"/>
                </a:moveTo>
                <a:cubicBezTo>
                  <a:pt x="88062" y="125760"/>
                  <a:pt x="96738" y="117084"/>
                  <a:pt x="96738" y="106412"/>
                </a:cubicBezTo>
                <a:cubicBezTo>
                  <a:pt x="96738" y="101515"/>
                  <a:pt x="94924" y="97010"/>
                  <a:pt x="91901" y="93625"/>
                </a:cubicBezTo>
                <a:lnTo>
                  <a:pt x="112912" y="51634"/>
                </a:lnTo>
                <a:cubicBezTo>
                  <a:pt x="114695" y="48037"/>
                  <a:pt x="113244" y="43683"/>
                  <a:pt x="109677" y="41900"/>
                </a:cubicBezTo>
                <a:cubicBezTo>
                  <a:pt x="106110" y="40116"/>
                  <a:pt x="101726" y="41567"/>
                  <a:pt x="99943" y="45134"/>
                </a:cubicBezTo>
                <a:lnTo>
                  <a:pt x="78932" y="87125"/>
                </a:lnTo>
                <a:cubicBezTo>
                  <a:pt x="78418" y="87095"/>
                  <a:pt x="77905" y="87064"/>
                  <a:pt x="77391" y="87064"/>
                </a:cubicBezTo>
                <a:cubicBezTo>
                  <a:pt x="66719" y="87064"/>
                  <a:pt x="58043" y="95741"/>
                  <a:pt x="58043" y="106412"/>
                </a:cubicBezTo>
                <a:cubicBezTo>
                  <a:pt x="58043" y="117084"/>
                  <a:pt x="66719" y="125760"/>
                  <a:pt x="77391" y="125760"/>
                </a:cubicBezTo>
                <a:close/>
                <a:moveTo>
                  <a:pt x="53206" y="43532"/>
                </a:moveTo>
                <a:cubicBezTo>
                  <a:pt x="53206" y="38193"/>
                  <a:pt x="48871" y="33858"/>
                  <a:pt x="43532" y="33858"/>
                </a:cubicBezTo>
                <a:cubicBezTo>
                  <a:pt x="38193" y="33858"/>
                  <a:pt x="33858" y="38193"/>
                  <a:pt x="33858" y="43532"/>
                </a:cubicBezTo>
                <a:cubicBezTo>
                  <a:pt x="33858" y="48871"/>
                  <a:pt x="38193" y="53206"/>
                  <a:pt x="43532" y="53206"/>
                </a:cubicBezTo>
                <a:cubicBezTo>
                  <a:pt x="48871" y="53206"/>
                  <a:pt x="53206" y="48871"/>
                  <a:pt x="53206" y="43532"/>
                </a:cubicBezTo>
                <a:close/>
                <a:moveTo>
                  <a:pt x="29021" y="87064"/>
                </a:moveTo>
                <a:cubicBezTo>
                  <a:pt x="34361" y="87064"/>
                  <a:pt x="38695" y="82730"/>
                  <a:pt x="38695" y="77391"/>
                </a:cubicBezTo>
                <a:cubicBezTo>
                  <a:pt x="38695" y="72051"/>
                  <a:pt x="34361" y="67717"/>
                  <a:pt x="29021" y="67717"/>
                </a:cubicBezTo>
                <a:cubicBezTo>
                  <a:pt x="23682" y="67717"/>
                  <a:pt x="19348" y="72051"/>
                  <a:pt x="19348" y="77391"/>
                </a:cubicBezTo>
                <a:cubicBezTo>
                  <a:pt x="19348" y="82730"/>
                  <a:pt x="23682" y="87064"/>
                  <a:pt x="29021" y="87064"/>
                </a:cubicBezTo>
                <a:close/>
                <a:moveTo>
                  <a:pt x="135434" y="77391"/>
                </a:moveTo>
                <a:cubicBezTo>
                  <a:pt x="135434" y="72051"/>
                  <a:pt x="131099" y="67717"/>
                  <a:pt x="125760" y="67717"/>
                </a:cubicBezTo>
                <a:cubicBezTo>
                  <a:pt x="120421" y="67717"/>
                  <a:pt x="116086" y="72051"/>
                  <a:pt x="116086" y="77391"/>
                </a:cubicBezTo>
                <a:cubicBezTo>
                  <a:pt x="116086" y="82730"/>
                  <a:pt x="120421" y="87064"/>
                  <a:pt x="125760" y="87064"/>
                </a:cubicBezTo>
                <a:cubicBezTo>
                  <a:pt x="131099" y="87064"/>
                  <a:pt x="135434" y="82730"/>
                  <a:pt x="135434" y="7739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6503194" y="3174206"/>
            <a:ext cx="52304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Benefits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6981" y="3514725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8" name="Text 56"/>
          <p:cNvSpPr/>
          <p:nvPr/>
        </p:nvSpPr>
        <p:spPr>
          <a:xfrm>
            <a:off x="6529388" y="3483769"/>
            <a:ext cx="38623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Streamlined Workflows: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data synchronization across clinics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26981" y="3762375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0" name="Text 58"/>
          <p:cNvSpPr/>
          <p:nvPr/>
        </p:nvSpPr>
        <p:spPr>
          <a:xfrm>
            <a:off x="6529388" y="3731419"/>
            <a:ext cx="3557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Regulatory Compliance: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Built-in HIPAA safeguards and audit trails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26981" y="4010025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2" name="Text 60"/>
          <p:cNvSpPr/>
          <p:nvPr/>
        </p:nvSpPr>
        <p:spPr>
          <a:xfrm>
            <a:off x="6529388" y="3979069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 for unlimited clinic expansion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26981" y="4257675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4" name="Text 62"/>
          <p:cNvSpPr/>
          <p:nvPr/>
        </p:nvSpPr>
        <p:spPr>
          <a:xfrm>
            <a:off x="6529388" y="4226719"/>
            <a:ext cx="29956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Population health insights and reporting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6981" y="4505325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cubicBezTo>
                  <a:pt x="96083" y="123825"/>
                  <a:pt x="123825" y="96083"/>
                  <a:pt x="123825" y="61912"/>
                </a:cubicBezTo>
                <a:cubicBezTo>
                  <a:pt x="123825" y="27742"/>
                  <a:pt x="96083" y="0"/>
                  <a:pt x="61912" y="0"/>
                </a:cubicBezTo>
                <a:cubicBezTo>
                  <a:pt x="27742" y="0"/>
                  <a:pt x="0" y="27742"/>
                  <a:pt x="0" y="61912"/>
                </a:cubicBezTo>
                <a:cubicBezTo>
                  <a:pt x="0" y="96083"/>
                  <a:pt x="27742" y="123825"/>
                  <a:pt x="61912" y="123825"/>
                </a:cubicBezTo>
                <a:close/>
                <a:moveTo>
                  <a:pt x="82324" y="51441"/>
                </a:moveTo>
                <a:lnTo>
                  <a:pt x="62977" y="82397"/>
                </a:lnTo>
                <a:cubicBezTo>
                  <a:pt x="61961" y="84017"/>
                  <a:pt x="60220" y="85033"/>
                  <a:pt x="58309" y="85130"/>
                </a:cubicBezTo>
                <a:cubicBezTo>
                  <a:pt x="56398" y="85226"/>
                  <a:pt x="54560" y="84356"/>
                  <a:pt x="53424" y="82808"/>
                </a:cubicBezTo>
                <a:lnTo>
                  <a:pt x="41815" y="67330"/>
                </a:lnTo>
                <a:cubicBezTo>
                  <a:pt x="39880" y="64766"/>
                  <a:pt x="40412" y="61139"/>
                  <a:pt x="42976" y="59204"/>
                </a:cubicBezTo>
                <a:cubicBezTo>
                  <a:pt x="45540" y="57269"/>
                  <a:pt x="49167" y="57801"/>
                  <a:pt x="51102" y="60365"/>
                </a:cubicBezTo>
                <a:lnTo>
                  <a:pt x="57632" y="69071"/>
                </a:lnTo>
                <a:lnTo>
                  <a:pt x="72481" y="45298"/>
                </a:lnTo>
                <a:cubicBezTo>
                  <a:pt x="74174" y="42589"/>
                  <a:pt x="77753" y="41743"/>
                  <a:pt x="80486" y="43460"/>
                </a:cubicBezTo>
                <a:cubicBezTo>
                  <a:pt x="83219" y="45177"/>
                  <a:pt x="84041" y="48732"/>
                  <a:pt x="82324" y="514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6" name="Text 64"/>
          <p:cNvSpPr/>
          <p:nvPr/>
        </p:nvSpPr>
        <p:spPr>
          <a:xfrm>
            <a:off x="6529388" y="4474369"/>
            <a:ext cx="3176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Interoperability:</a:t>
            </a:r>
            <a:pPr>
              <a:lnSpc>
                <a:spcPct val="13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HL7 FHIR support for external integrations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57913" y="5053013"/>
            <a:ext cx="5657850" cy="1428750"/>
          </a:xfrm>
          <a:custGeom>
            <a:avLst/>
            <a:gdLst/>
            <a:ahLst/>
            <a:cxnLst/>
            <a:rect l="l" t="t" r="r" b="b"/>
            <a:pathLst>
              <a:path w="5657850" h="1428750">
                <a:moveTo>
                  <a:pt x="61908" y="0"/>
                </a:moveTo>
                <a:lnTo>
                  <a:pt x="5595942" y="0"/>
                </a:lnTo>
                <a:cubicBezTo>
                  <a:pt x="5630133" y="0"/>
                  <a:pt x="5657850" y="27717"/>
                  <a:pt x="5657850" y="61908"/>
                </a:cubicBezTo>
                <a:lnTo>
                  <a:pt x="5657850" y="1366842"/>
                </a:lnTo>
                <a:cubicBezTo>
                  <a:pt x="5657850" y="1401033"/>
                  <a:pt x="5630133" y="1428750"/>
                  <a:pt x="5595942" y="1428750"/>
                </a:cubicBezTo>
                <a:lnTo>
                  <a:pt x="61908" y="1428750"/>
                </a:lnTo>
                <a:cubicBezTo>
                  <a:pt x="27717" y="1428750"/>
                  <a:pt x="0" y="1401033"/>
                  <a:pt x="0" y="1366842"/>
                </a:cubicBezTo>
                <a:lnTo>
                  <a:pt x="0" y="61908"/>
                </a:lnTo>
                <a:cubicBezTo>
                  <a:pt x="0" y="27740"/>
                  <a:pt x="27740" y="0"/>
                  <a:pt x="619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312694" y="5207794"/>
            <a:ext cx="54131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7" b="1" dirty="0">
                <a:solidFill>
                  <a:srgbClr val="2C5F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Decision Support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12694" y="5517356"/>
            <a:ext cx="5405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provides intelligent alerts for drug interactions, allergy warnings, and care gap reminders based on complete patient history.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31967" y="6034088"/>
            <a:ext cx="94804" cy="108347"/>
          </a:xfrm>
          <a:custGeom>
            <a:avLst/>
            <a:gdLst/>
            <a:ahLst/>
            <a:cxnLst/>
            <a:rect l="l" t="t" r="r" b="b"/>
            <a:pathLst>
              <a:path w="94804" h="108347">
                <a:moveTo>
                  <a:pt x="47402" y="0"/>
                </a:moveTo>
                <a:cubicBezTo>
                  <a:pt x="43656" y="0"/>
                  <a:pt x="40630" y="3026"/>
                  <a:pt x="40630" y="6772"/>
                </a:cubicBezTo>
                <a:lnTo>
                  <a:pt x="40630" y="7449"/>
                </a:lnTo>
                <a:cubicBezTo>
                  <a:pt x="25182" y="10581"/>
                  <a:pt x="13543" y="24251"/>
                  <a:pt x="13543" y="40630"/>
                </a:cubicBezTo>
                <a:lnTo>
                  <a:pt x="13543" y="45222"/>
                </a:lnTo>
                <a:cubicBezTo>
                  <a:pt x="13543" y="55401"/>
                  <a:pt x="10073" y="65283"/>
                  <a:pt x="3724" y="73240"/>
                </a:cubicBezTo>
                <a:lnTo>
                  <a:pt x="1651" y="75822"/>
                </a:lnTo>
                <a:cubicBezTo>
                  <a:pt x="571" y="77155"/>
                  <a:pt x="0" y="78805"/>
                  <a:pt x="0" y="80520"/>
                </a:cubicBezTo>
                <a:cubicBezTo>
                  <a:pt x="0" y="84667"/>
                  <a:pt x="3365" y="88032"/>
                  <a:pt x="7512" y="88032"/>
                </a:cubicBezTo>
                <a:lnTo>
                  <a:pt x="87270" y="88032"/>
                </a:lnTo>
                <a:cubicBezTo>
                  <a:pt x="91418" y="88032"/>
                  <a:pt x="94782" y="84667"/>
                  <a:pt x="94782" y="80520"/>
                </a:cubicBezTo>
                <a:cubicBezTo>
                  <a:pt x="94782" y="78805"/>
                  <a:pt x="94211" y="77155"/>
                  <a:pt x="93132" y="75822"/>
                </a:cubicBezTo>
                <a:lnTo>
                  <a:pt x="91058" y="73240"/>
                </a:lnTo>
                <a:cubicBezTo>
                  <a:pt x="84731" y="65283"/>
                  <a:pt x="81260" y="55401"/>
                  <a:pt x="81260" y="45222"/>
                </a:cubicBezTo>
                <a:lnTo>
                  <a:pt x="81260" y="40630"/>
                </a:lnTo>
                <a:cubicBezTo>
                  <a:pt x="81260" y="24251"/>
                  <a:pt x="69621" y="10581"/>
                  <a:pt x="54173" y="7449"/>
                </a:cubicBezTo>
                <a:lnTo>
                  <a:pt x="54173" y="6772"/>
                </a:lnTo>
                <a:cubicBezTo>
                  <a:pt x="54173" y="3026"/>
                  <a:pt x="51147" y="0"/>
                  <a:pt x="47402" y="0"/>
                </a:cubicBezTo>
                <a:close/>
                <a:moveTo>
                  <a:pt x="34282" y="98189"/>
                </a:moveTo>
                <a:cubicBezTo>
                  <a:pt x="35784" y="104030"/>
                  <a:pt x="41096" y="108347"/>
                  <a:pt x="47402" y="108347"/>
                </a:cubicBezTo>
                <a:cubicBezTo>
                  <a:pt x="53708" y="108347"/>
                  <a:pt x="59019" y="104030"/>
                  <a:pt x="60522" y="98189"/>
                </a:cubicBezTo>
                <a:lnTo>
                  <a:pt x="34282" y="9818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1" name="Text 69"/>
          <p:cNvSpPr/>
          <p:nvPr/>
        </p:nvSpPr>
        <p:spPr>
          <a:xfrm>
            <a:off x="6509981" y="6012656"/>
            <a:ext cx="1149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clinical alerts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38739" y="6188869"/>
            <a:ext cx="81260" cy="108347"/>
          </a:xfrm>
          <a:custGeom>
            <a:avLst/>
            <a:gdLst/>
            <a:ahLst/>
            <a:cxnLst/>
            <a:rect l="l" t="t" r="r" b="b"/>
            <a:pathLst>
              <a:path w="81260" h="108347">
                <a:moveTo>
                  <a:pt x="61982" y="81260"/>
                </a:moveTo>
                <a:cubicBezTo>
                  <a:pt x="63527" y="76541"/>
                  <a:pt x="66616" y="72267"/>
                  <a:pt x="70108" y="68584"/>
                </a:cubicBezTo>
                <a:cubicBezTo>
                  <a:pt x="77028" y="61305"/>
                  <a:pt x="81260" y="51465"/>
                  <a:pt x="81260" y="40630"/>
                </a:cubicBezTo>
                <a:cubicBezTo>
                  <a:pt x="81260" y="18199"/>
                  <a:pt x="63061" y="0"/>
                  <a:pt x="40630" y="0"/>
                </a:cubicBezTo>
                <a:cubicBezTo>
                  <a:pt x="18199" y="0"/>
                  <a:pt x="0" y="18199"/>
                  <a:pt x="0" y="40630"/>
                </a:cubicBezTo>
                <a:cubicBezTo>
                  <a:pt x="0" y="51465"/>
                  <a:pt x="4232" y="61305"/>
                  <a:pt x="11152" y="68584"/>
                </a:cubicBezTo>
                <a:cubicBezTo>
                  <a:pt x="14644" y="72267"/>
                  <a:pt x="17754" y="76541"/>
                  <a:pt x="19278" y="81260"/>
                </a:cubicBezTo>
                <a:lnTo>
                  <a:pt x="61961" y="81260"/>
                </a:lnTo>
                <a:close/>
                <a:moveTo>
                  <a:pt x="60945" y="91418"/>
                </a:moveTo>
                <a:lnTo>
                  <a:pt x="20315" y="91418"/>
                </a:lnTo>
                <a:lnTo>
                  <a:pt x="20315" y="94804"/>
                </a:lnTo>
                <a:cubicBezTo>
                  <a:pt x="20315" y="104157"/>
                  <a:pt x="27891" y="111733"/>
                  <a:pt x="37244" y="111733"/>
                </a:cubicBezTo>
                <a:lnTo>
                  <a:pt x="44016" y="111733"/>
                </a:lnTo>
                <a:cubicBezTo>
                  <a:pt x="53369" y="111733"/>
                  <a:pt x="60945" y="104157"/>
                  <a:pt x="60945" y="94804"/>
                </a:cubicBezTo>
                <a:lnTo>
                  <a:pt x="60945" y="91418"/>
                </a:lnTo>
                <a:close/>
                <a:moveTo>
                  <a:pt x="38937" y="23701"/>
                </a:moveTo>
                <a:cubicBezTo>
                  <a:pt x="30515" y="23701"/>
                  <a:pt x="23701" y="30515"/>
                  <a:pt x="23701" y="38937"/>
                </a:cubicBezTo>
                <a:cubicBezTo>
                  <a:pt x="23701" y="41752"/>
                  <a:pt x="21437" y="44016"/>
                  <a:pt x="18622" y="44016"/>
                </a:cubicBezTo>
                <a:cubicBezTo>
                  <a:pt x="15808" y="44016"/>
                  <a:pt x="13543" y="41752"/>
                  <a:pt x="13543" y="38937"/>
                </a:cubicBezTo>
                <a:cubicBezTo>
                  <a:pt x="13543" y="24907"/>
                  <a:pt x="24907" y="13543"/>
                  <a:pt x="38937" y="13543"/>
                </a:cubicBezTo>
                <a:cubicBezTo>
                  <a:pt x="41752" y="13543"/>
                  <a:pt x="44016" y="15808"/>
                  <a:pt x="44016" y="18622"/>
                </a:cubicBezTo>
                <a:cubicBezTo>
                  <a:pt x="44016" y="21437"/>
                  <a:pt x="41752" y="23701"/>
                  <a:pt x="38937" y="2370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3" name="Text 71"/>
          <p:cNvSpPr/>
          <p:nvPr/>
        </p:nvSpPr>
        <p:spPr>
          <a:xfrm>
            <a:off x="6509981" y="6167438"/>
            <a:ext cx="13114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guidelines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5902edcc1dcb2b5ac3dd4cf330d627d270547be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C5F7C">
                  <a:alpha val="95000"/>
                </a:srgbClr>
              </a:gs>
              <a:gs pos="50000">
                <a:srgbClr val="5A8A9F">
                  <a:alpha val="90000"/>
                </a:srgbClr>
              </a:gs>
              <a:gs pos="100000">
                <a:srgbClr val="4DB6AC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8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b="1" spc="8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597694"/>
            <a:ext cx="1161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925" b="1" dirty="0">
                <a:solidFill>
                  <a:srgbClr val="E9ECE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 &amp; Future Directions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810" y="1158716"/>
            <a:ext cx="6741795" cy="2703195"/>
          </a:xfrm>
          <a:custGeom>
            <a:avLst/>
            <a:gdLst/>
            <a:ahLst/>
            <a:cxnLst/>
            <a:rect l="l" t="t" r="r" b="b"/>
            <a:pathLst>
              <a:path w="6741795" h="2703195">
                <a:moveTo>
                  <a:pt x="61903" y="0"/>
                </a:moveTo>
                <a:lnTo>
                  <a:pt x="6679892" y="0"/>
                </a:lnTo>
                <a:cubicBezTo>
                  <a:pt x="6714080" y="0"/>
                  <a:pt x="6741795" y="27715"/>
                  <a:pt x="6741795" y="61903"/>
                </a:cubicBezTo>
                <a:lnTo>
                  <a:pt x="6741795" y="2641292"/>
                </a:lnTo>
                <a:cubicBezTo>
                  <a:pt x="6741795" y="2675480"/>
                  <a:pt x="6714080" y="2703195"/>
                  <a:pt x="6679892" y="2703195"/>
                </a:cubicBezTo>
                <a:lnTo>
                  <a:pt x="61903" y="2703195"/>
                </a:lnTo>
                <a:cubicBezTo>
                  <a:pt x="27715" y="2703195"/>
                  <a:pt x="0" y="2675480"/>
                  <a:pt x="0" y="2641292"/>
                </a:cubicBezTo>
                <a:lnTo>
                  <a:pt x="0" y="61903"/>
                </a:lnTo>
                <a:cubicBezTo>
                  <a:pt x="0" y="27715"/>
                  <a:pt x="27715" y="0"/>
                  <a:pt x="619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5789" y="1381488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92869" y="185738"/>
                </a:moveTo>
                <a:cubicBezTo>
                  <a:pt x="144124" y="185738"/>
                  <a:pt x="185738" y="144124"/>
                  <a:pt x="185738" y="92869"/>
                </a:cubicBezTo>
                <a:cubicBezTo>
                  <a:pt x="185738" y="41613"/>
                  <a:pt x="144124" y="0"/>
                  <a:pt x="92869" y="0"/>
                </a:cubicBezTo>
                <a:cubicBezTo>
                  <a:pt x="41613" y="0"/>
                  <a:pt x="0" y="41613"/>
                  <a:pt x="0" y="92869"/>
                </a:cubicBezTo>
                <a:cubicBezTo>
                  <a:pt x="0" y="144124"/>
                  <a:pt x="41613" y="185738"/>
                  <a:pt x="92869" y="185738"/>
                </a:cubicBezTo>
                <a:close/>
                <a:moveTo>
                  <a:pt x="123486" y="77161"/>
                </a:moveTo>
                <a:lnTo>
                  <a:pt x="94465" y="123595"/>
                </a:lnTo>
                <a:cubicBezTo>
                  <a:pt x="92941" y="126026"/>
                  <a:pt x="90329" y="127549"/>
                  <a:pt x="87463" y="127695"/>
                </a:cubicBezTo>
                <a:cubicBezTo>
                  <a:pt x="84598" y="127840"/>
                  <a:pt x="81841" y="126534"/>
                  <a:pt x="80136" y="124212"/>
                </a:cubicBezTo>
                <a:lnTo>
                  <a:pt x="62723" y="100995"/>
                </a:lnTo>
                <a:cubicBezTo>
                  <a:pt x="59821" y="97149"/>
                  <a:pt x="60619" y="91708"/>
                  <a:pt x="64464" y="88806"/>
                </a:cubicBezTo>
                <a:cubicBezTo>
                  <a:pt x="68309" y="85904"/>
                  <a:pt x="73751" y="86702"/>
                  <a:pt x="76653" y="90547"/>
                </a:cubicBezTo>
                <a:lnTo>
                  <a:pt x="86448" y="103607"/>
                </a:lnTo>
                <a:lnTo>
                  <a:pt x="108722" y="67947"/>
                </a:lnTo>
                <a:cubicBezTo>
                  <a:pt x="111261" y="63884"/>
                  <a:pt x="116630" y="62614"/>
                  <a:pt x="120729" y="65190"/>
                </a:cubicBezTo>
                <a:cubicBezTo>
                  <a:pt x="124829" y="67765"/>
                  <a:pt x="126062" y="73098"/>
                  <a:pt x="123486" y="7719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5"/>
          <p:cNvSpPr/>
          <p:nvPr/>
        </p:nvSpPr>
        <p:spPr>
          <a:xfrm>
            <a:off x="802957" y="1348262"/>
            <a:ext cx="62269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63" b="1" dirty="0">
                <a:solidFill>
                  <a:srgbClr val="E9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Contribution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4357" y="1719625"/>
            <a:ext cx="6432352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7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delivers a </a:t>
            </a:r>
            <a:pPr>
              <a:lnSpc>
                <a:spcPct val="140000"/>
              </a:lnSpc>
            </a:pPr>
            <a:r>
              <a:rPr lang="en-US" sz="1097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robust, HIPAA-compliant database system</a:t>
            </a:r>
            <a:pPr>
              <a:lnSpc>
                <a:spcPct val="140000"/>
              </a:lnSpc>
            </a:pPr>
            <a:r>
              <a:rPr lang="en-US" sz="1097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addresses the critical challenge of fragmented medical records in multi-clinic environments. By centralizing patient data while maintaining strict security controls, the system enables: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4357" y="2522460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00266" y="2695101"/>
            <a:ext cx="162520" cy="185738"/>
          </a:xfrm>
          <a:custGeom>
            <a:avLst/>
            <a:gdLst/>
            <a:ahLst/>
            <a:cxnLst/>
            <a:rect l="l" t="t" r="r" b="b"/>
            <a:pathLst>
              <a:path w="162520" h="185738">
                <a:moveTo>
                  <a:pt x="162520" y="74658"/>
                </a:moveTo>
                <a:cubicBezTo>
                  <a:pt x="157151" y="78213"/>
                  <a:pt x="150984" y="81079"/>
                  <a:pt x="144563" y="83364"/>
                </a:cubicBezTo>
                <a:cubicBezTo>
                  <a:pt x="127513" y="89459"/>
                  <a:pt x="105130" y="92869"/>
                  <a:pt x="81260" y="92869"/>
                </a:cubicBezTo>
                <a:cubicBezTo>
                  <a:pt x="57390" y="92869"/>
                  <a:pt x="34971" y="89422"/>
                  <a:pt x="17957" y="83364"/>
                </a:cubicBezTo>
                <a:cubicBezTo>
                  <a:pt x="11572" y="81079"/>
                  <a:pt x="5369" y="78213"/>
                  <a:pt x="0" y="74658"/>
                </a:cubicBezTo>
                <a:lnTo>
                  <a:pt x="0" y="104477"/>
                </a:lnTo>
                <a:cubicBezTo>
                  <a:pt x="0" y="120512"/>
                  <a:pt x="36386" y="133499"/>
                  <a:pt x="81260" y="133499"/>
                </a:cubicBezTo>
                <a:cubicBezTo>
                  <a:pt x="126135" y="133499"/>
                  <a:pt x="162520" y="120512"/>
                  <a:pt x="162520" y="104477"/>
                </a:cubicBezTo>
                <a:lnTo>
                  <a:pt x="162520" y="74658"/>
                </a:lnTo>
                <a:close/>
                <a:moveTo>
                  <a:pt x="162520" y="46434"/>
                </a:moveTo>
                <a:lnTo>
                  <a:pt x="162520" y="29021"/>
                </a:lnTo>
                <a:cubicBezTo>
                  <a:pt x="162520" y="12987"/>
                  <a:pt x="126135" y="0"/>
                  <a:pt x="81260" y="0"/>
                </a:cubicBezTo>
                <a:cubicBezTo>
                  <a:pt x="36386" y="0"/>
                  <a:pt x="0" y="12987"/>
                  <a:pt x="0" y="29021"/>
                </a:cubicBezTo>
                <a:lnTo>
                  <a:pt x="0" y="46434"/>
                </a:lnTo>
                <a:cubicBezTo>
                  <a:pt x="0" y="62469"/>
                  <a:pt x="36386" y="75456"/>
                  <a:pt x="81260" y="75456"/>
                </a:cubicBezTo>
                <a:cubicBezTo>
                  <a:pt x="126135" y="75456"/>
                  <a:pt x="162520" y="62469"/>
                  <a:pt x="162520" y="46434"/>
                </a:cubicBezTo>
                <a:close/>
                <a:moveTo>
                  <a:pt x="144563" y="141407"/>
                </a:moveTo>
                <a:cubicBezTo>
                  <a:pt x="127549" y="147465"/>
                  <a:pt x="105167" y="150912"/>
                  <a:pt x="81260" y="150912"/>
                </a:cubicBezTo>
                <a:cubicBezTo>
                  <a:pt x="57354" y="150912"/>
                  <a:pt x="34971" y="147465"/>
                  <a:pt x="17957" y="141407"/>
                </a:cubicBezTo>
                <a:cubicBezTo>
                  <a:pt x="11572" y="139122"/>
                  <a:pt x="5369" y="136256"/>
                  <a:pt x="0" y="132701"/>
                </a:cubicBezTo>
                <a:lnTo>
                  <a:pt x="0" y="156716"/>
                </a:lnTo>
                <a:cubicBezTo>
                  <a:pt x="0" y="172750"/>
                  <a:pt x="36386" y="185738"/>
                  <a:pt x="81260" y="185738"/>
                </a:cubicBezTo>
                <a:cubicBezTo>
                  <a:pt x="126135" y="185738"/>
                  <a:pt x="162520" y="172750"/>
                  <a:pt x="162520" y="156716"/>
                </a:cubicBezTo>
                <a:lnTo>
                  <a:pt x="162520" y="132701"/>
                </a:lnTo>
                <a:cubicBezTo>
                  <a:pt x="157151" y="136256"/>
                  <a:pt x="150984" y="139122"/>
                  <a:pt x="144563" y="14140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9"/>
          <p:cNvSpPr/>
          <p:nvPr/>
        </p:nvSpPr>
        <p:spPr>
          <a:xfrm>
            <a:off x="992267" y="2615329"/>
            <a:ext cx="1738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Data Integration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92267" y="2801066"/>
            <a:ext cx="17305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patient history across clinics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00713" y="2522460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915013" y="2695101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92869" y="0"/>
                </a:moveTo>
                <a:cubicBezTo>
                  <a:pt x="94537" y="0"/>
                  <a:pt x="96206" y="363"/>
                  <a:pt x="97730" y="1052"/>
                </a:cubicBezTo>
                <a:lnTo>
                  <a:pt x="166075" y="30037"/>
                </a:lnTo>
                <a:cubicBezTo>
                  <a:pt x="174056" y="33411"/>
                  <a:pt x="180006" y="41283"/>
                  <a:pt x="179969" y="50788"/>
                </a:cubicBezTo>
                <a:cubicBezTo>
                  <a:pt x="179788" y="86774"/>
                  <a:pt x="164987" y="152617"/>
                  <a:pt x="102482" y="182545"/>
                </a:cubicBezTo>
                <a:cubicBezTo>
                  <a:pt x="96424" y="185447"/>
                  <a:pt x="89386" y="185447"/>
                  <a:pt x="83328" y="182545"/>
                </a:cubicBezTo>
                <a:cubicBezTo>
                  <a:pt x="20787" y="152617"/>
                  <a:pt x="6022" y="86774"/>
                  <a:pt x="5841" y="50788"/>
                </a:cubicBezTo>
                <a:cubicBezTo>
                  <a:pt x="5804" y="41283"/>
                  <a:pt x="11754" y="33411"/>
                  <a:pt x="19735" y="30037"/>
                </a:cubicBezTo>
                <a:lnTo>
                  <a:pt x="88044" y="1052"/>
                </a:lnTo>
                <a:cubicBezTo>
                  <a:pt x="89568" y="363"/>
                  <a:pt x="91200" y="0"/>
                  <a:pt x="92869" y="0"/>
                </a:cubicBezTo>
                <a:close/>
                <a:moveTo>
                  <a:pt x="92869" y="24233"/>
                </a:moveTo>
                <a:lnTo>
                  <a:pt x="92869" y="161396"/>
                </a:lnTo>
                <a:cubicBezTo>
                  <a:pt x="142931" y="137163"/>
                  <a:pt x="156390" y="83473"/>
                  <a:pt x="156716" y="51332"/>
                </a:cubicBezTo>
                <a:lnTo>
                  <a:pt x="92869" y="24269"/>
                </a:lnTo>
                <a:lnTo>
                  <a:pt x="92869" y="2426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Text 13"/>
          <p:cNvSpPr/>
          <p:nvPr/>
        </p:nvSpPr>
        <p:spPr>
          <a:xfrm>
            <a:off x="4218622" y="2615329"/>
            <a:ext cx="19478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Compliance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218622" y="2801066"/>
            <a:ext cx="19401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 encryption + HIPAA safeguards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4357" y="3141585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88658" y="3314226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92869" y="39143"/>
                </a:moveTo>
                <a:lnTo>
                  <a:pt x="87427" y="31597"/>
                </a:lnTo>
                <a:cubicBezTo>
                  <a:pt x="78358" y="19045"/>
                  <a:pt x="63811" y="11609"/>
                  <a:pt x="48284" y="11609"/>
                </a:cubicBezTo>
                <a:cubicBezTo>
                  <a:pt x="21621" y="11609"/>
                  <a:pt x="0" y="33230"/>
                  <a:pt x="0" y="59893"/>
                </a:cubicBezTo>
                <a:lnTo>
                  <a:pt x="0" y="60836"/>
                </a:lnTo>
                <a:cubicBezTo>
                  <a:pt x="0" y="69398"/>
                  <a:pt x="2249" y="78249"/>
                  <a:pt x="6022" y="87064"/>
                </a:cubicBezTo>
                <a:lnTo>
                  <a:pt x="44475" y="87064"/>
                </a:lnTo>
                <a:cubicBezTo>
                  <a:pt x="45636" y="87064"/>
                  <a:pt x="46688" y="86375"/>
                  <a:pt x="47160" y="85287"/>
                </a:cubicBezTo>
                <a:lnTo>
                  <a:pt x="58696" y="57608"/>
                </a:lnTo>
                <a:cubicBezTo>
                  <a:pt x="60038" y="54415"/>
                  <a:pt x="63158" y="52311"/>
                  <a:pt x="66604" y="52239"/>
                </a:cubicBezTo>
                <a:cubicBezTo>
                  <a:pt x="70051" y="52166"/>
                  <a:pt x="73243" y="54198"/>
                  <a:pt x="74658" y="57354"/>
                </a:cubicBezTo>
                <a:lnTo>
                  <a:pt x="93268" y="98673"/>
                </a:lnTo>
                <a:lnTo>
                  <a:pt x="108286" y="68636"/>
                </a:lnTo>
                <a:cubicBezTo>
                  <a:pt x="109774" y="65697"/>
                  <a:pt x="112785" y="63811"/>
                  <a:pt x="116086" y="63811"/>
                </a:cubicBezTo>
                <a:cubicBezTo>
                  <a:pt x="119387" y="63811"/>
                  <a:pt x="122398" y="65661"/>
                  <a:pt x="123885" y="68636"/>
                </a:cubicBezTo>
                <a:lnTo>
                  <a:pt x="132302" y="85432"/>
                </a:lnTo>
                <a:cubicBezTo>
                  <a:pt x="132810" y="86411"/>
                  <a:pt x="133789" y="87028"/>
                  <a:pt x="134914" y="87028"/>
                </a:cubicBezTo>
                <a:lnTo>
                  <a:pt x="179752" y="87028"/>
                </a:lnTo>
                <a:cubicBezTo>
                  <a:pt x="183561" y="78213"/>
                  <a:pt x="185774" y="69361"/>
                  <a:pt x="185774" y="60800"/>
                </a:cubicBezTo>
                <a:lnTo>
                  <a:pt x="185774" y="59857"/>
                </a:lnTo>
                <a:cubicBezTo>
                  <a:pt x="185738" y="33230"/>
                  <a:pt x="164116" y="11609"/>
                  <a:pt x="137453" y="11609"/>
                </a:cubicBezTo>
                <a:cubicBezTo>
                  <a:pt x="121963" y="11609"/>
                  <a:pt x="107379" y="19045"/>
                  <a:pt x="98310" y="31597"/>
                </a:cubicBezTo>
                <a:lnTo>
                  <a:pt x="92869" y="39106"/>
                </a:lnTo>
                <a:close/>
                <a:moveTo>
                  <a:pt x="170356" y="104477"/>
                </a:moveTo>
                <a:lnTo>
                  <a:pt x="134877" y="104477"/>
                </a:lnTo>
                <a:cubicBezTo>
                  <a:pt x="127187" y="104477"/>
                  <a:pt x="120149" y="100124"/>
                  <a:pt x="116703" y="93232"/>
                </a:cubicBezTo>
                <a:lnTo>
                  <a:pt x="116086" y="91998"/>
                </a:lnTo>
                <a:lnTo>
                  <a:pt x="100668" y="122870"/>
                </a:lnTo>
                <a:cubicBezTo>
                  <a:pt x="99181" y="125881"/>
                  <a:pt x="96061" y="127767"/>
                  <a:pt x="92687" y="127695"/>
                </a:cubicBezTo>
                <a:cubicBezTo>
                  <a:pt x="89314" y="127622"/>
                  <a:pt x="86303" y="125627"/>
                  <a:pt x="84924" y="122579"/>
                </a:cubicBezTo>
                <a:lnTo>
                  <a:pt x="67040" y="82856"/>
                </a:lnTo>
                <a:lnTo>
                  <a:pt x="63231" y="91998"/>
                </a:lnTo>
                <a:cubicBezTo>
                  <a:pt x="60074" y="99580"/>
                  <a:pt x="52674" y="104514"/>
                  <a:pt x="44475" y="104514"/>
                </a:cubicBezTo>
                <a:lnTo>
                  <a:pt x="15381" y="104514"/>
                </a:lnTo>
                <a:cubicBezTo>
                  <a:pt x="32504" y="131286"/>
                  <a:pt x="60002" y="155918"/>
                  <a:pt x="77197" y="169050"/>
                </a:cubicBezTo>
                <a:cubicBezTo>
                  <a:pt x="81695" y="172460"/>
                  <a:pt x="87210" y="174165"/>
                  <a:pt x="92832" y="174165"/>
                </a:cubicBezTo>
                <a:cubicBezTo>
                  <a:pt x="98455" y="174165"/>
                  <a:pt x="104006" y="172496"/>
                  <a:pt x="108468" y="169050"/>
                </a:cubicBezTo>
                <a:cubicBezTo>
                  <a:pt x="125736" y="155882"/>
                  <a:pt x="153233" y="131250"/>
                  <a:pt x="170356" y="1044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7"/>
          <p:cNvSpPr/>
          <p:nvPr/>
        </p:nvSpPr>
        <p:spPr>
          <a:xfrm>
            <a:off x="992267" y="3234454"/>
            <a:ext cx="159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Outcomes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92267" y="3420191"/>
            <a:ext cx="15876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errors, faster diagnoses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00713" y="3141585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3903404" y="3314226"/>
            <a:ext cx="208955" cy="185738"/>
          </a:xfrm>
          <a:custGeom>
            <a:avLst/>
            <a:gdLst/>
            <a:ahLst/>
            <a:cxnLst/>
            <a:rect l="l" t="t" r="r" b="b"/>
            <a:pathLst>
              <a:path w="208955" h="185738">
                <a:moveTo>
                  <a:pt x="89967" y="31924"/>
                </a:moveTo>
                <a:lnTo>
                  <a:pt x="118988" y="31924"/>
                </a:lnTo>
                <a:lnTo>
                  <a:pt x="118988" y="49337"/>
                </a:lnTo>
                <a:lnTo>
                  <a:pt x="89967" y="49337"/>
                </a:lnTo>
                <a:lnTo>
                  <a:pt x="89967" y="31924"/>
                </a:lnTo>
                <a:close/>
                <a:moveTo>
                  <a:pt x="87064" y="11609"/>
                </a:moveTo>
                <a:cubicBezTo>
                  <a:pt x="77451" y="11609"/>
                  <a:pt x="69652" y="19408"/>
                  <a:pt x="69652" y="29021"/>
                </a:cubicBezTo>
                <a:lnTo>
                  <a:pt x="69652" y="52239"/>
                </a:lnTo>
                <a:cubicBezTo>
                  <a:pt x="69652" y="61852"/>
                  <a:pt x="77451" y="69652"/>
                  <a:pt x="87064" y="69652"/>
                </a:cubicBezTo>
                <a:lnTo>
                  <a:pt x="92869" y="69652"/>
                </a:lnTo>
                <a:lnTo>
                  <a:pt x="92869" y="81260"/>
                </a:lnTo>
                <a:lnTo>
                  <a:pt x="11609" y="81260"/>
                </a:lnTo>
                <a:cubicBezTo>
                  <a:pt x="5188" y="81260"/>
                  <a:pt x="0" y="86448"/>
                  <a:pt x="0" y="92869"/>
                </a:cubicBezTo>
                <a:cubicBezTo>
                  <a:pt x="0" y="99290"/>
                  <a:pt x="5188" y="104477"/>
                  <a:pt x="11609" y="104477"/>
                </a:cubicBezTo>
                <a:lnTo>
                  <a:pt x="46434" y="104477"/>
                </a:lnTo>
                <a:lnTo>
                  <a:pt x="46434" y="116086"/>
                </a:lnTo>
                <a:lnTo>
                  <a:pt x="40630" y="116086"/>
                </a:lnTo>
                <a:cubicBezTo>
                  <a:pt x="31017" y="116086"/>
                  <a:pt x="23217" y="123885"/>
                  <a:pt x="23217" y="133499"/>
                </a:cubicBezTo>
                <a:lnTo>
                  <a:pt x="23217" y="156716"/>
                </a:lnTo>
                <a:cubicBezTo>
                  <a:pt x="23217" y="166329"/>
                  <a:pt x="31017" y="174129"/>
                  <a:pt x="40630" y="174129"/>
                </a:cubicBezTo>
                <a:lnTo>
                  <a:pt x="75456" y="174129"/>
                </a:lnTo>
                <a:cubicBezTo>
                  <a:pt x="85069" y="174129"/>
                  <a:pt x="92869" y="166329"/>
                  <a:pt x="92869" y="156716"/>
                </a:cubicBezTo>
                <a:lnTo>
                  <a:pt x="92869" y="133499"/>
                </a:lnTo>
                <a:cubicBezTo>
                  <a:pt x="92869" y="123885"/>
                  <a:pt x="85069" y="116086"/>
                  <a:pt x="75456" y="116086"/>
                </a:cubicBezTo>
                <a:lnTo>
                  <a:pt x="69652" y="116086"/>
                </a:lnTo>
                <a:lnTo>
                  <a:pt x="69652" y="104477"/>
                </a:lnTo>
                <a:lnTo>
                  <a:pt x="139303" y="104477"/>
                </a:lnTo>
                <a:lnTo>
                  <a:pt x="139303" y="116086"/>
                </a:lnTo>
                <a:lnTo>
                  <a:pt x="133499" y="116086"/>
                </a:lnTo>
                <a:cubicBezTo>
                  <a:pt x="123885" y="116086"/>
                  <a:pt x="116086" y="123885"/>
                  <a:pt x="116086" y="133499"/>
                </a:cubicBezTo>
                <a:lnTo>
                  <a:pt x="116086" y="156716"/>
                </a:lnTo>
                <a:cubicBezTo>
                  <a:pt x="116086" y="166329"/>
                  <a:pt x="123885" y="174129"/>
                  <a:pt x="133499" y="174129"/>
                </a:cubicBezTo>
                <a:lnTo>
                  <a:pt x="168325" y="174129"/>
                </a:lnTo>
                <a:cubicBezTo>
                  <a:pt x="177938" y="174129"/>
                  <a:pt x="185738" y="166329"/>
                  <a:pt x="185738" y="156716"/>
                </a:cubicBezTo>
                <a:lnTo>
                  <a:pt x="185738" y="133499"/>
                </a:lnTo>
                <a:cubicBezTo>
                  <a:pt x="185738" y="123885"/>
                  <a:pt x="177938" y="116086"/>
                  <a:pt x="168325" y="116086"/>
                </a:cubicBezTo>
                <a:lnTo>
                  <a:pt x="162520" y="116086"/>
                </a:lnTo>
                <a:lnTo>
                  <a:pt x="162520" y="104477"/>
                </a:lnTo>
                <a:lnTo>
                  <a:pt x="197346" y="104477"/>
                </a:lnTo>
                <a:cubicBezTo>
                  <a:pt x="203767" y="104477"/>
                  <a:pt x="208955" y="99290"/>
                  <a:pt x="208955" y="92869"/>
                </a:cubicBezTo>
                <a:cubicBezTo>
                  <a:pt x="208955" y="86448"/>
                  <a:pt x="203767" y="81260"/>
                  <a:pt x="197346" y="81260"/>
                </a:cubicBezTo>
                <a:lnTo>
                  <a:pt x="116086" y="81260"/>
                </a:lnTo>
                <a:lnTo>
                  <a:pt x="116086" y="69652"/>
                </a:lnTo>
                <a:lnTo>
                  <a:pt x="121890" y="69652"/>
                </a:lnTo>
                <a:cubicBezTo>
                  <a:pt x="131504" y="69652"/>
                  <a:pt x="139303" y="61852"/>
                  <a:pt x="139303" y="52239"/>
                </a:cubicBezTo>
                <a:lnTo>
                  <a:pt x="139303" y="29021"/>
                </a:lnTo>
                <a:cubicBezTo>
                  <a:pt x="139303" y="19408"/>
                  <a:pt x="131504" y="11609"/>
                  <a:pt x="121890" y="11609"/>
                </a:cubicBezTo>
                <a:lnTo>
                  <a:pt x="87064" y="11609"/>
                </a:lnTo>
                <a:close/>
                <a:moveTo>
                  <a:pt x="162520" y="136401"/>
                </a:moveTo>
                <a:lnTo>
                  <a:pt x="165422" y="136401"/>
                </a:lnTo>
                <a:lnTo>
                  <a:pt x="165422" y="153814"/>
                </a:lnTo>
                <a:lnTo>
                  <a:pt x="136401" y="153814"/>
                </a:lnTo>
                <a:lnTo>
                  <a:pt x="136401" y="136401"/>
                </a:lnTo>
                <a:lnTo>
                  <a:pt x="162520" y="136401"/>
                </a:lnTo>
                <a:close/>
                <a:moveTo>
                  <a:pt x="69652" y="136401"/>
                </a:moveTo>
                <a:lnTo>
                  <a:pt x="72554" y="136401"/>
                </a:lnTo>
                <a:lnTo>
                  <a:pt x="72554" y="153814"/>
                </a:lnTo>
                <a:lnTo>
                  <a:pt x="43532" y="153814"/>
                </a:lnTo>
                <a:lnTo>
                  <a:pt x="43532" y="136401"/>
                </a:lnTo>
                <a:lnTo>
                  <a:pt x="69652" y="13640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1"/>
          <p:cNvSpPr/>
          <p:nvPr/>
        </p:nvSpPr>
        <p:spPr>
          <a:xfrm>
            <a:off x="4218622" y="3234454"/>
            <a:ext cx="1319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Interoperability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218622" y="3420191"/>
            <a:ext cx="13114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HL7 FHIR standard support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84810" y="3988832"/>
            <a:ext cx="6741795" cy="2512695"/>
          </a:xfrm>
          <a:custGeom>
            <a:avLst/>
            <a:gdLst/>
            <a:ahLst/>
            <a:cxnLst/>
            <a:rect l="l" t="t" r="r" b="b"/>
            <a:pathLst>
              <a:path w="6741795" h="2512695">
                <a:moveTo>
                  <a:pt x="61913" y="0"/>
                </a:moveTo>
                <a:lnTo>
                  <a:pt x="6679882" y="0"/>
                </a:lnTo>
                <a:cubicBezTo>
                  <a:pt x="6714076" y="0"/>
                  <a:pt x="6741795" y="27719"/>
                  <a:pt x="6741795" y="61913"/>
                </a:cubicBezTo>
                <a:lnTo>
                  <a:pt x="6741795" y="2450782"/>
                </a:lnTo>
                <a:cubicBezTo>
                  <a:pt x="6741795" y="2484976"/>
                  <a:pt x="6714076" y="2512695"/>
                  <a:pt x="6679882" y="2512695"/>
                </a:cubicBezTo>
                <a:lnTo>
                  <a:pt x="61913" y="2512695"/>
                </a:lnTo>
                <a:cubicBezTo>
                  <a:pt x="27719" y="2512695"/>
                  <a:pt x="0" y="2484976"/>
                  <a:pt x="0" y="2450782"/>
                </a:cubicBezTo>
                <a:lnTo>
                  <a:pt x="0" y="61913"/>
                </a:lnTo>
                <a:cubicBezTo>
                  <a:pt x="0" y="27742"/>
                  <a:pt x="27742" y="0"/>
                  <a:pt x="619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5789" y="4211603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46434" y="116086"/>
                </a:moveTo>
                <a:lnTo>
                  <a:pt x="8888" y="116086"/>
                </a:lnTo>
                <a:cubicBezTo>
                  <a:pt x="-145" y="116086"/>
                  <a:pt x="-5695" y="106255"/>
                  <a:pt x="-1052" y="98492"/>
                </a:cubicBezTo>
                <a:lnTo>
                  <a:pt x="18138" y="66495"/>
                </a:lnTo>
                <a:cubicBezTo>
                  <a:pt x="21295" y="61235"/>
                  <a:pt x="26954" y="58043"/>
                  <a:pt x="33084" y="58043"/>
                </a:cubicBezTo>
                <a:lnTo>
                  <a:pt x="67548" y="58043"/>
                </a:lnTo>
                <a:cubicBezTo>
                  <a:pt x="95154" y="11282"/>
                  <a:pt x="136328" y="8924"/>
                  <a:pt x="163863" y="12951"/>
                </a:cubicBezTo>
                <a:cubicBezTo>
                  <a:pt x="168506" y="13640"/>
                  <a:pt x="172134" y="17268"/>
                  <a:pt x="172787" y="21875"/>
                </a:cubicBezTo>
                <a:cubicBezTo>
                  <a:pt x="176813" y="49409"/>
                  <a:pt x="174455" y="90583"/>
                  <a:pt x="127695" y="118190"/>
                </a:cubicBezTo>
                <a:lnTo>
                  <a:pt x="127695" y="152653"/>
                </a:lnTo>
                <a:cubicBezTo>
                  <a:pt x="127695" y="158784"/>
                  <a:pt x="124502" y="164443"/>
                  <a:pt x="119242" y="167599"/>
                </a:cubicBezTo>
                <a:lnTo>
                  <a:pt x="87246" y="186790"/>
                </a:lnTo>
                <a:cubicBezTo>
                  <a:pt x="79519" y="191433"/>
                  <a:pt x="69652" y="185846"/>
                  <a:pt x="69652" y="176850"/>
                </a:cubicBezTo>
                <a:lnTo>
                  <a:pt x="69652" y="139303"/>
                </a:lnTo>
                <a:cubicBezTo>
                  <a:pt x="69652" y="126497"/>
                  <a:pt x="59240" y="116086"/>
                  <a:pt x="46434" y="116086"/>
                </a:cubicBezTo>
                <a:lnTo>
                  <a:pt x="46398" y="116086"/>
                </a:lnTo>
                <a:close/>
                <a:moveTo>
                  <a:pt x="145107" y="58043"/>
                </a:moveTo>
                <a:cubicBezTo>
                  <a:pt x="145107" y="48433"/>
                  <a:pt x="137305" y="40630"/>
                  <a:pt x="127695" y="40630"/>
                </a:cubicBezTo>
                <a:cubicBezTo>
                  <a:pt x="118084" y="40630"/>
                  <a:pt x="110282" y="48433"/>
                  <a:pt x="110282" y="58043"/>
                </a:cubicBezTo>
                <a:cubicBezTo>
                  <a:pt x="110282" y="67653"/>
                  <a:pt x="118084" y="75456"/>
                  <a:pt x="127695" y="75456"/>
                </a:cubicBezTo>
                <a:cubicBezTo>
                  <a:pt x="137305" y="75456"/>
                  <a:pt x="145107" y="67653"/>
                  <a:pt x="145107" y="5804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Text 25"/>
          <p:cNvSpPr/>
          <p:nvPr/>
        </p:nvSpPr>
        <p:spPr>
          <a:xfrm>
            <a:off x="802957" y="4178378"/>
            <a:ext cx="62269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63" b="1" dirty="0">
                <a:solidFill>
                  <a:srgbClr val="E9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74357" y="4549741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67226" y="464261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3" y="0"/>
                </a:moveTo>
                <a:lnTo>
                  <a:pt x="157163" y="0"/>
                </a:lnTo>
                <a:cubicBezTo>
                  <a:pt x="243903" y="0"/>
                  <a:pt x="314325" y="70422"/>
                  <a:pt x="314325" y="157163"/>
                </a:cubicBezTo>
                <a:lnTo>
                  <a:pt x="314325" y="157163"/>
                </a:lnTo>
                <a:cubicBezTo>
                  <a:pt x="314325" y="243903"/>
                  <a:pt x="243903" y="314325"/>
                  <a:pt x="1571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Text 28"/>
          <p:cNvSpPr/>
          <p:nvPr/>
        </p:nvSpPr>
        <p:spPr>
          <a:xfrm>
            <a:off x="636270" y="4642610"/>
            <a:ext cx="3762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69658" y="4642610"/>
            <a:ext cx="216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Diagnosis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69658" y="4828347"/>
            <a:ext cx="21591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for clinical decision support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800713" y="4549741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893582" y="464261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3" y="0"/>
                </a:moveTo>
                <a:lnTo>
                  <a:pt x="157163" y="0"/>
                </a:lnTo>
                <a:cubicBezTo>
                  <a:pt x="243903" y="0"/>
                  <a:pt x="314325" y="70422"/>
                  <a:pt x="314325" y="157163"/>
                </a:cubicBezTo>
                <a:lnTo>
                  <a:pt x="314325" y="157163"/>
                </a:lnTo>
                <a:cubicBezTo>
                  <a:pt x="314325" y="243903"/>
                  <a:pt x="243903" y="314325"/>
                  <a:pt x="1571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Shape 33"/>
          <p:cNvSpPr/>
          <p:nvPr/>
        </p:nvSpPr>
        <p:spPr>
          <a:xfrm>
            <a:off x="4000738" y="4735478"/>
            <a:ext cx="92869" cy="123825"/>
          </a:xfrm>
          <a:custGeom>
            <a:avLst/>
            <a:gdLst/>
            <a:ahLst/>
            <a:cxnLst/>
            <a:rect l="l" t="t" r="r" b="b"/>
            <a:pathLst>
              <a:path w="92869" h="123825">
                <a:moveTo>
                  <a:pt x="3870" y="15478"/>
                </a:moveTo>
                <a:cubicBezTo>
                  <a:pt x="3870" y="6941"/>
                  <a:pt x="10811" y="0"/>
                  <a:pt x="19348" y="0"/>
                </a:cubicBezTo>
                <a:lnTo>
                  <a:pt x="73521" y="0"/>
                </a:lnTo>
                <a:cubicBezTo>
                  <a:pt x="82058" y="0"/>
                  <a:pt x="88999" y="6941"/>
                  <a:pt x="88999" y="15478"/>
                </a:cubicBezTo>
                <a:lnTo>
                  <a:pt x="88999" y="108347"/>
                </a:lnTo>
                <a:cubicBezTo>
                  <a:pt x="88999" y="116884"/>
                  <a:pt x="82058" y="123825"/>
                  <a:pt x="73521" y="123825"/>
                </a:cubicBezTo>
                <a:lnTo>
                  <a:pt x="19348" y="123825"/>
                </a:lnTo>
                <a:cubicBezTo>
                  <a:pt x="10811" y="123825"/>
                  <a:pt x="3870" y="116884"/>
                  <a:pt x="3870" y="108347"/>
                </a:cubicBezTo>
                <a:lnTo>
                  <a:pt x="3870" y="15478"/>
                </a:lnTo>
                <a:close/>
                <a:moveTo>
                  <a:pt x="19348" y="15478"/>
                </a:moveTo>
                <a:lnTo>
                  <a:pt x="19348" y="88999"/>
                </a:lnTo>
                <a:lnTo>
                  <a:pt x="73521" y="88999"/>
                </a:lnTo>
                <a:lnTo>
                  <a:pt x="73521" y="15478"/>
                </a:lnTo>
                <a:lnTo>
                  <a:pt x="19348" y="15478"/>
                </a:lnTo>
                <a:close/>
                <a:moveTo>
                  <a:pt x="46434" y="114151"/>
                </a:moveTo>
                <a:cubicBezTo>
                  <a:pt x="50715" y="114151"/>
                  <a:pt x="54173" y="110693"/>
                  <a:pt x="54173" y="106412"/>
                </a:cubicBezTo>
                <a:cubicBezTo>
                  <a:pt x="54173" y="102131"/>
                  <a:pt x="50715" y="98673"/>
                  <a:pt x="46434" y="98673"/>
                </a:cubicBezTo>
                <a:cubicBezTo>
                  <a:pt x="42154" y="98673"/>
                  <a:pt x="38695" y="102131"/>
                  <a:pt x="38695" y="106412"/>
                </a:cubicBezTo>
                <a:cubicBezTo>
                  <a:pt x="38695" y="110693"/>
                  <a:pt x="42154" y="114151"/>
                  <a:pt x="46434" y="1141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4296013" y="4642610"/>
            <a:ext cx="22431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Portal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296013" y="4828347"/>
            <a:ext cx="22353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 for patient access and engagement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74357" y="5168866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67226" y="5261735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3" y="0"/>
                </a:moveTo>
                <a:lnTo>
                  <a:pt x="157163" y="0"/>
                </a:lnTo>
                <a:cubicBezTo>
                  <a:pt x="243903" y="0"/>
                  <a:pt x="314325" y="70422"/>
                  <a:pt x="314325" y="157163"/>
                </a:cubicBezTo>
                <a:lnTo>
                  <a:pt x="314325" y="157163"/>
                </a:lnTo>
                <a:cubicBezTo>
                  <a:pt x="314325" y="243903"/>
                  <a:pt x="243903" y="314325"/>
                  <a:pt x="1571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Shape 38"/>
          <p:cNvSpPr/>
          <p:nvPr/>
        </p:nvSpPr>
        <p:spPr>
          <a:xfrm>
            <a:off x="758904" y="5354603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7739" y="7739"/>
                </a:moveTo>
                <a:cubicBezTo>
                  <a:pt x="12020" y="7739"/>
                  <a:pt x="15478" y="11197"/>
                  <a:pt x="15478" y="15478"/>
                </a:cubicBezTo>
                <a:lnTo>
                  <a:pt x="15478" y="96738"/>
                </a:lnTo>
                <a:cubicBezTo>
                  <a:pt x="15478" y="98867"/>
                  <a:pt x="17219" y="100608"/>
                  <a:pt x="19348" y="100608"/>
                </a:cubicBezTo>
                <a:lnTo>
                  <a:pt x="116086" y="100608"/>
                </a:lnTo>
                <a:cubicBezTo>
                  <a:pt x="120367" y="100608"/>
                  <a:pt x="123825" y="104066"/>
                  <a:pt x="123825" y="108347"/>
                </a:cubicBezTo>
                <a:cubicBezTo>
                  <a:pt x="123825" y="112628"/>
                  <a:pt x="120367" y="116086"/>
                  <a:pt x="116086" y="116086"/>
                </a:cubicBezTo>
                <a:lnTo>
                  <a:pt x="19348" y="116086"/>
                </a:lnTo>
                <a:cubicBezTo>
                  <a:pt x="8658" y="116086"/>
                  <a:pt x="0" y="107428"/>
                  <a:pt x="0" y="96738"/>
                </a:cubicBezTo>
                <a:lnTo>
                  <a:pt x="0" y="15478"/>
                </a:lnTo>
                <a:cubicBezTo>
                  <a:pt x="0" y="11197"/>
                  <a:pt x="3458" y="7739"/>
                  <a:pt x="7739" y="7739"/>
                </a:cubicBezTo>
                <a:close/>
                <a:moveTo>
                  <a:pt x="30956" y="23217"/>
                </a:moveTo>
                <a:cubicBezTo>
                  <a:pt x="30956" y="18937"/>
                  <a:pt x="34415" y="15478"/>
                  <a:pt x="38695" y="15478"/>
                </a:cubicBezTo>
                <a:lnTo>
                  <a:pt x="85130" y="15478"/>
                </a:lnTo>
                <a:cubicBezTo>
                  <a:pt x="89410" y="15478"/>
                  <a:pt x="92869" y="18937"/>
                  <a:pt x="92869" y="23217"/>
                </a:cubicBezTo>
                <a:cubicBezTo>
                  <a:pt x="92869" y="27498"/>
                  <a:pt x="89410" y="30956"/>
                  <a:pt x="85130" y="30956"/>
                </a:cubicBezTo>
                <a:lnTo>
                  <a:pt x="38695" y="30956"/>
                </a:lnTo>
                <a:cubicBezTo>
                  <a:pt x="34415" y="30956"/>
                  <a:pt x="30956" y="27498"/>
                  <a:pt x="30956" y="23217"/>
                </a:cubicBezTo>
                <a:close/>
                <a:moveTo>
                  <a:pt x="38695" y="42565"/>
                </a:moveTo>
                <a:lnTo>
                  <a:pt x="69652" y="42565"/>
                </a:lnTo>
                <a:cubicBezTo>
                  <a:pt x="73932" y="42565"/>
                  <a:pt x="77391" y="46023"/>
                  <a:pt x="77391" y="50304"/>
                </a:cubicBezTo>
                <a:cubicBezTo>
                  <a:pt x="77391" y="54585"/>
                  <a:pt x="73932" y="58043"/>
                  <a:pt x="69652" y="58043"/>
                </a:cubicBezTo>
                <a:lnTo>
                  <a:pt x="38695" y="58043"/>
                </a:lnTo>
                <a:cubicBezTo>
                  <a:pt x="34415" y="58043"/>
                  <a:pt x="30956" y="54585"/>
                  <a:pt x="30956" y="50304"/>
                </a:cubicBezTo>
                <a:cubicBezTo>
                  <a:pt x="30956" y="46023"/>
                  <a:pt x="34415" y="42565"/>
                  <a:pt x="38695" y="42565"/>
                </a:cubicBezTo>
                <a:close/>
                <a:moveTo>
                  <a:pt x="38695" y="69652"/>
                </a:moveTo>
                <a:lnTo>
                  <a:pt x="100608" y="69652"/>
                </a:lnTo>
                <a:cubicBezTo>
                  <a:pt x="104888" y="69652"/>
                  <a:pt x="108347" y="73110"/>
                  <a:pt x="108347" y="77391"/>
                </a:cubicBezTo>
                <a:cubicBezTo>
                  <a:pt x="108347" y="81671"/>
                  <a:pt x="104888" y="85130"/>
                  <a:pt x="100608" y="85130"/>
                </a:cubicBezTo>
                <a:lnTo>
                  <a:pt x="38695" y="85130"/>
                </a:lnTo>
                <a:cubicBezTo>
                  <a:pt x="34415" y="85130"/>
                  <a:pt x="30956" y="81671"/>
                  <a:pt x="30956" y="77391"/>
                </a:cubicBezTo>
                <a:cubicBezTo>
                  <a:pt x="30956" y="73110"/>
                  <a:pt x="34415" y="69652"/>
                  <a:pt x="38695" y="696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1069658" y="5261735"/>
            <a:ext cx="18621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69658" y="5447472"/>
            <a:ext cx="18543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Population health and risk stratification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800713" y="5168866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3893582" y="5261735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3" y="0"/>
                </a:moveTo>
                <a:lnTo>
                  <a:pt x="157163" y="0"/>
                </a:lnTo>
                <a:cubicBezTo>
                  <a:pt x="243903" y="0"/>
                  <a:pt x="314325" y="70422"/>
                  <a:pt x="314325" y="157163"/>
                </a:cubicBezTo>
                <a:lnTo>
                  <a:pt x="314325" y="157163"/>
                </a:lnTo>
                <a:cubicBezTo>
                  <a:pt x="314325" y="243903"/>
                  <a:pt x="243903" y="314325"/>
                  <a:pt x="1571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Shape 43"/>
          <p:cNvSpPr/>
          <p:nvPr/>
        </p:nvSpPr>
        <p:spPr>
          <a:xfrm>
            <a:off x="3977521" y="5354603"/>
            <a:ext cx="139303" cy="123825"/>
          </a:xfrm>
          <a:custGeom>
            <a:avLst/>
            <a:gdLst/>
            <a:ahLst/>
            <a:cxnLst/>
            <a:rect l="l" t="t" r="r" b="b"/>
            <a:pathLst>
              <a:path w="139303" h="123825">
                <a:moveTo>
                  <a:pt x="23217" y="15478"/>
                </a:moveTo>
                <a:cubicBezTo>
                  <a:pt x="14680" y="15478"/>
                  <a:pt x="7739" y="22419"/>
                  <a:pt x="7739" y="30956"/>
                </a:cubicBezTo>
                <a:lnTo>
                  <a:pt x="7739" y="92869"/>
                </a:lnTo>
                <a:cubicBezTo>
                  <a:pt x="7739" y="101406"/>
                  <a:pt x="14680" y="108347"/>
                  <a:pt x="23217" y="108347"/>
                </a:cubicBezTo>
                <a:lnTo>
                  <a:pt x="85130" y="108347"/>
                </a:lnTo>
                <a:cubicBezTo>
                  <a:pt x="93667" y="108347"/>
                  <a:pt x="100608" y="101406"/>
                  <a:pt x="100608" y="92869"/>
                </a:cubicBezTo>
                <a:lnTo>
                  <a:pt x="100608" y="30956"/>
                </a:lnTo>
                <a:cubicBezTo>
                  <a:pt x="100608" y="22419"/>
                  <a:pt x="93667" y="15478"/>
                  <a:pt x="85130" y="15478"/>
                </a:cubicBezTo>
                <a:lnTo>
                  <a:pt x="23217" y="15478"/>
                </a:lnTo>
                <a:close/>
                <a:moveTo>
                  <a:pt x="112216" y="81260"/>
                </a:moveTo>
                <a:lnTo>
                  <a:pt x="129992" y="95481"/>
                </a:lnTo>
                <a:cubicBezTo>
                  <a:pt x="131008" y="96303"/>
                  <a:pt x="132265" y="96738"/>
                  <a:pt x="133571" y="96738"/>
                </a:cubicBezTo>
                <a:cubicBezTo>
                  <a:pt x="136740" y="96738"/>
                  <a:pt x="139303" y="94175"/>
                  <a:pt x="139303" y="91007"/>
                </a:cubicBezTo>
                <a:lnTo>
                  <a:pt x="139303" y="32818"/>
                </a:lnTo>
                <a:cubicBezTo>
                  <a:pt x="139303" y="29650"/>
                  <a:pt x="136740" y="27087"/>
                  <a:pt x="133571" y="27087"/>
                </a:cubicBezTo>
                <a:cubicBezTo>
                  <a:pt x="132265" y="27087"/>
                  <a:pt x="131008" y="27522"/>
                  <a:pt x="129992" y="28344"/>
                </a:cubicBezTo>
                <a:lnTo>
                  <a:pt x="112216" y="42565"/>
                </a:lnTo>
                <a:lnTo>
                  <a:pt x="112216" y="8126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4296013" y="5261735"/>
            <a:ext cx="207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Telehealth Integration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296013" y="5447472"/>
            <a:ext cx="20639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visit support and remote monitoring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74357" y="5787991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67226" y="588086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3" y="0"/>
                </a:moveTo>
                <a:lnTo>
                  <a:pt x="157163" y="0"/>
                </a:lnTo>
                <a:cubicBezTo>
                  <a:pt x="243903" y="0"/>
                  <a:pt x="314325" y="70422"/>
                  <a:pt x="314325" y="157163"/>
                </a:cubicBezTo>
                <a:lnTo>
                  <a:pt x="314325" y="157163"/>
                </a:lnTo>
                <a:cubicBezTo>
                  <a:pt x="314325" y="243903"/>
                  <a:pt x="243903" y="314325"/>
                  <a:pt x="1571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1" name="Shape 48"/>
          <p:cNvSpPr/>
          <p:nvPr/>
        </p:nvSpPr>
        <p:spPr>
          <a:xfrm>
            <a:off x="758904" y="597372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1552" y="36422"/>
                </a:moveTo>
                <a:lnTo>
                  <a:pt x="98334" y="59639"/>
                </a:lnTo>
                <a:cubicBezTo>
                  <a:pt x="96109" y="61864"/>
                  <a:pt x="92796" y="62517"/>
                  <a:pt x="89894" y="61308"/>
                </a:cubicBezTo>
                <a:cubicBezTo>
                  <a:pt x="86992" y="60099"/>
                  <a:pt x="85130" y="57293"/>
                  <a:pt x="85130" y="54173"/>
                </a:cubicBezTo>
                <a:lnTo>
                  <a:pt x="85130" y="38695"/>
                </a:lnTo>
                <a:lnTo>
                  <a:pt x="7739" y="38695"/>
                </a:lnTo>
                <a:cubicBezTo>
                  <a:pt x="3458" y="38695"/>
                  <a:pt x="0" y="35237"/>
                  <a:pt x="0" y="30956"/>
                </a:cubicBezTo>
                <a:cubicBezTo>
                  <a:pt x="0" y="26676"/>
                  <a:pt x="3458" y="23217"/>
                  <a:pt x="7739" y="23217"/>
                </a:cubicBezTo>
                <a:lnTo>
                  <a:pt x="85130" y="23217"/>
                </a:lnTo>
                <a:lnTo>
                  <a:pt x="85130" y="7739"/>
                </a:lnTo>
                <a:cubicBezTo>
                  <a:pt x="85130" y="4619"/>
                  <a:pt x="87016" y="1790"/>
                  <a:pt x="89918" y="580"/>
                </a:cubicBezTo>
                <a:cubicBezTo>
                  <a:pt x="92820" y="-629"/>
                  <a:pt x="96134" y="48"/>
                  <a:pt x="98359" y="2249"/>
                </a:cubicBezTo>
                <a:lnTo>
                  <a:pt x="121576" y="25466"/>
                </a:lnTo>
                <a:cubicBezTo>
                  <a:pt x="124599" y="28489"/>
                  <a:pt x="124599" y="33399"/>
                  <a:pt x="121576" y="36422"/>
                </a:cubicBezTo>
                <a:close/>
                <a:moveTo>
                  <a:pt x="25466" y="121552"/>
                </a:moveTo>
                <a:lnTo>
                  <a:pt x="2249" y="98334"/>
                </a:lnTo>
                <a:cubicBezTo>
                  <a:pt x="-774" y="95311"/>
                  <a:pt x="-774" y="90402"/>
                  <a:pt x="2249" y="87379"/>
                </a:cubicBezTo>
                <a:lnTo>
                  <a:pt x="25466" y="64162"/>
                </a:lnTo>
                <a:cubicBezTo>
                  <a:pt x="27691" y="61937"/>
                  <a:pt x="31005" y="61284"/>
                  <a:pt x="33907" y="62493"/>
                </a:cubicBezTo>
                <a:cubicBezTo>
                  <a:pt x="36809" y="63702"/>
                  <a:pt x="38695" y="66532"/>
                  <a:pt x="38695" y="69652"/>
                </a:cubicBezTo>
                <a:lnTo>
                  <a:pt x="38695" y="85130"/>
                </a:lnTo>
                <a:lnTo>
                  <a:pt x="116086" y="85130"/>
                </a:lnTo>
                <a:cubicBezTo>
                  <a:pt x="120367" y="85130"/>
                  <a:pt x="123825" y="88588"/>
                  <a:pt x="123825" y="92869"/>
                </a:cubicBezTo>
                <a:cubicBezTo>
                  <a:pt x="123825" y="97149"/>
                  <a:pt x="120367" y="100608"/>
                  <a:pt x="116086" y="100608"/>
                </a:cubicBezTo>
                <a:lnTo>
                  <a:pt x="38695" y="100608"/>
                </a:lnTo>
                <a:lnTo>
                  <a:pt x="38695" y="116086"/>
                </a:lnTo>
                <a:cubicBezTo>
                  <a:pt x="38695" y="119206"/>
                  <a:pt x="36809" y="122035"/>
                  <a:pt x="33907" y="123245"/>
                </a:cubicBezTo>
                <a:cubicBezTo>
                  <a:pt x="31005" y="124454"/>
                  <a:pt x="27691" y="123777"/>
                  <a:pt x="25466" y="1215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1069658" y="5880860"/>
            <a:ext cx="2205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HIE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069658" y="6066597"/>
            <a:ext cx="21972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with health information exchanges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3800713" y="5787991"/>
            <a:ext cx="3133725" cy="523875"/>
          </a:xfrm>
          <a:custGeom>
            <a:avLst/>
            <a:gdLst/>
            <a:ahLst/>
            <a:cxnLst/>
            <a:rect l="l" t="t" r="r" b="b"/>
            <a:pathLst>
              <a:path w="3133725" h="523875">
                <a:moveTo>
                  <a:pt x="61912" y="0"/>
                </a:moveTo>
                <a:lnTo>
                  <a:pt x="3071813" y="0"/>
                </a:lnTo>
                <a:cubicBezTo>
                  <a:pt x="3106006" y="0"/>
                  <a:pt x="3133725" y="27719"/>
                  <a:pt x="3133725" y="61912"/>
                </a:cubicBezTo>
                <a:lnTo>
                  <a:pt x="3133725" y="461963"/>
                </a:lnTo>
                <a:cubicBezTo>
                  <a:pt x="3133725" y="496156"/>
                  <a:pt x="3106006" y="523875"/>
                  <a:pt x="3071813" y="523875"/>
                </a:cubicBezTo>
                <a:lnTo>
                  <a:pt x="61912" y="523875"/>
                </a:lnTo>
                <a:cubicBezTo>
                  <a:pt x="27719" y="523875"/>
                  <a:pt x="0" y="496156"/>
                  <a:pt x="0" y="46196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3893582" y="588086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3" y="0"/>
                </a:moveTo>
                <a:lnTo>
                  <a:pt x="157163" y="0"/>
                </a:lnTo>
                <a:cubicBezTo>
                  <a:pt x="243903" y="0"/>
                  <a:pt x="314325" y="70422"/>
                  <a:pt x="314325" y="157163"/>
                </a:cubicBezTo>
                <a:lnTo>
                  <a:pt x="314325" y="157163"/>
                </a:lnTo>
                <a:cubicBezTo>
                  <a:pt x="314325" y="243903"/>
                  <a:pt x="243903" y="314325"/>
                  <a:pt x="1571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Shape 53"/>
          <p:cNvSpPr/>
          <p:nvPr/>
        </p:nvSpPr>
        <p:spPr>
          <a:xfrm>
            <a:off x="3977521" y="5973728"/>
            <a:ext cx="139303" cy="123825"/>
          </a:xfrm>
          <a:custGeom>
            <a:avLst/>
            <a:gdLst/>
            <a:ahLst/>
            <a:cxnLst/>
            <a:rect l="l" t="t" r="r" b="b"/>
            <a:pathLst>
              <a:path w="139303" h="123825">
                <a:moveTo>
                  <a:pt x="101454" y="23217"/>
                </a:moveTo>
                <a:cubicBezTo>
                  <a:pt x="97440" y="23217"/>
                  <a:pt x="93546" y="24305"/>
                  <a:pt x="90136" y="26289"/>
                </a:cubicBezTo>
                <a:cubicBezTo>
                  <a:pt x="86315" y="22419"/>
                  <a:pt x="81865" y="19178"/>
                  <a:pt x="76955" y="16736"/>
                </a:cubicBezTo>
                <a:cubicBezTo>
                  <a:pt x="83775" y="10931"/>
                  <a:pt x="92458" y="7739"/>
                  <a:pt x="101454" y="7739"/>
                </a:cubicBezTo>
                <a:cubicBezTo>
                  <a:pt x="122350" y="7739"/>
                  <a:pt x="139303" y="24668"/>
                  <a:pt x="139303" y="45588"/>
                </a:cubicBezTo>
                <a:cubicBezTo>
                  <a:pt x="139303" y="55625"/>
                  <a:pt x="135313" y="65250"/>
                  <a:pt x="128227" y="72336"/>
                </a:cubicBezTo>
                <a:lnTo>
                  <a:pt x="111031" y="89531"/>
                </a:lnTo>
                <a:cubicBezTo>
                  <a:pt x="103945" y="96617"/>
                  <a:pt x="94320" y="100608"/>
                  <a:pt x="84283" y="100608"/>
                </a:cubicBezTo>
                <a:cubicBezTo>
                  <a:pt x="63388" y="100608"/>
                  <a:pt x="46434" y="83679"/>
                  <a:pt x="46434" y="62759"/>
                </a:cubicBezTo>
                <a:cubicBezTo>
                  <a:pt x="46434" y="62396"/>
                  <a:pt x="46434" y="62033"/>
                  <a:pt x="46459" y="61671"/>
                </a:cubicBezTo>
                <a:cubicBezTo>
                  <a:pt x="46579" y="57390"/>
                  <a:pt x="50135" y="54028"/>
                  <a:pt x="54415" y="54149"/>
                </a:cubicBezTo>
                <a:cubicBezTo>
                  <a:pt x="58696" y="54270"/>
                  <a:pt x="62058" y="57825"/>
                  <a:pt x="61937" y="62106"/>
                </a:cubicBezTo>
                <a:cubicBezTo>
                  <a:pt x="61937" y="62324"/>
                  <a:pt x="61937" y="62541"/>
                  <a:pt x="61937" y="62735"/>
                </a:cubicBezTo>
                <a:cubicBezTo>
                  <a:pt x="61937" y="75093"/>
                  <a:pt x="71949" y="85106"/>
                  <a:pt x="84307" y="85106"/>
                </a:cubicBezTo>
                <a:cubicBezTo>
                  <a:pt x="90233" y="85106"/>
                  <a:pt x="95916" y="82760"/>
                  <a:pt x="100124" y="78551"/>
                </a:cubicBezTo>
                <a:lnTo>
                  <a:pt x="117319" y="61356"/>
                </a:lnTo>
                <a:cubicBezTo>
                  <a:pt x="121503" y="57172"/>
                  <a:pt x="123873" y="51465"/>
                  <a:pt x="123873" y="45540"/>
                </a:cubicBezTo>
                <a:cubicBezTo>
                  <a:pt x="123873" y="33181"/>
                  <a:pt x="113861" y="23169"/>
                  <a:pt x="101503" y="23169"/>
                </a:cubicBezTo>
                <a:close/>
                <a:moveTo>
                  <a:pt x="66556" y="41912"/>
                </a:moveTo>
                <a:cubicBezTo>
                  <a:pt x="66096" y="41718"/>
                  <a:pt x="65637" y="41452"/>
                  <a:pt x="65226" y="41162"/>
                </a:cubicBezTo>
                <a:cubicBezTo>
                  <a:pt x="62179" y="39590"/>
                  <a:pt x="58696" y="38695"/>
                  <a:pt x="55044" y="38695"/>
                </a:cubicBezTo>
                <a:cubicBezTo>
                  <a:pt x="49119" y="38695"/>
                  <a:pt x="43435" y="41041"/>
                  <a:pt x="39227" y="45249"/>
                </a:cubicBezTo>
                <a:lnTo>
                  <a:pt x="22032" y="62445"/>
                </a:lnTo>
                <a:cubicBezTo>
                  <a:pt x="17848" y="66628"/>
                  <a:pt x="15478" y="72336"/>
                  <a:pt x="15478" y="78261"/>
                </a:cubicBezTo>
                <a:cubicBezTo>
                  <a:pt x="15478" y="90620"/>
                  <a:pt x="25491" y="100632"/>
                  <a:pt x="37849" y="100632"/>
                </a:cubicBezTo>
                <a:cubicBezTo>
                  <a:pt x="41839" y="100632"/>
                  <a:pt x="45733" y="99568"/>
                  <a:pt x="49143" y="97585"/>
                </a:cubicBezTo>
                <a:cubicBezTo>
                  <a:pt x="52964" y="101454"/>
                  <a:pt x="57414" y="104695"/>
                  <a:pt x="62348" y="107138"/>
                </a:cubicBezTo>
                <a:cubicBezTo>
                  <a:pt x="55528" y="112918"/>
                  <a:pt x="46870" y="116134"/>
                  <a:pt x="37849" y="116134"/>
                </a:cubicBezTo>
                <a:cubicBezTo>
                  <a:pt x="16953" y="116134"/>
                  <a:pt x="0" y="99205"/>
                  <a:pt x="0" y="78285"/>
                </a:cubicBezTo>
                <a:cubicBezTo>
                  <a:pt x="0" y="68249"/>
                  <a:pt x="3990" y="58623"/>
                  <a:pt x="11077" y="51537"/>
                </a:cubicBezTo>
                <a:lnTo>
                  <a:pt x="28272" y="34342"/>
                </a:lnTo>
                <a:cubicBezTo>
                  <a:pt x="35358" y="27256"/>
                  <a:pt x="44983" y="23266"/>
                  <a:pt x="55020" y="23266"/>
                </a:cubicBezTo>
                <a:cubicBezTo>
                  <a:pt x="75964" y="23266"/>
                  <a:pt x="92869" y="40340"/>
                  <a:pt x="92869" y="61211"/>
                </a:cubicBezTo>
                <a:cubicBezTo>
                  <a:pt x="92869" y="61526"/>
                  <a:pt x="92869" y="61840"/>
                  <a:pt x="92869" y="62154"/>
                </a:cubicBezTo>
                <a:cubicBezTo>
                  <a:pt x="92772" y="66435"/>
                  <a:pt x="89217" y="69797"/>
                  <a:pt x="84936" y="69700"/>
                </a:cubicBezTo>
                <a:cubicBezTo>
                  <a:pt x="80656" y="69603"/>
                  <a:pt x="77294" y="66048"/>
                  <a:pt x="77391" y="61767"/>
                </a:cubicBezTo>
                <a:cubicBezTo>
                  <a:pt x="77391" y="61574"/>
                  <a:pt x="77391" y="61405"/>
                  <a:pt x="77391" y="61211"/>
                </a:cubicBezTo>
                <a:cubicBezTo>
                  <a:pt x="77391" y="53061"/>
                  <a:pt x="73037" y="45902"/>
                  <a:pt x="66556" y="419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4"/>
          <p:cNvSpPr/>
          <p:nvPr/>
        </p:nvSpPr>
        <p:spPr>
          <a:xfrm>
            <a:off x="4296013" y="5880860"/>
            <a:ext cx="2319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Blockchain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4296013" y="6066597"/>
            <a:ext cx="2311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Immutable audit trails and consent management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7317105" y="1158716"/>
            <a:ext cx="4493895" cy="2484120"/>
          </a:xfrm>
          <a:custGeom>
            <a:avLst/>
            <a:gdLst/>
            <a:ahLst/>
            <a:cxnLst/>
            <a:rect l="l" t="t" r="r" b="b"/>
            <a:pathLst>
              <a:path w="4493895" h="2484120">
                <a:moveTo>
                  <a:pt x="61904" y="0"/>
                </a:moveTo>
                <a:lnTo>
                  <a:pt x="4431991" y="0"/>
                </a:lnTo>
                <a:cubicBezTo>
                  <a:pt x="4466180" y="0"/>
                  <a:pt x="4493895" y="27715"/>
                  <a:pt x="4493895" y="61904"/>
                </a:cubicBezTo>
                <a:lnTo>
                  <a:pt x="4493895" y="2422216"/>
                </a:lnTo>
                <a:cubicBezTo>
                  <a:pt x="4493895" y="2456405"/>
                  <a:pt x="4466180" y="2484120"/>
                  <a:pt x="4431991" y="2484120"/>
                </a:cubicBezTo>
                <a:lnTo>
                  <a:pt x="61904" y="2484120"/>
                </a:lnTo>
                <a:cubicBezTo>
                  <a:pt x="27715" y="2484120"/>
                  <a:pt x="0" y="2456405"/>
                  <a:pt x="0" y="2422216"/>
                </a:cubicBezTo>
                <a:lnTo>
                  <a:pt x="0" y="61904"/>
                </a:lnTo>
                <a:cubicBezTo>
                  <a:pt x="0" y="27738"/>
                  <a:pt x="27738" y="0"/>
                  <a:pt x="619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7506653" y="1348262"/>
            <a:ext cx="41921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9" b="1" dirty="0">
                <a:solidFill>
                  <a:srgbClr val="E9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506653" y="1688781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2" name="Text 59"/>
          <p:cNvSpPr/>
          <p:nvPr/>
        </p:nvSpPr>
        <p:spPr>
          <a:xfrm>
            <a:off x="7467958" y="1688781"/>
            <a:ext cx="4488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3NF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7970997" y="1704259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Design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7970997" y="1889996"/>
            <a:ext cx="1111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redundancy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7506653" y="2153124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6" name="Shape 63"/>
          <p:cNvSpPr/>
          <p:nvPr/>
        </p:nvSpPr>
        <p:spPr>
          <a:xfrm>
            <a:off x="7632799" y="2260281"/>
            <a:ext cx="116086" cy="154781"/>
          </a:xfrm>
          <a:custGeom>
            <a:avLst/>
            <a:gdLst/>
            <a:ahLst/>
            <a:cxnLst/>
            <a:rect l="l" t="t" r="r" b="b"/>
            <a:pathLst>
              <a:path w="116086" h="154781">
                <a:moveTo>
                  <a:pt x="38695" y="29021"/>
                </a:moveTo>
                <a:lnTo>
                  <a:pt x="38695" y="48369"/>
                </a:lnTo>
                <a:lnTo>
                  <a:pt x="77391" y="48369"/>
                </a:lnTo>
                <a:lnTo>
                  <a:pt x="77391" y="29021"/>
                </a:lnTo>
                <a:cubicBezTo>
                  <a:pt x="77391" y="18350"/>
                  <a:pt x="68714" y="9674"/>
                  <a:pt x="58043" y="9674"/>
                </a:cubicBezTo>
                <a:cubicBezTo>
                  <a:pt x="47372" y="9674"/>
                  <a:pt x="38695" y="18350"/>
                  <a:pt x="38695" y="29021"/>
                </a:cubicBezTo>
                <a:close/>
                <a:moveTo>
                  <a:pt x="19348" y="48369"/>
                </a:moveTo>
                <a:lnTo>
                  <a:pt x="19348" y="29021"/>
                </a:lnTo>
                <a:cubicBezTo>
                  <a:pt x="19348" y="7648"/>
                  <a:pt x="36670" y="-9674"/>
                  <a:pt x="58043" y="-9674"/>
                </a:cubicBezTo>
                <a:cubicBezTo>
                  <a:pt x="79416" y="-9674"/>
                  <a:pt x="96738" y="7648"/>
                  <a:pt x="96738" y="29021"/>
                </a:cubicBezTo>
                <a:lnTo>
                  <a:pt x="96738" y="48369"/>
                </a:lnTo>
                <a:cubicBezTo>
                  <a:pt x="107410" y="48369"/>
                  <a:pt x="116086" y="57045"/>
                  <a:pt x="116086" y="67717"/>
                </a:cubicBezTo>
                <a:lnTo>
                  <a:pt x="116086" y="135434"/>
                </a:lnTo>
                <a:cubicBezTo>
                  <a:pt x="116086" y="146105"/>
                  <a:pt x="107410" y="154781"/>
                  <a:pt x="96738" y="154781"/>
                </a:cubicBezTo>
                <a:lnTo>
                  <a:pt x="19348" y="154781"/>
                </a:lnTo>
                <a:cubicBezTo>
                  <a:pt x="8676" y="154781"/>
                  <a:pt x="0" y="146105"/>
                  <a:pt x="0" y="135434"/>
                </a:cubicBezTo>
                <a:lnTo>
                  <a:pt x="0" y="67717"/>
                </a:lnTo>
                <a:cubicBezTo>
                  <a:pt x="0" y="57045"/>
                  <a:pt x="8676" y="48369"/>
                  <a:pt x="19348" y="483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4"/>
          <p:cNvSpPr/>
          <p:nvPr/>
        </p:nvSpPr>
        <p:spPr>
          <a:xfrm>
            <a:off x="7970997" y="2168603"/>
            <a:ext cx="116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Security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7970997" y="2354340"/>
            <a:ext cx="1159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 + TLS 1.3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7506653" y="261746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0" name="Shape 67"/>
          <p:cNvSpPr/>
          <p:nvPr/>
        </p:nvSpPr>
        <p:spPr>
          <a:xfrm>
            <a:off x="7632799" y="2724624"/>
            <a:ext cx="116086" cy="154781"/>
          </a:xfrm>
          <a:custGeom>
            <a:avLst/>
            <a:gdLst/>
            <a:ahLst/>
            <a:cxnLst/>
            <a:rect l="l" t="t" r="r" b="b"/>
            <a:pathLst>
              <a:path w="116086" h="154781">
                <a:moveTo>
                  <a:pt x="94138" y="9674"/>
                </a:moveTo>
                <a:lnTo>
                  <a:pt x="96738" y="9674"/>
                </a:lnTo>
                <a:cubicBezTo>
                  <a:pt x="107410" y="9674"/>
                  <a:pt x="116086" y="18350"/>
                  <a:pt x="116086" y="29021"/>
                </a:cubicBezTo>
                <a:lnTo>
                  <a:pt x="116086" y="135434"/>
                </a:lnTo>
                <a:cubicBezTo>
                  <a:pt x="116086" y="146105"/>
                  <a:pt x="107410" y="154781"/>
                  <a:pt x="96738" y="154781"/>
                </a:cubicBezTo>
                <a:lnTo>
                  <a:pt x="19348" y="154781"/>
                </a:lnTo>
                <a:cubicBezTo>
                  <a:pt x="8676" y="154781"/>
                  <a:pt x="0" y="146105"/>
                  <a:pt x="0" y="135434"/>
                </a:cubicBezTo>
                <a:lnTo>
                  <a:pt x="0" y="29021"/>
                </a:lnTo>
                <a:cubicBezTo>
                  <a:pt x="0" y="18350"/>
                  <a:pt x="8676" y="9674"/>
                  <a:pt x="19348" y="9674"/>
                </a:cubicBezTo>
                <a:lnTo>
                  <a:pt x="21947" y="9674"/>
                </a:lnTo>
                <a:cubicBezTo>
                  <a:pt x="25273" y="3900"/>
                  <a:pt x="31531" y="0"/>
                  <a:pt x="38695" y="0"/>
                </a:cubicBezTo>
                <a:lnTo>
                  <a:pt x="77391" y="0"/>
                </a:lnTo>
                <a:cubicBezTo>
                  <a:pt x="84555" y="0"/>
                  <a:pt x="90813" y="3900"/>
                  <a:pt x="94138" y="9674"/>
                </a:cubicBezTo>
                <a:close/>
                <a:moveTo>
                  <a:pt x="74972" y="33858"/>
                </a:moveTo>
                <a:cubicBezTo>
                  <a:pt x="78993" y="33858"/>
                  <a:pt x="82228" y="30624"/>
                  <a:pt x="82228" y="26603"/>
                </a:cubicBezTo>
                <a:cubicBezTo>
                  <a:pt x="82228" y="22582"/>
                  <a:pt x="78993" y="19348"/>
                  <a:pt x="74972" y="19348"/>
                </a:cubicBezTo>
                <a:lnTo>
                  <a:pt x="41114" y="19348"/>
                </a:lnTo>
                <a:cubicBezTo>
                  <a:pt x="37093" y="19348"/>
                  <a:pt x="33858" y="22582"/>
                  <a:pt x="33858" y="26603"/>
                </a:cubicBezTo>
                <a:cubicBezTo>
                  <a:pt x="33858" y="30624"/>
                  <a:pt x="37093" y="33858"/>
                  <a:pt x="41114" y="33858"/>
                </a:cubicBezTo>
                <a:lnTo>
                  <a:pt x="74972" y="33858"/>
                </a:lnTo>
                <a:close/>
                <a:moveTo>
                  <a:pt x="83558" y="78811"/>
                </a:moveTo>
                <a:cubicBezTo>
                  <a:pt x="85674" y="75426"/>
                  <a:pt x="84646" y="70951"/>
                  <a:pt x="81260" y="68805"/>
                </a:cubicBezTo>
                <a:cubicBezTo>
                  <a:pt x="77874" y="66659"/>
                  <a:pt x="73400" y="67717"/>
                  <a:pt x="71254" y="71103"/>
                </a:cubicBezTo>
                <a:lnTo>
                  <a:pt x="52692" y="100819"/>
                </a:lnTo>
                <a:lnTo>
                  <a:pt x="44530" y="89936"/>
                </a:lnTo>
                <a:cubicBezTo>
                  <a:pt x="42111" y="86732"/>
                  <a:pt x="37577" y="86067"/>
                  <a:pt x="34372" y="88485"/>
                </a:cubicBezTo>
                <a:cubicBezTo>
                  <a:pt x="31168" y="90904"/>
                  <a:pt x="30503" y="95438"/>
                  <a:pt x="32921" y="98643"/>
                </a:cubicBezTo>
                <a:lnTo>
                  <a:pt x="47432" y="117990"/>
                </a:lnTo>
                <a:cubicBezTo>
                  <a:pt x="48853" y="119895"/>
                  <a:pt x="51150" y="120983"/>
                  <a:pt x="53539" y="120893"/>
                </a:cubicBezTo>
                <a:cubicBezTo>
                  <a:pt x="55927" y="120802"/>
                  <a:pt x="58103" y="119532"/>
                  <a:pt x="59373" y="117477"/>
                </a:cubicBezTo>
                <a:lnTo>
                  <a:pt x="83558" y="787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1" name="Text 68"/>
          <p:cNvSpPr/>
          <p:nvPr/>
        </p:nvSpPr>
        <p:spPr>
          <a:xfrm>
            <a:off x="7970997" y="2632946"/>
            <a:ext cx="1252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HIPAA Compliant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7970997" y="2818684"/>
            <a:ext cx="1244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regulatory adherence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7506653" y="3081812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85738"/>
                </a:lnTo>
                <a:cubicBezTo>
                  <a:pt x="371475" y="288249"/>
                  <a:pt x="288249" y="371475"/>
                  <a:pt x="185738" y="371475"/>
                </a:cubicBezTo>
                <a:lnTo>
                  <a:pt x="185738" y="371475"/>
                </a:lnTo>
                <a:cubicBezTo>
                  <a:pt x="83226" y="371475"/>
                  <a:pt x="0" y="288249"/>
                  <a:pt x="0" y="185738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4" name="Shape 71"/>
          <p:cNvSpPr/>
          <p:nvPr/>
        </p:nvSpPr>
        <p:spPr>
          <a:xfrm>
            <a:off x="7623125" y="3188968"/>
            <a:ext cx="135434" cy="154781"/>
          </a:xfrm>
          <a:custGeom>
            <a:avLst/>
            <a:gdLst/>
            <a:ahLst/>
            <a:cxnLst/>
            <a:rect l="l" t="t" r="r" b="b"/>
            <a:pathLst>
              <a:path w="135434" h="154781">
                <a:moveTo>
                  <a:pt x="50788" y="9674"/>
                </a:moveTo>
                <a:lnTo>
                  <a:pt x="7255" y="9674"/>
                </a:lnTo>
                <a:cubicBezTo>
                  <a:pt x="3235" y="9674"/>
                  <a:pt x="0" y="12909"/>
                  <a:pt x="0" y="16929"/>
                </a:cubicBezTo>
                <a:lnTo>
                  <a:pt x="0" y="60461"/>
                </a:lnTo>
                <a:cubicBezTo>
                  <a:pt x="0" y="63394"/>
                  <a:pt x="1753" y="66054"/>
                  <a:pt x="4474" y="67173"/>
                </a:cubicBezTo>
                <a:cubicBezTo>
                  <a:pt x="7195" y="68291"/>
                  <a:pt x="10309" y="67656"/>
                  <a:pt x="12395" y="65601"/>
                </a:cubicBezTo>
                <a:lnTo>
                  <a:pt x="24487" y="53508"/>
                </a:lnTo>
                <a:lnTo>
                  <a:pt x="48369" y="77391"/>
                </a:lnTo>
                <a:lnTo>
                  <a:pt x="24487" y="101273"/>
                </a:lnTo>
                <a:lnTo>
                  <a:pt x="12395" y="89181"/>
                </a:lnTo>
                <a:cubicBezTo>
                  <a:pt x="10309" y="87095"/>
                  <a:pt x="7195" y="86490"/>
                  <a:pt x="4474" y="87609"/>
                </a:cubicBezTo>
                <a:cubicBezTo>
                  <a:pt x="1753" y="88727"/>
                  <a:pt x="0" y="91387"/>
                  <a:pt x="0" y="94320"/>
                </a:cubicBezTo>
                <a:lnTo>
                  <a:pt x="0" y="137852"/>
                </a:lnTo>
                <a:cubicBezTo>
                  <a:pt x="0" y="141873"/>
                  <a:pt x="3235" y="145107"/>
                  <a:pt x="7255" y="145107"/>
                </a:cubicBezTo>
                <a:lnTo>
                  <a:pt x="50788" y="145107"/>
                </a:lnTo>
                <a:cubicBezTo>
                  <a:pt x="53720" y="145107"/>
                  <a:pt x="56380" y="143354"/>
                  <a:pt x="57499" y="140633"/>
                </a:cubicBezTo>
                <a:cubicBezTo>
                  <a:pt x="58617" y="137913"/>
                  <a:pt x="58013" y="134799"/>
                  <a:pt x="55927" y="132713"/>
                </a:cubicBezTo>
                <a:lnTo>
                  <a:pt x="43835" y="120621"/>
                </a:lnTo>
                <a:lnTo>
                  <a:pt x="67717" y="96738"/>
                </a:lnTo>
                <a:lnTo>
                  <a:pt x="91599" y="120621"/>
                </a:lnTo>
                <a:lnTo>
                  <a:pt x="79507" y="132713"/>
                </a:lnTo>
                <a:cubicBezTo>
                  <a:pt x="77421" y="134799"/>
                  <a:pt x="76816" y="137913"/>
                  <a:pt x="77935" y="140633"/>
                </a:cubicBezTo>
                <a:cubicBezTo>
                  <a:pt x="79053" y="143354"/>
                  <a:pt x="81714" y="145107"/>
                  <a:pt x="84646" y="145107"/>
                </a:cubicBezTo>
                <a:lnTo>
                  <a:pt x="128178" y="145107"/>
                </a:lnTo>
                <a:cubicBezTo>
                  <a:pt x="132199" y="145107"/>
                  <a:pt x="135434" y="141873"/>
                  <a:pt x="135434" y="137852"/>
                </a:cubicBezTo>
                <a:lnTo>
                  <a:pt x="135434" y="94320"/>
                </a:lnTo>
                <a:cubicBezTo>
                  <a:pt x="135434" y="91387"/>
                  <a:pt x="133680" y="88727"/>
                  <a:pt x="130959" y="87609"/>
                </a:cubicBezTo>
                <a:cubicBezTo>
                  <a:pt x="128239" y="86490"/>
                  <a:pt x="125125" y="87095"/>
                  <a:pt x="123039" y="89181"/>
                </a:cubicBezTo>
                <a:lnTo>
                  <a:pt x="110947" y="101273"/>
                </a:lnTo>
                <a:lnTo>
                  <a:pt x="87064" y="77391"/>
                </a:lnTo>
                <a:lnTo>
                  <a:pt x="110947" y="53508"/>
                </a:lnTo>
                <a:lnTo>
                  <a:pt x="123039" y="65601"/>
                </a:lnTo>
                <a:cubicBezTo>
                  <a:pt x="125125" y="67687"/>
                  <a:pt x="128239" y="68291"/>
                  <a:pt x="130959" y="67173"/>
                </a:cubicBezTo>
                <a:cubicBezTo>
                  <a:pt x="133680" y="66054"/>
                  <a:pt x="135434" y="63394"/>
                  <a:pt x="135434" y="60461"/>
                </a:cubicBezTo>
                <a:lnTo>
                  <a:pt x="135434" y="16929"/>
                </a:lnTo>
                <a:cubicBezTo>
                  <a:pt x="135434" y="12909"/>
                  <a:pt x="132199" y="9674"/>
                  <a:pt x="128178" y="9674"/>
                </a:cubicBezTo>
                <a:lnTo>
                  <a:pt x="84646" y="9674"/>
                </a:lnTo>
                <a:cubicBezTo>
                  <a:pt x="81714" y="9674"/>
                  <a:pt x="79053" y="11427"/>
                  <a:pt x="77935" y="14148"/>
                </a:cubicBezTo>
                <a:cubicBezTo>
                  <a:pt x="76816" y="16869"/>
                  <a:pt x="77451" y="19983"/>
                  <a:pt x="79507" y="22068"/>
                </a:cubicBezTo>
                <a:lnTo>
                  <a:pt x="91599" y="34161"/>
                </a:lnTo>
                <a:lnTo>
                  <a:pt x="67717" y="58043"/>
                </a:lnTo>
                <a:lnTo>
                  <a:pt x="43835" y="34161"/>
                </a:lnTo>
                <a:lnTo>
                  <a:pt x="55927" y="22068"/>
                </a:lnTo>
                <a:cubicBezTo>
                  <a:pt x="58013" y="19983"/>
                  <a:pt x="58617" y="16869"/>
                  <a:pt x="57499" y="14148"/>
                </a:cubicBezTo>
                <a:cubicBezTo>
                  <a:pt x="56380" y="11427"/>
                  <a:pt x="53720" y="9674"/>
                  <a:pt x="50788" y="967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5" name="Text 72"/>
          <p:cNvSpPr/>
          <p:nvPr/>
        </p:nvSpPr>
        <p:spPr>
          <a:xfrm>
            <a:off x="7970997" y="3097290"/>
            <a:ext cx="11953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b="1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7970997" y="3283028"/>
            <a:ext cx="1187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3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Multi-clinic support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7317105" y="3774287"/>
            <a:ext cx="4493895" cy="2731770"/>
          </a:xfrm>
          <a:custGeom>
            <a:avLst/>
            <a:gdLst/>
            <a:ahLst/>
            <a:cxnLst/>
            <a:rect l="l" t="t" r="r" b="b"/>
            <a:pathLst>
              <a:path w="4493895" h="2731770">
                <a:moveTo>
                  <a:pt x="61902" y="0"/>
                </a:moveTo>
                <a:lnTo>
                  <a:pt x="4431993" y="0"/>
                </a:lnTo>
                <a:cubicBezTo>
                  <a:pt x="4466181" y="0"/>
                  <a:pt x="4493895" y="27714"/>
                  <a:pt x="4493895" y="61902"/>
                </a:cubicBezTo>
                <a:lnTo>
                  <a:pt x="4493895" y="2669868"/>
                </a:lnTo>
                <a:cubicBezTo>
                  <a:pt x="4493895" y="2704056"/>
                  <a:pt x="4466181" y="2731770"/>
                  <a:pt x="4431993" y="2731770"/>
                </a:cubicBezTo>
                <a:lnTo>
                  <a:pt x="61902" y="2731770"/>
                </a:lnTo>
                <a:cubicBezTo>
                  <a:pt x="27714" y="2731770"/>
                  <a:pt x="0" y="2704056"/>
                  <a:pt x="0" y="2669868"/>
                </a:cubicBezTo>
                <a:lnTo>
                  <a:pt x="0" y="61902"/>
                </a:lnTo>
                <a:cubicBezTo>
                  <a:pt x="0" y="27737"/>
                  <a:pt x="27737" y="0"/>
                  <a:pt x="619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9442281" y="4203381"/>
            <a:ext cx="243780" cy="278606"/>
          </a:xfrm>
          <a:custGeom>
            <a:avLst/>
            <a:gdLst/>
            <a:ahLst/>
            <a:cxnLst/>
            <a:rect l="l" t="t" r="r" b="b"/>
            <a:pathLst>
              <a:path w="243780" h="278606">
                <a:moveTo>
                  <a:pt x="0" y="117537"/>
                </a:moveTo>
                <a:cubicBezTo>
                  <a:pt x="0" y="81460"/>
                  <a:pt x="29221" y="52239"/>
                  <a:pt x="65298" y="52239"/>
                </a:cubicBezTo>
                <a:lnTo>
                  <a:pt x="69652" y="52239"/>
                </a:lnTo>
                <a:cubicBezTo>
                  <a:pt x="79283" y="52239"/>
                  <a:pt x="87064" y="60020"/>
                  <a:pt x="87064" y="69652"/>
                </a:cubicBezTo>
                <a:cubicBezTo>
                  <a:pt x="87064" y="79283"/>
                  <a:pt x="79283" y="87064"/>
                  <a:pt x="69652" y="87064"/>
                </a:cubicBezTo>
                <a:lnTo>
                  <a:pt x="65298" y="87064"/>
                </a:lnTo>
                <a:cubicBezTo>
                  <a:pt x="48484" y="87064"/>
                  <a:pt x="34826" y="100723"/>
                  <a:pt x="34826" y="117537"/>
                </a:cubicBezTo>
                <a:lnTo>
                  <a:pt x="34826" y="121890"/>
                </a:lnTo>
                <a:lnTo>
                  <a:pt x="69652" y="121890"/>
                </a:lnTo>
                <a:cubicBezTo>
                  <a:pt x="88860" y="121890"/>
                  <a:pt x="104477" y="137507"/>
                  <a:pt x="104477" y="156716"/>
                </a:cubicBezTo>
                <a:lnTo>
                  <a:pt x="104477" y="191542"/>
                </a:lnTo>
                <a:cubicBezTo>
                  <a:pt x="104477" y="210750"/>
                  <a:pt x="88860" y="226368"/>
                  <a:pt x="69652" y="226368"/>
                </a:cubicBezTo>
                <a:lnTo>
                  <a:pt x="34826" y="226368"/>
                </a:lnTo>
                <a:cubicBezTo>
                  <a:pt x="15617" y="226368"/>
                  <a:pt x="0" y="210750"/>
                  <a:pt x="0" y="191542"/>
                </a:cubicBezTo>
                <a:lnTo>
                  <a:pt x="0" y="117537"/>
                </a:lnTo>
                <a:close/>
                <a:moveTo>
                  <a:pt x="139303" y="117537"/>
                </a:moveTo>
                <a:cubicBezTo>
                  <a:pt x="139303" y="81460"/>
                  <a:pt x="168524" y="52239"/>
                  <a:pt x="204601" y="52239"/>
                </a:cubicBezTo>
                <a:lnTo>
                  <a:pt x="208955" y="52239"/>
                </a:lnTo>
                <a:cubicBezTo>
                  <a:pt x="218586" y="52239"/>
                  <a:pt x="226368" y="60020"/>
                  <a:pt x="226368" y="69652"/>
                </a:cubicBezTo>
                <a:cubicBezTo>
                  <a:pt x="226368" y="79283"/>
                  <a:pt x="218586" y="87064"/>
                  <a:pt x="208955" y="87064"/>
                </a:cubicBezTo>
                <a:lnTo>
                  <a:pt x="204601" y="87064"/>
                </a:lnTo>
                <a:cubicBezTo>
                  <a:pt x="187787" y="87064"/>
                  <a:pt x="174129" y="100723"/>
                  <a:pt x="174129" y="117537"/>
                </a:cubicBezTo>
                <a:lnTo>
                  <a:pt x="174129" y="121890"/>
                </a:lnTo>
                <a:lnTo>
                  <a:pt x="208955" y="121890"/>
                </a:lnTo>
                <a:cubicBezTo>
                  <a:pt x="228163" y="121890"/>
                  <a:pt x="243780" y="137507"/>
                  <a:pt x="243780" y="156716"/>
                </a:cubicBezTo>
                <a:lnTo>
                  <a:pt x="243780" y="191542"/>
                </a:lnTo>
                <a:cubicBezTo>
                  <a:pt x="243780" y="210750"/>
                  <a:pt x="228163" y="226368"/>
                  <a:pt x="208955" y="226368"/>
                </a:cubicBezTo>
                <a:lnTo>
                  <a:pt x="174129" y="226368"/>
                </a:lnTo>
                <a:cubicBezTo>
                  <a:pt x="154920" y="226368"/>
                  <a:pt x="139303" y="210750"/>
                  <a:pt x="139303" y="191542"/>
                </a:cubicBezTo>
                <a:lnTo>
                  <a:pt x="139303" y="11753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9" name="Text 76"/>
          <p:cNvSpPr/>
          <p:nvPr/>
        </p:nvSpPr>
        <p:spPr>
          <a:xfrm>
            <a:off x="7467958" y="4607003"/>
            <a:ext cx="4192191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19" dirty="0">
                <a:solidFill>
                  <a:srgbClr val="E9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system bridges the gap between fragmented healthcare data and comprehensive patient care, delivering both clinical excellence and regulatory compliance."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9314498" y="5485209"/>
            <a:ext cx="495300" cy="28575"/>
          </a:xfrm>
          <a:custGeom>
            <a:avLst/>
            <a:gdLst/>
            <a:ahLst/>
            <a:cxnLst/>
            <a:rect l="l" t="t" r="r" b="b"/>
            <a:pathLst>
              <a:path w="495300" h="28575">
                <a:moveTo>
                  <a:pt x="14288" y="0"/>
                </a:moveTo>
                <a:lnTo>
                  <a:pt x="481012" y="0"/>
                </a:lnTo>
                <a:cubicBezTo>
                  <a:pt x="488898" y="0"/>
                  <a:pt x="495300" y="6402"/>
                  <a:pt x="495300" y="14288"/>
                </a:cubicBezTo>
                <a:lnTo>
                  <a:pt x="495300" y="14288"/>
                </a:lnTo>
                <a:cubicBezTo>
                  <a:pt x="495300" y="22173"/>
                  <a:pt x="488898" y="28575"/>
                  <a:pt x="481012" y="28575"/>
                </a:cubicBezTo>
                <a:lnTo>
                  <a:pt x="14288" y="28575"/>
                </a:lnTo>
                <a:cubicBezTo>
                  <a:pt x="6402" y="28575"/>
                  <a:pt x="0" y="22173"/>
                  <a:pt x="0" y="14288"/>
                </a:cubicBezTo>
                <a:lnTo>
                  <a:pt x="0" y="14288"/>
                </a:lnTo>
                <a:cubicBezTo>
                  <a:pt x="0" y="6402"/>
                  <a:pt x="6402" y="0"/>
                  <a:pt x="1428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1" name="Text 78"/>
          <p:cNvSpPr/>
          <p:nvPr/>
        </p:nvSpPr>
        <p:spPr>
          <a:xfrm>
            <a:off x="9213116" y="5639991"/>
            <a:ext cx="6983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7" dirty="0">
                <a:solidFill>
                  <a:srgbClr val="E9EC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8901708" y="5887641"/>
            <a:ext cx="1319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E9ECE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Multi-Clinic Patient Medical History Tracking System</dc:title>
  <dc:subject>Multi-Clinic Patient Medical History Tracking System</dc:subject>
  <dc:creator>Kimi</dc:creator>
  <cp:lastModifiedBy>Kimi</cp:lastModifiedBy>
  <cp:revision>1</cp:revision>
  <dcterms:created xsi:type="dcterms:W3CDTF">2026-02-23T07:26:39Z</dcterms:created>
  <dcterms:modified xsi:type="dcterms:W3CDTF">2026-02-23T07:26:39Z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{"Label":"Multi-Clinic Patient Medical History Tracking System","ContentProducer":"001191110108MACG2KBH8F10000","ProduceID":"19c89591-afb2-8374-8000-000026ab5e9f","ReservedCode1":"","ContentPropagator":"001191110108MACG2KBH8F20000","PropagateID":"19c89591-afb2-8374-8000-000026ab5e9f","ReservedCode2":""}</vt:lpwstr>
  </property>
</Properties>
</file>